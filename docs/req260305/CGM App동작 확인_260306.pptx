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6" r:id="rId4"/>
    <p:sldId id="267" r:id="rId5"/>
    <p:sldId id="257" r:id="rId6"/>
    <p:sldId id="262" r:id="rId7"/>
    <p:sldId id="264" r:id="rId8"/>
    <p:sldId id="265" r:id="rId9"/>
    <p:sldId id="258" r:id="rId10"/>
    <p:sldId id="263" r:id="rId11"/>
    <p:sldId id="259" r:id="rId12"/>
    <p:sldId id="260" r:id="rId13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47ABD6-86B9-DA14-DDE8-3F3A6D25A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5B4FE5-F6FB-A5D2-809A-4B48F2D58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BFFE8-0809-46CB-2859-ED06EC51D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E26792-A6FC-A2F8-7ECD-9958D43F1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5E1608-172C-FD9A-1789-D69A399A2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74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0EE23-0F55-A73A-D259-64A24644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05D004-9945-4ABC-A0C5-B4EBACF0C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263991-17EE-322E-7EA2-0256F528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78FCBE-A5C4-2F34-08C0-EF4733C58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1E91E2-A214-1B0E-2AFA-EFE03A35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414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8B2525-3BF6-8ABE-1597-2AE4A45C1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9C9958-D103-AE34-EF67-FC2B01F00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06426D-B751-5537-B76C-228554CFC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72EE3C-E6B3-C462-CBB5-C7F26F17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1DC967-E54A-E1CB-04D2-86658D349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42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93A7C9-B50C-C4BC-E8D1-B292ADEF6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7FCD03-5FE5-7563-F032-A4FD861272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719155-C2AB-5EE2-E702-420D75B2D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BABFE7-810D-2FCD-D813-FC2602EF3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E07D0D-29E5-D985-1600-B583FAB7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0D4D61-A2FA-C61C-D1A5-0481B907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857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110EC-58A8-92D8-2287-AF6E22FF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2DF270-9112-7F04-D6AA-58DAE4EB6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F433F5-3A81-C509-AA50-23E773C9C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00D0DB-948D-0FC1-15CC-4C01EB9AB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49EE57-1CCA-85ED-8627-C377E03F4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61D4AE-4FE6-8B5D-36BB-1D683E137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C69628-D7A7-44FC-ADB9-B48940AC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AEFB4E-35B9-AE47-F06E-AE71D695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8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3BF3D4-B794-6E34-01DC-3CA7AF349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643D8C-9950-A1EB-F159-9B005110D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D3B0CD-E436-88B8-DB84-46FB6A13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9E00B6-6853-3020-67D9-015BC7AD4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49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81D3C5-795B-4934-FEED-C263E7DB7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FAF741-BC95-8E61-439F-982282D6E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26F047-672A-7591-0537-32E786BF4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973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39764-D990-533B-BAD9-D06948AD6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BC413E-CD15-9937-C331-D7D5DA438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D5E4DB-890E-E59D-C7A5-02C2F8EC8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252C13-A530-9FBC-E324-306D966E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DEF5B0-DAB2-F85E-E185-37616E3EE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AF75E3-B8C2-3DA1-7AB7-8C39619C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92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0000EE-BE0F-3EB0-290A-C6221189B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784660-E0E4-2E72-0115-B94182663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C96135-5178-2F50-1E21-354ABF5A5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3D8B96-2A82-3BDB-F72F-577FC9CFE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171CB1-5F60-53F9-55F8-36B58527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3BEB32-D483-16AF-449A-433CF206E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922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D1833-5C46-AB2D-4DA0-98FBA473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FFDD2C-0E86-B9ED-0356-9BE273A79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6D0EF-F464-6C52-556C-18D05DBCE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1FD464-76F6-55C9-F01B-CF02B71D7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C8FC67-E981-6185-E2BE-53CA9AC2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56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3AF4CA-CF71-A4CC-6955-A46AD2FCEE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8F3A8C-BC26-A465-CA58-0FE80CB1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937EDE-D889-64A2-619E-0D84A199C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4FA614-D181-9495-7084-8A7433DCD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BC9D1F-7754-4711-E178-4944238CA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2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0A1B23-C206-FC02-977C-2AC5A6B93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7F7C92-A806-87C2-153D-C22C233B2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5A5B28-8431-1C1B-3947-6967096B55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473B7-078F-4544-BB3A-A28450A2629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0BE239-5908-8C07-E81D-0A2466BCD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5E0245-FC68-5B17-DF43-8B923516E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663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6BE5C48-3291-65CB-D8D7-76A4A9A3E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65" y="1732076"/>
            <a:ext cx="1747059" cy="360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F348AA3-27B8-6953-E7A5-20483D844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181" y="1732076"/>
            <a:ext cx="1747059" cy="360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0A3D043-C139-C91C-A138-AC6A0FAE4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470" y="1743091"/>
            <a:ext cx="1747059" cy="36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CF9A36-A95C-B746-E1C2-33F2ADBC0C92}"/>
              </a:ext>
            </a:extLst>
          </p:cNvPr>
          <p:cNvSpPr txBox="1"/>
          <p:nvPr/>
        </p:nvSpPr>
        <p:spPr>
          <a:xfrm>
            <a:off x="192029" y="840994"/>
            <a:ext cx="118079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Sensor </a:t>
            </a:r>
            <a:r>
              <a:rPr lang="en-US" altLang="ko-KR" sz="1100" b="1" dirty="0">
                <a:sym typeface="Wingdings" panose="05000000000000000000" pitchFamily="2" charset="2"/>
              </a:rPr>
              <a:t> Scan &amp; Connect  [Start Scan]  Warm-Up </a:t>
            </a:r>
            <a:r>
              <a:rPr lang="ko-KR" altLang="en-US" sz="1100" b="1" dirty="0">
                <a:sym typeface="Wingdings" panose="05000000000000000000" pitchFamily="2" charset="2"/>
              </a:rPr>
              <a:t>화면 표시 </a:t>
            </a:r>
            <a:r>
              <a:rPr lang="en-US" altLang="ko-KR" sz="1100" b="1" dirty="0">
                <a:sym typeface="Wingdings" panose="05000000000000000000" pitchFamily="2" charset="2"/>
              </a:rPr>
              <a:t> Warm-Up </a:t>
            </a:r>
            <a:r>
              <a:rPr lang="ko-KR" altLang="en-US" sz="1100" b="1" dirty="0">
                <a:sym typeface="Wingdings" panose="05000000000000000000" pitchFamily="2" charset="2"/>
              </a:rPr>
              <a:t>완료 후 </a:t>
            </a:r>
            <a:r>
              <a:rPr lang="en-US" altLang="ko-KR" sz="1100" b="1" dirty="0">
                <a:sym typeface="Wingdings" panose="05000000000000000000" pitchFamily="2" charset="2"/>
              </a:rPr>
              <a:t>[Continue] </a:t>
            </a:r>
            <a:r>
              <a:rPr lang="ko-KR" altLang="en-US" sz="1100" b="1" dirty="0">
                <a:sym typeface="Wingdings" panose="05000000000000000000" pitchFamily="2" charset="2"/>
              </a:rPr>
              <a:t>버튼 생성 </a:t>
            </a:r>
            <a:r>
              <a:rPr lang="en-US" altLang="ko-KR" sz="1100" b="1" dirty="0"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ym typeface="Wingdings" panose="05000000000000000000" pitchFamily="2" charset="2"/>
              </a:rPr>
              <a:t>버튼 터치 후 메인 화면 이동</a:t>
            </a:r>
            <a:endParaRPr lang="ko-KR" altLang="en-US" sz="1100" b="1" dirty="0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835E3A0F-D11C-3D91-0F4E-1DFB199CDF6E}"/>
              </a:ext>
            </a:extLst>
          </p:cNvPr>
          <p:cNvSpPr/>
          <p:nvPr/>
        </p:nvSpPr>
        <p:spPr>
          <a:xfrm>
            <a:off x="2377640" y="3370363"/>
            <a:ext cx="410836" cy="3077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DB7FF4-BEFB-F691-3C4E-B939375921B8}"/>
              </a:ext>
            </a:extLst>
          </p:cNvPr>
          <p:cNvSpPr/>
          <p:nvPr/>
        </p:nvSpPr>
        <p:spPr>
          <a:xfrm>
            <a:off x="493365" y="3338511"/>
            <a:ext cx="1703443" cy="3714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D8C41B-CF68-3C14-9E27-21C517A256A7}"/>
              </a:ext>
            </a:extLst>
          </p:cNvPr>
          <p:cNvSpPr/>
          <p:nvPr/>
        </p:nvSpPr>
        <p:spPr>
          <a:xfrm>
            <a:off x="4188333" y="2289847"/>
            <a:ext cx="354959" cy="2138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F29444-5A0A-9D41-39F2-0D490D83E9E3}"/>
              </a:ext>
            </a:extLst>
          </p:cNvPr>
          <p:cNvSpPr/>
          <p:nvPr/>
        </p:nvSpPr>
        <p:spPr>
          <a:xfrm>
            <a:off x="3994572" y="2539744"/>
            <a:ext cx="486260" cy="2138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A578D6C-E378-D9FE-F3FF-5ABEB94FB6B7}"/>
              </a:ext>
            </a:extLst>
          </p:cNvPr>
          <p:cNvSpPr/>
          <p:nvPr/>
        </p:nvSpPr>
        <p:spPr>
          <a:xfrm>
            <a:off x="4721437" y="2275335"/>
            <a:ext cx="256689" cy="24288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BCD0E3D-2CB3-AFAC-717E-D48BFB9FAA41}"/>
              </a:ext>
            </a:extLst>
          </p:cNvPr>
          <p:cNvSpPr/>
          <p:nvPr/>
        </p:nvSpPr>
        <p:spPr>
          <a:xfrm>
            <a:off x="4618895" y="2525232"/>
            <a:ext cx="256689" cy="24288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4D3A27-12C5-568E-B9E4-E123B555A05E}"/>
              </a:ext>
            </a:extLst>
          </p:cNvPr>
          <p:cNvSpPr txBox="1"/>
          <p:nvPr/>
        </p:nvSpPr>
        <p:spPr>
          <a:xfrm>
            <a:off x="309710" y="280384"/>
            <a:ext cx="16048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1. </a:t>
            </a:r>
            <a:r>
              <a:rPr lang="ko-KR" altLang="en-US" sz="1400" b="1" dirty="0"/>
              <a:t>동작 확인 사항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FD9B2C-9AEF-AB1C-33AA-4C94F4BB1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759" y="1743091"/>
            <a:ext cx="1747059" cy="3600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FA9B398-B77D-2B15-50E2-F6B7C673F6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9048" y="1698737"/>
            <a:ext cx="1747059" cy="3600000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692DC510-774F-D3B6-7A7B-5A004C7C19EC}"/>
              </a:ext>
            </a:extLst>
          </p:cNvPr>
          <p:cNvSpPr/>
          <p:nvPr/>
        </p:nvSpPr>
        <p:spPr>
          <a:xfrm>
            <a:off x="4721437" y="3347911"/>
            <a:ext cx="410836" cy="3077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64B68A76-89EF-DC24-3E29-B8E0DCD00460}"/>
              </a:ext>
            </a:extLst>
          </p:cNvPr>
          <p:cNvSpPr/>
          <p:nvPr/>
        </p:nvSpPr>
        <p:spPr>
          <a:xfrm>
            <a:off x="7059726" y="3370363"/>
            <a:ext cx="410836" cy="3077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1248AEAE-8FFB-B532-DD9E-163A3DCE8B69}"/>
              </a:ext>
            </a:extLst>
          </p:cNvPr>
          <p:cNvSpPr/>
          <p:nvPr/>
        </p:nvSpPr>
        <p:spPr>
          <a:xfrm>
            <a:off x="9398015" y="3347911"/>
            <a:ext cx="410836" cy="3077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A5319A8-26ED-974D-3782-022A4B54E38B}"/>
              </a:ext>
            </a:extLst>
          </p:cNvPr>
          <p:cNvSpPr/>
          <p:nvPr/>
        </p:nvSpPr>
        <p:spPr>
          <a:xfrm>
            <a:off x="7588409" y="3061373"/>
            <a:ext cx="1709884" cy="2152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53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A3A20-73FD-CF51-D1EE-FD2BA2B7C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C9B850D-1E19-6356-B61C-82F627B20377}"/>
              </a:ext>
            </a:extLst>
          </p:cNvPr>
          <p:cNvSpPr txBox="1"/>
          <p:nvPr/>
        </p:nvSpPr>
        <p:spPr>
          <a:xfrm>
            <a:off x="192030" y="704554"/>
            <a:ext cx="11807939" cy="568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/>
              <a:t>Warm-Up </a:t>
            </a:r>
            <a:r>
              <a:rPr lang="ko-KR" altLang="en-US" sz="1100" b="1" dirty="0"/>
              <a:t>중</a:t>
            </a:r>
            <a:r>
              <a:rPr lang="en-US" altLang="ko-KR" sz="1100" b="1" dirty="0"/>
              <a:t> </a:t>
            </a:r>
            <a:r>
              <a:rPr lang="ko-KR" altLang="en-US" sz="1100" b="1" dirty="0"/>
              <a:t>알람 발생</a:t>
            </a:r>
            <a:endParaRPr lang="en-US" altLang="ko-KR" sz="11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/>
              <a:t>Warm-Up </a:t>
            </a:r>
            <a:r>
              <a:rPr lang="ko-KR" altLang="en-US" sz="1100" b="1" dirty="0"/>
              <a:t>중에는 데이터만 수집하고 알람이 발생하지 않음 </a:t>
            </a:r>
            <a:r>
              <a:rPr lang="en-US" altLang="ko-KR" sz="1100" b="1" dirty="0"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ym typeface="Wingdings" panose="05000000000000000000" pitchFamily="2" charset="2"/>
              </a:rPr>
              <a:t>알람 발생이 되면 안됨</a:t>
            </a:r>
            <a:endParaRPr lang="en-US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F8CAB1-92A2-D920-BA9C-DBC3A9B64B08}"/>
              </a:ext>
            </a:extLst>
          </p:cNvPr>
          <p:cNvSpPr txBox="1"/>
          <p:nvPr/>
        </p:nvSpPr>
        <p:spPr>
          <a:xfrm>
            <a:off x="309710" y="280384"/>
            <a:ext cx="2462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1. </a:t>
            </a:r>
            <a:r>
              <a:rPr lang="ko-KR" altLang="en-US" sz="1400" b="1" dirty="0">
                <a:solidFill>
                  <a:srgbClr val="FF0000"/>
                </a:solidFill>
              </a:rPr>
              <a:t>동작 확인 중 문제 사항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1B6A21-16C8-35A5-68C8-B4E06BAFC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273" y="1401604"/>
            <a:ext cx="2533454" cy="522045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8312253-ACA0-1861-394D-DB60FA0C05D8}"/>
              </a:ext>
            </a:extLst>
          </p:cNvPr>
          <p:cNvSpPr/>
          <p:nvPr/>
        </p:nvSpPr>
        <p:spPr>
          <a:xfrm>
            <a:off x="4829273" y="1565623"/>
            <a:ext cx="2533454" cy="4727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381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A5E85-09EA-4AB9-8677-95B3235C3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5DCC55B-6C4F-24FE-2AD7-62C859C04EF2}"/>
              </a:ext>
            </a:extLst>
          </p:cNvPr>
          <p:cNvSpPr txBox="1"/>
          <p:nvPr/>
        </p:nvSpPr>
        <p:spPr>
          <a:xfrm>
            <a:off x="4733147" y="2548468"/>
            <a:ext cx="745885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100" b="1" dirty="0"/>
              <a:t>SC_03_01</a:t>
            </a:r>
            <a:r>
              <a:rPr lang="ko-KR" altLang="en-US" sz="1100" b="1" dirty="0"/>
              <a:t>의</a:t>
            </a:r>
            <a:r>
              <a:rPr lang="en-US" altLang="ko-KR" sz="1100" b="1" dirty="0"/>
              <a:t> </a:t>
            </a:r>
            <a:r>
              <a:rPr lang="en-US" altLang="ko-KR" sz="1100" b="1" dirty="0" err="1"/>
              <a:t>Scan&amp;Connect</a:t>
            </a:r>
            <a:r>
              <a:rPr lang="ko-KR" altLang="en-US" sz="1100" b="1" dirty="0"/>
              <a:t>와 </a:t>
            </a:r>
            <a:r>
              <a:rPr lang="en-US" altLang="ko-KR" sz="1100" b="1" dirty="0"/>
              <a:t>SC_01_01 </a:t>
            </a:r>
            <a:r>
              <a:rPr lang="en-US" altLang="ko-KR" sz="1100" b="1" dirty="0" err="1"/>
              <a:t>Scan&amp;Connect</a:t>
            </a:r>
            <a:r>
              <a:rPr lang="ko-KR" altLang="en-US" sz="1100" b="1" dirty="0"/>
              <a:t>의</a:t>
            </a:r>
            <a:r>
              <a:rPr lang="en-US" altLang="ko-KR" sz="1100" b="1" dirty="0"/>
              <a:t> </a:t>
            </a:r>
            <a:r>
              <a:rPr lang="ko-KR" altLang="en-US" sz="1100" b="1" dirty="0"/>
              <a:t>스캔 차이</a:t>
            </a:r>
            <a:endParaRPr lang="en-US" altLang="ko-KR" sz="1100" b="1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 err="1"/>
              <a:t>EmpecsCGM_DDXX</a:t>
            </a:r>
            <a:r>
              <a:rPr lang="ko-KR" altLang="en-US" sz="1100" b="1" dirty="0"/>
              <a:t>가 </a:t>
            </a:r>
            <a:r>
              <a:rPr lang="en-US" altLang="ko-KR" sz="1100" b="1" dirty="0"/>
              <a:t>SC_01_01 </a:t>
            </a:r>
            <a:r>
              <a:rPr lang="ko-KR" altLang="en-US" sz="1100" b="1" dirty="0"/>
              <a:t>에서는 잡히지만 </a:t>
            </a:r>
            <a:r>
              <a:rPr lang="en-US" altLang="ko-KR" sz="1100" b="1" dirty="0"/>
              <a:t>SC_03_01</a:t>
            </a:r>
            <a:r>
              <a:rPr lang="ko-KR" altLang="en-US" sz="1100" b="1" dirty="0"/>
              <a:t>에서는 잡히지 않음</a:t>
            </a:r>
            <a:endParaRPr lang="en-US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7436B3-EAC0-26AC-AEB0-A5723CC3D834}"/>
              </a:ext>
            </a:extLst>
          </p:cNvPr>
          <p:cNvSpPr txBox="1"/>
          <p:nvPr/>
        </p:nvSpPr>
        <p:spPr>
          <a:xfrm>
            <a:off x="309710" y="280384"/>
            <a:ext cx="2462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2. </a:t>
            </a:r>
            <a:r>
              <a:rPr lang="ko-KR" altLang="en-US" sz="1400" b="1" dirty="0">
                <a:solidFill>
                  <a:srgbClr val="FF0000"/>
                </a:solidFill>
              </a:rPr>
              <a:t>동작 확인 중 문제 사항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9D3B82-76A0-860D-0D95-EDE8E7C14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10" y="1629000"/>
            <a:ext cx="1747059" cy="360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DFD5B89-30C7-41AB-F078-F19FC8B7B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923" y="1629000"/>
            <a:ext cx="1747059" cy="36000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3E1645D-6D8D-6A25-3E65-4D942F5D5F80}"/>
              </a:ext>
            </a:extLst>
          </p:cNvPr>
          <p:cNvSpPr/>
          <p:nvPr/>
        </p:nvSpPr>
        <p:spPr>
          <a:xfrm>
            <a:off x="309710" y="3749964"/>
            <a:ext cx="1747059" cy="6742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A3C7253-E3DF-EB31-9B20-78E8F7B24556}"/>
              </a:ext>
            </a:extLst>
          </p:cNvPr>
          <p:cNvSpPr/>
          <p:nvPr/>
        </p:nvSpPr>
        <p:spPr>
          <a:xfrm>
            <a:off x="2323923" y="2372977"/>
            <a:ext cx="1747059" cy="3509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033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4573F-82ED-C4F3-CCAF-06530BC1F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C45CEA3-C551-FA93-E572-235E098FEC69}"/>
              </a:ext>
            </a:extLst>
          </p:cNvPr>
          <p:cNvSpPr txBox="1"/>
          <p:nvPr/>
        </p:nvSpPr>
        <p:spPr>
          <a:xfrm>
            <a:off x="5564420" y="3272226"/>
            <a:ext cx="5399143" cy="313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/>
              <a:t>SC_03_01</a:t>
            </a:r>
            <a:r>
              <a:rPr lang="ko-KR" altLang="en-US" sz="1100" b="1" dirty="0"/>
              <a:t>상의 </a:t>
            </a:r>
            <a:r>
              <a:rPr lang="en-US" altLang="ko-KR" sz="1100" b="1" dirty="0"/>
              <a:t>Usage</a:t>
            </a:r>
            <a:r>
              <a:rPr lang="ko-KR" altLang="en-US" sz="1100" b="1" dirty="0"/>
              <a:t>와 </a:t>
            </a:r>
            <a:r>
              <a:rPr lang="en-US" altLang="ko-KR" sz="1100" b="1" dirty="0"/>
              <a:t>SC_02_01 Usage period</a:t>
            </a:r>
            <a:r>
              <a:rPr lang="ko-KR" altLang="en-US" sz="1100" b="1" dirty="0"/>
              <a:t>의 부분이 서로 맞지 않음</a:t>
            </a:r>
            <a:endParaRPr lang="en-US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CB48C7-180E-C01A-5C63-D488123C2003}"/>
              </a:ext>
            </a:extLst>
          </p:cNvPr>
          <p:cNvSpPr txBox="1"/>
          <p:nvPr/>
        </p:nvSpPr>
        <p:spPr>
          <a:xfrm>
            <a:off x="309710" y="280384"/>
            <a:ext cx="2462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3. </a:t>
            </a:r>
            <a:r>
              <a:rPr lang="ko-KR" altLang="en-US" sz="1400" b="1" dirty="0">
                <a:solidFill>
                  <a:srgbClr val="FF0000"/>
                </a:solidFill>
              </a:rPr>
              <a:t>동작 확인 중 문제 사항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0604C29-BD21-E587-6934-A29F21CCA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00" y="1629000"/>
            <a:ext cx="1747059" cy="360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29E75F2-37A4-05EB-DD21-69B79CEBE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536" y="1629000"/>
            <a:ext cx="1747059" cy="3600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A938CC6-EF13-EB33-48E2-B370C063BD69}"/>
              </a:ext>
            </a:extLst>
          </p:cNvPr>
          <p:cNvSpPr/>
          <p:nvPr/>
        </p:nvSpPr>
        <p:spPr>
          <a:xfrm>
            <a:off x="280599" y="3943927"/>
            <a:ext cx="1747059" cy="803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2AFA4D-A27B-F611-3DB1-202C230D71BC}"/>
              </a:ext>
            </a:extLst>
          </p:cNvPr>
          <p:cNvSpPr/>
          <p:nvPr/>
        </p:nvSpPr>
        <p:spPr>
          <a:xfrm>
            <a:off x="2381536" y="1971963"/>
            <a:ext cx="1747059" cy="5033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669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411CF-8944-E083-FB70-34CBE76F6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597E46-437F-4A19-82FA-0BFCE131C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085" y="1323777"/>
            <a:ext cx="2485829" cy="512231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7868CB9-07FE-36DA-E86A-7193B625174C}"/>
              </a:ext>
            </a:extLst>
          </p:cNvPr>
          <p:cNvSpPr/>
          <p:nvPr/>
        </p:nvSpPr>
        <p:spPr>
          <a:xfrm>
            <a:off x="4853085" y="2538412"/>
            <a:ext cx="2485829" cy="17478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421508-ED55-352D-674D-B97BB6E98DC7}"/>
              </a:ext>
            </a:extLst>
          </p:cNvPr>
          <p:cNvSpPr txBox="1"/>
          <p:nvPr/>
        </p:nvSpPr>
        <p:spPr>
          <a:xfrm>
            <a:off x="329375" y="201725"/>
            <a:ext cx="7497103" cy="82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/>
              <a:t>2. </a:t>
            </a:r>
            <a:r>
              <a:rPr lang="ko-KR" altLang="en-US" sz="1100" b="1" dirty="0"/>
              <a:t>동작 확인 사항</a:t>
            </a:r>
            <a:endParaRPr lang="en-US" altLang="ko-KR" sz="11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/>
              <a:t>Rapid Chang, Very Low Glucose. Low Glucose </a:t>
            </a:r>
            <a:r>
              <a:rPr lang="ko-KR" altLang="en-US" sz="1100" b="1" dirty="0"/>
              <a:t>알람</a:t>
            </a:r>
            <a:r>
              <a:rPr lang="en-US" altLang="ko-KR" sz="1100" b="1" dirty="0"/>
              <a:t> </a:t>
            </a:r>
            <a:r>
              <a:rPr lang="ko-KR" altLang="en-US" sz="1100" b="1" dirty="0"/>
              <a:t>동작 확인</a:t>
            </a:r>
            <a:endParaRPr lang="en-US" altLang="ko-KR" sz="11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/>
              <a:t>기본 설정 값 내에서 동작</a:t>
            </a:r>
            <a:r>
              <a:rPr lang="en-US" altLang="ko-KR" sz="1100" b="1" dirty="0"/>
              <a:t>, </a:t>
            </a:r>
            <a:r>
              <a:rPr lang="ko-KR" altLang="en-US" sz="1100" b="1" dirty="0"/>
              <a:t>현재 </a:t>
            </a:r>
            <a:r>
              <a:rPr lang="en-US" altLang="ko-KR" sz="1100" b="1" dirty="0"/>
              <a:t>(26.03.05) </a:t>
            </a:r>
            <a:r>
              <a:rPr lang="ko-KR" altLang="en-US" sz="1100" b="1" dirty="0"/>
              <a:t>기준 알람 기준 값 변경 및 저장은 안됨</a:t>
            </a:r>
          </a:p>
        </p:txBody>
      </p:sp>
    </p:spTree>
    <p:extLst>
      <p:ext uri="{BB962C8B-B14F-4D97-AF65-F5344CB8AC3E}">
        <p14:creationId xmlns:p14="http://schemas.microsoft.com/office/powerpoint/2010/main" val="1954721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4226F-1F2B-5CF3-E924-B8824F713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26C84D-D061-CCF8-6C37-1A9E85B30AC1}"/>
              </a:ext>
            </a:extLst>
          </p:cNvPr>
          <p:cNvSpPr txBox="1"/>
          <p:nvPr/>
        </p:nvSpPr>
        <p:spPr>
          <a:xfrm>
            <a:off x="309710" y="280384"/>
            <a:ext cx="16048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3. </a:t>
            </a:r>
            <a:r>
              <a:rPr lang="ko-KR" altLang="en-US" sz="1400" b="1" dirty="0"/>
              <a:t>동작 확인 사항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BCD3A64-D452-B2B0-A2D8-F7ECB4D5C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10" y="2553446"/>
            <a:ext cx="1747059" cy="360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FF69D0C-C5EF-2D59-4009-2E53955A5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410" y="2553446"/>
            <a:ext cx="1747059" cy="3600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1D7C1F8-1CBD-D101-0101-162E2B732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811" y="2553446"/>
            <a:ext cx="1747059" cy="3600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CF83F75-1398-C283-A280-1D462E4D4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3721" y="2553446"/>
            <a:ext cx="1747059" cy="3600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59111DD-C90A-2CB1-1CC1-56FC24A14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631" y="2553446"/>
            <a:ext cx="1747059" cy="36000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52A639DA-7AA7-5A1C-FC18-A4FABA16AC46}"/>
              </a:ext>
            </a:extLst>
          </p:cNvPr>
          <p:cNvSpPr/>
          <p:nvPr/>
        </p:nvSpPr>
        <p:spPr>
          <a:xfrm>
            <a:off x="424010" y="4210602"/>
            <a:ext cx="1747058" cy="33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3E622DC-5572-4A29-FF08-5768DE35800C}"/>
              </a:ext>
            </a:extLst>
          </p:cNvPr>
          <p:cNvSpPr/>
          <p:nvPr/>
        </p:nvSpPr>
        <p:spPr>
          <a:xfrm>
            <a:off x="4880812" y="4543978"/>
            <a:ext cx="1747058" cy="33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60A9634-44CA-82DC-0946-0A3A8F20D5CA}"/>
              </a:ext>
            </a:extLst>
          </p:cNvPr>
          <p:cNvSpPr/>
          <p:nvPr/>
        </p:nvSpPr>
        <p:spPr>
          <a:xfrm>
            <a:off x="7393722" y="4424915"/>
            <a:ext cx="1747058" cy="33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1540BC7-3EF4-41BE-89AF-FC068DEE00F5}"/>
              </a:ext>
            </a:extLst>
          </p:cNvPr>
          <p:cNvSpPr/>
          <p:nvPr/>
        </p:nvSpPr>
        <p:spPr>
          <a:xfrm>
            <a:off x="9906632" y="2896152"/>
            <a:ext cx="1747058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7B1658-CC2B-2F44-E9BB-2B1732F9ADCD}"/>
              </a:ext>
            </a:extLst>
          </p:cNvPr>
          <p:cNvSpPr txBox="1"/>
          <p:nvPr/>
        </p:nvSpPr>
        <p:spPr>
          <a:xfrm>
            <a:off x="192030" y="704554"/>
            <a:ext cx="11807939" cy="1159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/>
              <a:t>Start Time </a:t>
            </a:r>
            <a:r>
              <a:rPr lang="ko-KR" altLang="en-US" sz="1100" b="1" dirty="0"/>
              <a:t>동기화</a:t>
            </a:r>
            <a:endParaRPr lang="en-US" altLang="ko-KR" sz="11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/>
              <a:t>Sensor </a:t>
            </a:r>
            <a:r>
              <a:rPr lang="ko-KR" altLang="en-US" sz="1100" b="1" dirty="0"/>
              <a:t>연결 후 </a:t>
            </a:r>
            <a:r>
              <a:rPr lang="en-US" altLang="ko-KR" sz="1100" b="1" dirty="0"/>
              <a:t>BT</a:t>
            </a:r>
            <a:r>
              <a:rPr lang="ko-KR" altLang="en-US" sz="1100" b="1" dirty="0"/>
              <a:t>가 연결된 시간으로 자동 기입이 되는 것이 아닌 아래와 같은 순서를 진행 해야 시간 동기화가 되는 순서</a:t>
            </a:r>
            <a:endParaRPr lang="en-US" altLang="ko-KR" sz="1100" b="1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/>
              <a:t>Serial Number </a:t>
            </a:r>
            <a:r>
              <a:rPr lang="en-US" altLang="ko-KR" sz="1100" b="1" dirty="0">
                <a:sym typeface="Wingdings" panose="05000000000000000000" pitchFamily="2" charset="2"/>
              </a:rPr>
              <a:t> QR</a:t>
            </a:r>
            <a:r>
              <a:rPr lang="ko-KR" altLang="en-US" sz="1100" b="1" dirty="0">
                <a:sym typeface="Wingdings" panose="05000000000000000000" pitchFamily="2" charset="2"/>
              </a:rPr>
              <a:t> 스캔 후 </a:t>
            </a:r>
            <a:r>
              <a:rPr lang="en-US" altLang="ko-KR" sz="1100" b="1" dirty="0">
                <a:sym typeface="Wingdings" panose="05000000000000000000" pitchFamily="2" charset="2"/>
              </a:rPr>
              <a:t>SYNC  Start Time  [SAVE] </a:t>
            </a:r>
            <a:r>
              <a:rPr lang="ko-KR" altLang="en-US" sz="1100" b="1" dirty="0">
                <a:sym typeface="Wingdings" panose="05000000000000000000" pitchFamily="2" charset="2"/>
              </a:rPr>
              <a:t>터치</a:t>
            </a:r>
            <a:r>
              <a:rPr lang="en-US" altLang="ko-KR" sz="1100" b="1" dirty="0">
                <a:sym typeface="Wingdings" panose="05000000000000000000" pitchFamily="2" charset="2"/>
              </a:rPr>
              <a:t>  Start Time</a:t>
            </a:r>
            <a:r>
              <a:rPr lang="ko-KR" altLang="en-US" sz="1100" b="1" dirty="0">
                <a:sym typeface="Wingdings" panose="05000000000000000000" pitchFamily="2" charset="2"/>
              </a:rPr>
              <a:t> 연동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en-US" altLang="ko-KR" sz="1100" b="1" dirty="0">
                <a:sym typeface="Wingdings" panose="05000000000000000000" pitchFamily="2" charset="2"/>
              </a:rPr>
              <a:t>※ QR </a:t>
            </a:r>
            <a:r>
              <a:rPr lang="ko-KR" altLang="en-US" sz="1100" b="1" dirty="0">
                <a:sym typeface="Wingdings" panose="05000000000000000000" pitchFamily="2" charset="2"/>
              </a:rPr>
              <a:t>스캔 한 시간을 기준으로 </a:t>
            </a:r>
            <a:r>
              <a:rPr lang="en-US" altLang="ko-KR" sz="1100" b="1" dirty="0">
                <a:sym typeface="Wingdings" panose="05000000000000000000" pitchFamily="2" charset="2"/>
              </a:rPr>
              <a:t>Start Time </a:t>
            </a:r>
            <a:r>
              <a:rPr lang="ko-KR" altLang="en-US" sz="1100" b="1" dirty="0">
                <a:sym typeface="Wingdings" panose="05000000000000000000" pitchFamily="2" charset="2"/>
              </a:rPr>
              <a:t>설정</a:t>
            </a:r>
            <a:r>
              <a:rPr lang="en-US" altLang="ko-KR" sz="1100" b="1" dirty="0">
                <a:sym typeface="Wingdings" panose="05000000000000000000" pitchFamily="2" charset="2"/>
              </a:rPr>
              <a:t> ※</a:t>
            </a:r>
            <a:endParaRPr lang="en-US" altLang="ko-KR" sz="1100" b="1" dirty="0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77C2C519-B5C0-513E-4C10-25B5C35136AE}"/>
              </a:ext>
            </a:extLst>
          </p:cNvPr>
          <p:cNvSpPr/>
          <p:nvPr/>
        </p:nvSpPr>
        <p:spPr>
          <a:xfrm>
            <a:off x="2241573" y="4283826"/>
            <a:ext cx="410836" cy="3077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1207755E-23BE-6599-FD40-967B169EA9CF}"/>
              </a:ext>
            </a:extLst>
          </p:cNvPr>
          <p:cNvSpPr/>
          <p:nvPr/>
        </p:nvSpPr>
        <p:spPr>
          <a:xfrm>
            <a:off x="4399469" y="4283826"/>
            <a:ext cx="410836" cy="3077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F1A08D82-5905-9052-8435-91919FB72FA5}"/>
              </a:ext>
            </a:extLst>
          </p:cNvPr>
          <p:cNvSpPr/>
          <p:nvPr/>
        </p:nvSpPr>
        <p:spPr>
          <a:xfrm>
            <a:off x="6805377" y="4283826"/>
            <a:ext cx="410836" cy="3077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265B3CCD-DB49-63AC-3E44-79EFA461375C}"/>
              </a:ext>
            </a:extLst>
          </p:cNvPr>
          <p:cNvSpPr/>
          <p:nvPr/>
        </p:nvSpPr>
        <p:spPr>
          <a:xfrm>
            <a:off x="9334172" y="4271026"/>
            <a:ext cx="410836" cy="3077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317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B3B11-DC14-48A3-8B8C-3F1B139FB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EF2D3B-E86C-446F-9431-17BDF3E1E320}"/>
              </a:ext>
            </a:extLst>
          </p:cNvPr>
          <p:cNvSpPr txBox="1"/>
          <p:nvPr/>
        </p:nvSpPr>
        <p:spPr>
          <a:xfrm>
            <a:off x="7305871" y="3145268"/>
            <a:ext cx="3743332" cy="567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/>
              <a:t>LO_01_xx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SNS</a:t>
            </a:r>
            <a:r>
              <a:rPr lang="ko-KR" altLang="en-US" sz="1100" b="1" dirty="0"/>
              <a:t> 로그인</a:t>
            </a:r>
            <a:endParaRPr lang="en-US" altLang="ko-KR" sz="1100" b="1" dirty="0"/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/>
              <a:t>모의 로그인 까지는 완료</a:t>
            </a:r>
            <a:r>
              <a:rPr lang="en-US" altLang="ko-KR" sz="1100" b="1" dirty="0"/>
              <a:t>,</a:t>
            </a:r>
            <a:r>
              <a:rPr lang="ko-KR" altLang="en-US" sz="1100" b="1" dirty="0"/>
              <a:t> 추후 실제 연동 필요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4EA7EC-21A1-C58A-D1FE-3585055EBABE}"/>
              </a:ext>
            </a:extLst>
          </p:cNvPr>
          <p:cNvSpPr txBox="1"/>
          <p:nvPr/>
        </p:nvSpPr>
        <p:spPr>
          <a:xfrm>
            <a:off x="495300" y="276225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미 구현 사항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C16B37-8244-B121-D6A6-FA2EBEF36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21" y="1089000"/>
            <a:ext cx="2271177" cy="468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545F2C4-0544-9CF1-85BB-FA62A8587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796" y="1089000"/>
            <a:ext cx="2271177" cy="468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26B0D3-ED2C-BA24-7115-0CC3357A5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471" y="1089000"/>
            <a:ext cx="2271177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629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44794-9378-8F33-759D-2D3A9954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34FE9F-0D8B-1872-24CD-F3540AF48A25}"/>
              </a:ext>
            </a:extLst>
          </p:cNvPr>
          <p:cNvSpPr txBox="1"/>
          <p:nvPr/>
        </p:nvSpPr>
        <p:spPr>
          <a:xfrm>
            <a:off x="5848546" y="3018310"/>
            <a:ext cx="5670142" cy="8213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/>
              <a:t>Create Account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/>
              <a:t>Agreements </a:t>
            </a:r>
            <a:r>
              <a:rPr lang="ko-KR" altLang="en-US" sz="1100" b="1" dirty="0"/>
              <a:t>텍스트 깨짐</a:t>
            </a:r>
            <a:endParaRPr lang="en-US" altLang="ko-KR" sz="1100" b="1" dirty="0"/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/>
              <a:t>ID/PW</a:t>
            </a:r>
            <a:r>
              <a:rPr lang="ko-KR" altLang="en-US" sz="1100" b="1" dirty="0"/>
              <a:t> 와 선택 사항 입력 후 </a:t>
            </a:r>
            <a:r>
              <a:rPr lang="en-US" altLang="ko-KR" sz="1100" b="1" dirty="0"/>
              <a:t>[Create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Account] </a:t>
            </a:r>
            <a:r>
              <a:rPr lang="ko-KR" altLang="en-US" sz="1100" b="1" dirty="0"/>
              <a:t>터치</a:t>
            </a:r>
            <a:r>
              <a:rPr lang="en-US" altLang="ko-KR" sz="1100" b="1" dirty="0"/>
              <a:t> </a:t>
            </a:r>
            <a:r>
              <a:rPr lang="ko-KR" altLang="en-US" sz="1100" b="1" dirty="0"/>
              <a:t>시 네트워크 에러 발생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3FE7C6-5F36-36A4-8C89-B50905A1A067}"/>
              </a:ext>
            </a:extLst>
          </p:cNvPr>
          <p:cNvSpPr txBox="1"/>
          <p:nvPr/>
        </p:nvSpPr>
        <p:spPr>
          <a:xfrm>
            <a:off x="495300" y="276225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미 구현 사항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A9E52B-A903-B945-4098-75D61BA89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59" y="1192731"/>
            <a:ext cx="2445882" cy="504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51D0C86-04DB-8EC4-0681-1EA451247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971" y="1192731"/>
            <a:ext cx="2445882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16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41E7D-E45F-BF8F-D62B-FAFC53753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BFC576-FF15-2958-9C5D-992BC54E6E3F}"/>
              </a:ext>
            </a:extLst>
          </p:cNvPr>
          <p:cNvSpPr txBox="1"/>
          <p:nvPr/>
        </p:nvSpPr>
        <p:spPr>
          <a:xfrm>
            <a:off x="6340456" y="2891353"/>
            <a:ext cx="4644220" cy="10752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/>
              <a:t>SC_07_01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Data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Share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/>
              <a:t>텍스트 깨짐 현상</a:t>
            </a:r>
            <a:endParaRPr lang="en-US" altLang="ko-KR" sz="1100" b="1" dirty="0"/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/>
              <a:t>하단의 선택부분의 버튼 설정 저장 안됨</a:t>
            </a:r>
            <a:endParaRPr lang="en-US" altLang="ko-KR" sz="1100" b="1" dirty="0"/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/>
              <a:t>[SHARE] </a:t>
            </a:r>
            <a:r>
              <a:rPr lang="ko-KR" altLang="en-US" sz="1100" b="1" dirty="0"/>
              <a:t>터치 시 저장된 데이터가 어디로 가는지 알 수 없음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80BCE-FF7D-6822-2579-DAA9F8100FD2}"/>
              </a:ext>
            </a:extLst>
          </p:cNvPr>
          <p:cNvSpPr txBox="1"/>
          <p:nvPr/>
        </p:nvSpPr>
        <p:spPr>
          <a:xfrm>
            <a:off x="495300" y="276225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미 구현 사항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8D5E5B3-9019-4183-B231-69E2D02FD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" y="741210"/>
            <a:ext cx="2860889" cy="58951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9BCA98F-B5A5-5E05-B16B-E22403F3B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126" y="741210"/>
            <a:ext cx="2860889" cy="589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70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E4259-4ED7-2A02-37A4-9CA4CC6DB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1A4EB8-15F9-7FEC-3FD2-E7E020E22EF7}"/>
              </a:ext>
            </a:extLst>
          </p:cNvPr>
          <p:cNvSpPr txBox="1"/>
          <p:nvPr/>
        </p:nvSpPr>
        <p:spPr>
          <a:xfrm>
            <a:off x="5144654" y="2256563"/>
            <a:ext cx="5849678" cy="2831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/>
              <a:t>2. Alerts (AR_01_01) </a:t>
            </a:r>
            <a:r>
              <a:rPr lang="ko-KR" altLang="en-US" sz="1100" b="1" dirty="0"/>
              <a:t>부분의 전체 기능 저장 안됨</a:t>
            </a:r>
            <a:endParaRPr lang="en-US" altLang="ko-KR" sz="11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ko-KR" altLang="en-US" sz="1100" b="1" dirty="0">
                <a:sym typeface="Wingdings" panose="05000000000000000000" pitchFamily="2" charset="2"/>
              </a:rPr>
              <a:t>각각의</a:t>
            </a:r>
            <a:r>
              <a:rPr lang="en-US" altLang="ko-KR" sz="1100" b="1" dirty="0">
                <a:sym typeface="Wingdings" panose="05000000000000000000" pitchFamily="2" charset="2"/>
              </a:rPr>
              <a:t> </a:t>
            </a:r>
            <a:r>
              <a:rPr lang="ko-KR" altLang="en-US" sz="1100" b="1" dirty="0">
                <a:sym typeface="Wingdings" panose="05000000000000000000" pitchFamily="2" charset="2"/>
              </a:rPr>
              <a:t>화면 구성은 되어 있지만 각기능의 범위 및 버튼 설정이 저장 및 반영 되지 않음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1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Very Low : </a:t>
            </a:r>
            <a:r>
              <a:rPr lang="ko-KR" altLang="en-US" sz="1100" b="1" dirty="0">
                <a:sym typeface="Wingdings" panose="05000000000000000000" pitchFamily="2" charset="2"/>
              </a:rPr>
              <a:t>범위 설정 및 알람 </a:t>
            </a:r>
            <a:r>
              <a:rPr lang="en-US" altLang="ko-KR" sz="1100" b="1" dirty="0">
                <a:sym typeface="Wingdings" panose="05000000000000000000" pitchFamily="2" charset="2"/>
              </a:rPr>
              <a:t>On/Off </a:t>
            </a:r>
            <a:r>
              <a:rPr lang="ko-KR" altLang="en-US" sz="1100" b="1" dirty="0">
                <a:sym typeface="Wingdings" panose="05000000000000000000" pitchFamily="2" charset="2"/>
              </a:rPr>
              <a:t>버튼 저장 안됨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High : </a:t>
            </a:r>
            <a:r>
              <a:rPr lang="ko-KR" altLang="en-US" sz="1100" b="1" dirty="0">
                <a:sym typeface="Wingdings" panose="05000000000000000000" pitchFamily="2" charset="2"/>
              </a:rPr>
              <a:t>범위 설정 및 알람 </a:t>
            </a:r>
            <a:r>
              <a:rPr lang="en-US" altLang="ko-KR" sz="1100" b="1" dirty="0">
                <a:sym typeface="Wingdings" panose="05000000000000000000" pitchFamily="2" charset="2"/>
              </a:rPr>
              <a:t>On/Off </a:t>
            </a:r>
            <a:r>
              <a:rPr lang="ko-KR" altLang="en-US" sz="1100" b="1" dirty="0">
                <a:sym typeface="Wingdings" panose="05000000000000000000" pitchFamily="2" charset="2"/>
              </a:rPr>
              <a:t>버튼 저장 안됨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Low : </a:t>
            </a:r>
            <a:r>
              <a:rPr lang="ko-KR" altLang="en-US" sz="1100" b="1" dirty="0">
                <a:sym typeface="Wingdings" panose="05000000000000000000" pitchFamily="2" charset="2"/>
              </a:rPr>
              <a:t>범위 설정 및 알람 </a:t>
            </a:r>
            <a:r>
              <a:rPr lang="en-US" altLang="ko-KR" sz="1100" b="1" dirty="0">
                <a:sym typeface="Wingdings" panose="05000000000000000000" pitchFamily="2" charset="2"/>
              </a:rPr>
              <a:t>On/Off </a:t>
            </a:r>
            <a:r>
              <a:rPr lang="ko-KR" altLang="en-US" sz="1100" b="1" dirty="0">
                <a:sym typeface="Wingdings" panose="05000000000000000000" pitchFamily="2" charset="2"/>
              </a:rPr>
              <a:t>버튼 저장 안됨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Rapid Change : </a:t>
            </a:r>
            <a:r>
              <a:rPr lang="ko-KR" altLang="en-US" sz="1100" b="1" dirty="0">
                <a:sym typeface="Wingdings" panose="05000000000000000000" pitchFamily="2" charset="2"/>
              </a:rPr>
              <a:t>범위 설정 및 알람 </a:t>
            </a:r>
            <a:r>
              <a:rPr lang="en-US" altLang="ko-KR" sz="1100" b="1" dirty="0">
                <a:sym typeface="Wingdings" panose="05000000000000000000" pitchFamily="2" charset="2"/>
              </a:rPr>
              <a:t>On/Off </a:t>
            </a:r>
            <a:r>
              <a:rPr lang="ko-KR" altLang="en-US" sz="1100" b="1" dirty="0">
                <a:sym typeface="Wingdings" panose="05000000000000000000" pitchFamily="2" charset="2"/>
              </a:rPr>
              <a:t>버튼 저장 안됨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/>
              <a:t>Signal Loss</a:t>
            </a:r>
            <a:r>
              <a:rPr lang="en-US" altLang="ko-KR" sz="1100" b="1" dirty="0">
                <a:sym typeface="Wingdings" panose="05000000000000000000" pitchFamily="2" charset="2"/>
              </a:rPr>
              <a:t> : </a:t>
            </a:r>
            <a:r>
              <a:rPr lang="ko-KR" altLang="en-US" sz="1100" b="1" dirty="0">
                <a:sym typeface="Wingdings" panose="05000000000000000000" pitchFamily="2" charset="2"/>
              </a:rPr>
              <a:t>시간 설정 및 알람 </a:t>
            </a:r>
            <a:r>
              <a:rPr lang="en-US" altLang="ko-KR" sz="1100" b="1" dirty="0">
                <a:sym typeface="Wingdings" panose="05000000000000000000" pitchFamily="2" charset="2"/>
              </a:rPr>
              <a:t>On/Off </a:t>
            </a:r>
            <a:r>
              <a:rPr lang="ko-KR" altLang="en-US" sz="1100" b="1" dirty="0">
                <a:sym typeface="Wingdings" panose="05000000000000000000" pitchFamily="2" charset="2"/>
              </a:rPr>
              <a:t>버튼 저장 안됨</a:t>
            </a:r>
            <a:endParaRPr lang="en-US" altLang="ko-KR" sz="1100" b="1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/>
              <a:t>Lock Screen : </a:t>
            </a:r>
            <a:r>
              <a:rPr lang="ko-KR" altLang="en-US" sz="1100" b="1" dirty="0"/>
              <a:t>알람 </a:t>
            </a:r>
            <a:r>
              <a:rPr lang="en-US" altLang="ko-KR" sz="1100" b="1" dirty="0"/>
              <a:t>On/Off </a:t>
            </a:r>
            <a:r>
              <a:rPr lang="ko-KR" altLang="en-US" sz="1100" b="1" dirty="0"/>
              <a:t>버튼 저장 안됨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88C7E9E-BE2C-3CF2-E10F-B2EB125BE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207" y="804966"/>
            <a:ext cx="3215364" cy="57347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E40F38-5831-B703-22E4-315A506FFB97}"/>
              </a:ext>
            </a:extLst>
          </p:cNvPr>
          <p:cNvSpPr txBox="1"/>
          <p:nvPr/>
        </p:nvSpPr>
        <p:spPr>
          <a:xfrm>
            <a:off x="495300" y="276225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미 구현 사항</a:t>
            </a:r>
          </a:p>
        </p:txBody>
      </p:sp>
    </p:spTree>
    <p:extLst>
      <p:ext uri="{BB962C8B-B14F-4D97-AF65-F5344CB8AC3E}">
        <p14:creationId xmlns:p14="http://schemas.microsoft.com/office/powerpoint/2010/main" val="3067163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9435A-868E-77A9-2B31-6C2A2B761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소프트웨어, 스크린샷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A8F9A3-D150-968B-0ABE-797CEF01F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808" y="645557"/>
            <a:ext cx="2732406" cy="59362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B000D9-3ADF-5748-A36D-4485C556B772}"/>
              </a:ext>
            </a:extLst>
          </p:cNvPr>
          <p:cNvSpPr txBox="1"/>
          <p:nvPr/>
        </p:nvSpPr>
        <p:spPr>
          <a:xfrm>
            <a:off x="4461163" y="2563378"/>
            <a:ext cx="6787436" cy="17312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100" b="1" dirty="0"/>
              <a:t>3. Setting</a:t>
            </a:r>
            <a:r>
              <a:rPr lang="ko-KR" altLang="en-US" sz="1100" b="1" dirty="0"/>
              <a:t>부분의 기능 저장 및 반영 안됨</a:t>
            </a:r>
            <a:endParaRPr lang="en-US" altLang="ko-KR" sz="1100" b="1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à"/>
            </a:pPr>
            <a:r>
              <a:rPr lang="ko-KR" altLang="en-US" sz="1100" b="1" dirty="0">
                <a:sym typeface="Wingdings" panose="05000000000000000000" pitchFamily="2" charset="2"/>
              </a:rPr>
              <a:t>각각의</a:t>
            </a:r>
            <a:r>
              <a:rPr lang="en-US" altLang="ko-KR" sz="1100" b="1" dirty="0">
                <a:sym typeface="Wingdings" panose="05000000000000000000" pitchFamily="2" charset="2"/>
              </a:rPr>
              <a:t> </a:t>
            </a:r>
            <a:r>
              <a:rPr lang="ko-KR" altLang="en-US" sz="1100" b="1" dirty="0">
                <a:sym typeface="Wingdings" panose="05000000000000000000" pitchFamily="2" charset="2"/>
              </a:rPr>
              <a:t>화면 구성은 되어 있지만 각기능의 범위 및 버튼 설정이 저장이 되지 않음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Language : En</a:t>
            </a:r>
            <a:r>
              <a:rPr lang="ko-KR" altLang="en-US" sz="1100" b="1" dirty="0">
                <a:sym typeface="Wingdings" panose="05000000000000000000" pitchFamily="2" charset="2"/>
              </a:rPr>
              <a:t> 과 </a:t>
            </a:r>
            <a:r>
              <a:rPr lang="en-US" altLang="ko-KR" sz="1100" b="1" dirty="0" err="1">
                <a:sym typeface="Wingdings" panose="05000000000000000000" pitchFamily="2" charset="2"/>
              </a:rPr>
              <a:t>Ar</a:t>
            </a:r>
            <a:r>
              <a:rPr lang="ko-KR" altLang="en-US" sz="1100" b="1" dirty="0">
                <a:sym typeface="Wingdings" panose="05000000000000000000" pitchFamily="2" charset="2"/>
              </a:rPr>
              <a:t> 중 </a:t>
            </a:r>
            <a:r>
              <a:rPr lang="en-US" altLang="ko-KR" sz="1100" b="1" dirty="0" err="1">
                <a:sym typeface="Wingdings" panose="05000000000000000000" pitchFamily="2" charset="2"/>
              </a:rPr>
              <a:t>Ar</a:t>
            </a:r>
            <a:r>
              <a:rPr lang="en-US" altLang="ko-KR" sz="1100" b="1" dirty="0">
                <a:sym typeface="Wingdings" panose="05000000000000000000" pitchFamily="2" charset="2"/>
              </a:rPr>
              <a:t> </a:t>
            </a:r>
            <a:r>
              <a:rPr lang="ko-KR" altLang="en-US" sz="1100" b="1" dirty="0">
                <a:sym typeface="Wingdings" panose="05000000000000000000" pitchFamily="2" charset="2"/>
              </a:rPr>
              <a:t>설정 시 화면이 좌우 반전되는 문제가 발생 해당 기능은 언어 변경의 영역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Time format : 24h, 12h </a:t>
            </a:r>
            <a:r>
              <a:rPr lang="ko-KR" altLang="en-US" sz="1100" b="1" dirty="0">
                <a:sym typeface="Wingdings" panose="05000000000000000000" pitchFamily="2" charset="2"/>
              </a:rPr>
              <a:t>변경 안됨 </a:t>
            </a:r>
            <a:r>
              <a:rPr lang="en-US" altLang="ko-KR" sz="1100" b="1" dirty="0">
                <a:sym typeface="Wingdings" panose="05000000000000000000" pitchFamily="2" charset="2"/>
              </a:rPr>
              <a:t>(24h</a:t>
            </a:r>
            <a:r>
              <a:rPr lang="ko-KR" altLang="en-US" sz="1100" b="1" dirty="0">
                <a:sym typeface="Wingdings" panose="05000000000000000000" pitchFamily="2" charset="2"/>
              </a:rPr>
              <a:t>로만 표시되는 문제</a:t>
            </a:r>
            <a:r>
              <a:rPr lang="en-US" altLang="ko-KR" sz="1100" b="1" dirty="0">
                <a:sym typeface="Wingdings" panose="05000000000000000000" pitchFamily="2" charset="2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Notification : </a:t>
            </a:r>
            <a:r>
              <a:rPr lang="ko-KR" altLang="en-US" sz="1100" b="1" dirty="0">
                <a:sym typeface="Wingdings" panose="05000000000000000000" pitchFamily="2" charset="2"/>
              </a:rPr>
              <a:t>버튼</a:t>
            </a:r>
            <a:r>
              <a:rPr lang="en-US" altLang="ko-KR" sz="1100" b="1" dirty="0">
                <a:sym typeface="Wingdings" panose="05000000000000000000" pitchFamily="2" charset="2"/>
              </a:rPr>
              <a:t> On/Off</a:t>
            </a:r>
            <a:r>
              <a:rPr lang="ko-KR" altLang="en-US" sz="1100" b="1" dirty="0">
                <a:sym typeface="Wingdings" panose="05000000000000000000" pitchFamily="2" charset="2"/>
              </a:rPr>
              <a:t> 저장 안됨</a:t>
            </a:r>
            <a:r>
              <a:rPr lang="en-US" altLang="ko-KR" sz="1100" b="1" dirty="0"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DFD0F6-F5E7-394C-BE2C-1D4CACD793E2}"/>
              </a:ext>
            </a:extLst>
          </p:cNvPr>
          <p:cNvSpPr txBox="1"/>
          <p:nvPr/>
        </p:nvSpPr>
        <p:spPr>
          <a:xfrm>
            <a:off x="495300" y="276225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미 구현 사항</a:t>
            </a:r>
          </a:p>
        </p:txBody>
      </p:sp>
    </p:spTree>
    <p:extLst>
      <p:ext uri="{BB962C8B-B14F-4D97-AF65-F5344CB8AC3E}">
        <p14:creationId xmlns:p14="http://schemas.microsoft.com/office/powerpoint/2010/main" val="2941450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56EC0-5873-628E-CBCA-4BF354695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0885B43-F9C5-0D19-A64F-21D615E3C568}"/>
              </a:ext>
            </a:extLst>
          </p:cNvPr>
          <p:cNvSpPr txBox="1"/>
          <p:nvPr/>
        </p:nvSpPr>
        <p:spPr>
          <a:xfrm>
            <a:off x="5675622" y="2249342"/>
            <a:ext cx="5468164" cy="24083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100" b="1" dirty="0"/>
              <a:t>3. Setting</a:t>
            </a:r>
            <a:r>
              <a:rPr lang="ko-KR" altLang="en-US" sz="1100" b="1" dirty="0"/>
              <a:t>부분의 기능 저장 및 반영 안됨</a:t>
            </a:r>
            <a:endParaRPr lang="en-US" altLang="ko-KR" sz="1100" b="1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à"/>
            </a:pPr>
            <a:r>
              <a:rPr lang="ko-KR" altLang="en-US" sz="1100" b="1" dirty="0">
                <a:sym typeface="Wingdings" panose="05000000000000000000" pitchFamily="2" charset="2"/>
              </a:rPr>
              <a:t>각각의</a:t>
            </a:r>
            <a:r>
              <a:rPr lang="en-US" altLang="ko-KR" sz="1100" b="1" dirty="0">
                <a:sym typeface="Wingdings" panose="05000000000000000000" pitchFamily="2" charset="2"/>
              </a:rPr>
              <a:t> </a:t>
            </a:r>
            <a:r>
              <a:rPr lang="ko-KR" altLang="en-US" sz="1100" b="1" dirty="0">
                <a:sym typeface="Wingdings" panose="05000000000000000000" pitchFamily="2" charset="2"/>
              </a:rPr>
              <a:t>화면 구성은 되어 있지만 각기능의 범위 및 버튼 설정이 저장이 되지 않음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Mute</a:t>
            </a:r>
            <a:r>
              <a:rPr lang="ko-KR" altLang="en-US" sz="1100" b="1" dirty="0">
                <a:sym typeface="Wingdings" panose="05000000000000000000" pitchFamily="2" charset="2"/>
              </a:rPr>
              <a:t> </a:t>
            </a:r>
            <a:r>
              <a:rPr lang="en-US" altLang="ko-KR" sz="1100" b="1" dirty="0">
                <a:sym typeface="Wingdings" panose="05000000000000000000" pitchFamily="2" charset="2"/>
              </a:rPr>
              <a:t>all</a:t>
            </a:r>
            <a:r>
              <a:rPr lang="ko-KR" altLang="en-US" sz="1100" b="1" dirty="0">
                <a:sym typeface="Wingdings" panose="05000000000000000000" pitchFamily="2" charset="2"/>
              </a:rPr>
              <a:t> </a:t>
            </a:r>
            <a:r>
              <a:rPr lang="en-US" altLang="ko-KR" sz="1100" b="1" dirty="0">
                <a:sym typeface="Wingdings" panose="05000000000000000000" pitchFamily="2" charset="2"/>
              </a:rPr>
              <a:t>alarms</a:t>
            </a:r>
            <a:r>
              <a:rPr lang="ko-KR" altLang="en-US" sz="1100" b="1" dirty="0">
                <a:sym typeface="Wingdings" panose="05000000000000000000" pitchFamily="2" charset="2"/>
              </a:rPr>
              <a:t> </a:t>
            </a:r>
            <a:r>
              <a:rPr lang="en-US" altLang="ko-KR" sz="1100" b="1" dirty="0">
                <a:sym typeface="Wingdings" panose="05000000000000000000" pitchFamily="2" charset="2"/>
              </a:rPr>
              <a:t>(AR_01_01) : </a:t>
            </a:r>
            <a:r>
              <a:rPr lang="ko-KR" altLang="en-US" sz="1100" b="1" dirty="0">
                <a:sym typeface="Wingdings" panose="05000000000000000000" pitchFamily="2" charset="2"/>
              </a:rPr>
              <a:t>버튼 </a:t>
            </a:r>
            <a:r>
              <a:rPr lang="en-US" altLang="ko-KR" sz="1100" b="1" dirty="0">
                <a:sym typeface="Wingdings" panose="05000000000000000000" pitchFamily="2" charset="2"/>
              </a:rPr>
              <a:t>On/Off </a:t>
            </a:r>
            <a:r>
              <a:rPr lang="ko-KR" altLang="en-US" sz="1100" b="1" dirty="0">
                <a:sym typeface="Wingdings" panose="05000000000000000000" pitchFamily="2" charset="2"/>
              </a:rPr>
              <a:t>저장 안됨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Glucose unit : </a:t>
            </a:r>
            <a:r>
              <a:rPr lang="ko-KR" altLang="en-US" sz="1100" b="1" dirty="0">
                <a:sym typeface="Wingdings" panose="05000000000000000000" pitchFamily="2" charset="2"/>
              </a:rPr>
              <a:t>단위 변경 및 반영 안됨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Sensors : </a:t>
            </a:r>
            <a:r>
              <a:rPr lang="ko-KR" altLang="en-US" sz="1100" b="1" dirty="0">
                <a:sym typeface="Wingdings" panose="05000000000000000000" pitchFamily="2" charset="2"/>
              </a:rPr>
              <a:t>동작 되지 않음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Alarms : </a:t>
            </a:r>
            <a:r>
              <a:rPr lang="ko-KR" altLang="en-US" sz="1100" b="1" dirty="0">
                <a:sym typeface="Wingdings" panose="05000000000000000000" pitchFamily="2" charset="2"/>
              </a:rPr>
              <a:t>동작 되지 않음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Accessibility : </a:t>
            </a:r>
            <a:r>
              <a:rPr lang="ko-KR" altLang="en-US" sz="1100" b="1" dirty="0">
                <a:sym typeface="Wingdings" panose="05000000000000000000" pitchFamily="2" charset="2"/>
              </a:rPr>
              <a:t>글자 폰트 저장 및 반영되지 않음</a:t>
            </a:r>
            <a:endParaRPr lang="en-US" altLang="ko-KR" sz="1100" b="1" dirty="0">
              <a:sym typeface="Wingdings" panose="05000000000000000000" pitchFamily="2" charset="2"/>
            </a:endParaRPr>
          </a:p>
        </p:txBody>
      </p:sp>
      <p:pic>
        <p:nvPicPr>
          <p:cNvPr id="3" name="그림 2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E18CD8-142F-047C-A466-F3A9CDF5B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02" y="884007"/>
            <a:ext cx="2728996" cy="5623386"/>
          </a:xfrm>
          <a:prstGeom prst="rect">
            <a:avLst/>
          </a:prstGeom>
        </p:spPr>
      </p:pic>
      <p:pic>
        <p:nvPicPr>
          <p:cNvPr id="7" name="그림 6" descr="텍스트, 소프트웨어, 번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4E87E3-7088-1BAE-AB89-6EA49F751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625" y="884007"/>
            <a:ext cx="2728997" cy="56233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E2CF2C-4A5F-6129-0DE9-B4DE9A71AD96}"/>
              </a:ext>
            </a:extLst>
          </p:cNvPr>
          <p:cNvSpPr txBox="1"/>
          <p:nvPr/>
        </p:nvSpPr>
        <p:spPr>
          <a:xfrm>
            <a:off x="495300" y="276225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미 구현 사항</a:t>
            </a:r>
          </a:p>
        </p:txBody>
      </p:sp>
    </p:spTree>
    <p:extLst>
      <p:ext uri="{BB962C8B-B14F-4D97-AF65-F5344CB8AC3E}">
        <p14:creationId xmlns:p14="http://schemas.microsoft.com/office/powerpoint/2010/main" val="1668226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524</Words>
  <Application>Microsoft Office PowerPoint</Application>
  <PresentationFormat>와이드스크린</PresentationFormat>
  <Paragraphs>56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기창 이</dc:creator>
  <cp:lastModifiedBy>기창 이</cp:lastModifiedBy>
  <cp:revision>9</cp:revision>
  <dcterms:created xsi:type="dcterms:W3CDTF">2026-03-05T02:15:40Z</dcterms:created>
  <dcterms:modified xsi:type="dcterms:W3CDTF">2026-03-06T01:29:14Z</dcterms:modified>
</cp:coreProperties>
</file>