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1"/>
  </p:sldMasterIdLst>
  <p:notesMasterIdLst>
    <p:notesMasterId r:id="rId27"/>
  </p:notesMasterIdLst>
  <p:sldIdLst>
    <p:sldId id="784" r:id="rId2"/>
    <p:sldId id="785" r:id="rId3"/>
    <p:sldId id="786" r:id="rId4"/>
    <p:sldId id="787" r:id="rId5"/>
    <p:sldId id="788" r:id="rId6"/>
    <p:sldId id="789" r:id="rId7"/>
    <p:sldId id="811" r:id="rId8"/>
    <p:sldId id="813" r:id="rId9"/>
    <p:sldId id="814" r:id="rId10"/>
    <p:sldId id="815" r:id="rId11"/>
    <p:sldId id="822" r:id="rId12"/>
    <p:sldId id="792" r:id="rId13"/>
    <p:sldId id="829" r:id="rId14"/>
    <p:sldId id="830" r:id="rId15"/>
    <p:sldId id="821" r:id="rId16"/>
    <p:sldId id="816" r:id="rId17"/>
    <p:sldId id="793" r:id="rId18"/>
    <p:sldId id="817" r:id="rId19"/>
    <p:sldId id="781" r:id="rId20"/>
    <p:sldId id="818" r:id="rId21"/>
    <p:sldId id="798" r:id="rId22"/>
    <p:sldId id="801" r:id="rId23"/>
    <p:sldId id="819" r:id="rId24"/>
    <p:sldId id="820" r:id="rId25"/>
    <p:sldId id="766" r:id="rId26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93" userDrawn="1">
          <p15:clr>
            <a:srgbClr val="A4A3A4"/>
          </p15:clr>
        </p15:guide>
        <p15:guide id="2" pos="21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DCDE4C3-82B3-0936-42A9-5B8476A18E64}" name="기창 이" initials="기이" userId="09d6807f10be3362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배상길 차장님" initials="배차" lastIdx="1" clrIdx="0">
    <p:extLst>
      <p:ext uri="{19B8F6BF-5375-455C-9EA6-DF929625EA0E}">
        <p15:presenceInfo xmlns:p15="http://schemas.microsoft.com/office/powerpoint/2012/main" userId="배상길 차장님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9900"/>
    <a:srgbClr val="FFFF99"/>
    <a:srgbClr val="8F97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84" autoAdjust="0"/>
    <p:restoredTop sz="86416" autoAdjust="0"/>
  </p:normalViewPr>
  <p:slideViewPr>
    <p:cSldViewPr snapToGrid="0">
      <p:cViewPr varScale="1">
        <p:scale>
          <a:sx n="110" d="100"/>
          <a:sy n="110" d="100"/>
        </p:scale>
        <p:origin x="1278" y="114"/>
      </p:cViewPr>
      <p:guideLst>
        <p:guide orient="horz" pos="1593"/>
        <p:guide pos="21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A52B00-7B92-412B-8BCF-8378C3C57EBF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C3F9C9-2E79-4CB6-A54F-6C8D5F50DA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281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3F6B4-C5EE-4AAC-A971-AB74C0C82B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1800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3F6B4-C5EE-4AAC-A971-AB74C0C82B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7942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3F6B4-C5EE-4AAC-A971-AB74C0C82B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5577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3F6B4-C5EE-4AAC-A971-AB74C0C82B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6623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3F6B4-C5EE-4AAC-A971-AB74C0C82B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1583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3F6B4-C5EE-4AAC-A971-AB74C0C82B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1708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3F6B4-C5EE-4AAC-A971-AB74C0C82B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1497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3F6B4-C5EE-4AAC-A971-AB74C0C82B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834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3F6B4-C5EE-4AAC-A971-AB74C0C82B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714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3F6B4-C5EE-4AAC-A971-AB74C0C82B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5311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3F6B4-C5EE-4AAC-A971-AB74C0C82B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23224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D:\infopiaexception\한주현 작업\2.BI Project\이미지\PPT 서식\PPT-C\PPT-C6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9905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7855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F3F6B4-C5EE-4AAC-A971-AB74C0C82B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4625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8" r:id="rId1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3.png"/><Relationship Id="rId7" Type="http://schemas.openxmlformats.org/officeDocument/2006/relationships/image" Target="../media/image29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25.png"/><Relationship Id="rId7" Type="http://schemas.openxmlformats.org/officeDocument/2006/relationships/image" Target="../media/image39.pn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.png"/><Relationship Id="rId9" Type="http://schemas.openxmlformats.org/officeDocument/2006/relationships/image" Target="../media/image4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0.png"/><Relationship Id="rId4" Type="http://schemas.openxmlformats.org/officeDocument/2006/relationships/image" Target="../media/image5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81463-8296-563A-C7B2-2CF14FC46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A9CEDEF1-4C9F-141E-3E4A-4F3107F658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3506" y="967133"/>
            <a:ext cx="2376004" cy="4889084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87947733-675E-1127-D80D-96F3258E297A}"/>
              </a:ext>
            </a:extLst>
          </p:cNvPr>
          <p:cNvSpPr/>
          <p:nvPr/>
        </p:nvSpPr>
        <p:spPr>
          <a:xfrm>
            <a:off x="8523798" y="222637"/>
            <a:ext cx="1041621" cy="5883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1463B61-C18B-C132-20C6-1991ABCA290D}"/>
              </a:ext>
            </a:extLst>
          </p:cNvPr>
          <p:cNvSpPr/>
          <p:nvPr/>
        </p:nvSpPr>
        <p:spPr>
          <a:xfrm>
            <a:off x="8523798" y="222637"/>
            <a:ext cx="1041621" cy="5883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7733793-D6AB-80E6-1B94-FC4E19D93272}"/>
              </a:ext>
            </a:extLst>
          </p:cNvPr>
          <p:cNvSpPr/>
          <p:nvPr/>
        </p:nvSpPr>
        <p:spPr>
          <a:xfrm>
            <a:off x="7036905" y="6577971"/>
            <a:ext cx="2664000" cy="1334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EMPECS Medical Device Co., Ltd. All Rights reserved.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pic>
        <p:nvPicPr>
          <p:cNvPr id="22" name="Picture 2">
            <a:extLst>
              <a:ext uri="{FF2B5EF4-FFF2-40B4-BE49-F238E27FC236}">
                <a16:creationId xmlns:a16="http://schemas.microsoft.com/office/drawing/2014/main" id="{8CDDF335-DB1F-629A-3662-D500D8E7DC87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3798" y="157298"/>
            <a:ext cx="998995" cy="65373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C11DB65B-122B-9A3D-9E79-745E3D9B9C37}"/>
              </a:ext>
            </a:extLst>
          </p:cNvPr>
          <p:cNvSpPr txBox="1"/>
          <p:nvPr/>
        </p:nvSpPr>
        <p:spPr>
          <a:xfrm>
            <a:off x="191459" y="221907"/>
            <a:ext cx="9523081" cy="3738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latin typeface="맑은 고딕"/>
                <a:ea typeface="맑은 고딕"/>
              </a:rPr>
              <a:t>▣ </a:t>
            </a:r>
            <a:r>
              <a:rPr lang="en-US" altLang="ko-KR" sz="1400" b="1" dirty="0">
                <a:latin typeface="맑은 고딕"/>
                <a:ea typeface="맑은 고딕"/>
              </a:rPr>
              <a:t>App</a:t>
            </a:r>
            <a:r>
              <a:rPr lang="ko-KR" altLang="en-US" sz="1400" b="1" dirty="0">
                <a:latin typeface="맑은 고딕"/>
                <a:ea typeface="맑은 고딕"/>
              </a:rPr>
              <a:t> 화면 수정요청</a:t>
            </a:r>
            <a:endParaRPr lang="en-US" altLang="ko-KR" sz="1400" b="1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3D9F2FE-8418-E49A-D7A2-232C9454003C}"/>
              </a:ext>
            </a:extLst>
          </p:cNvPr>
          <p:cNvSpPr txBox="1"/>
          <p:nvPr/>
        </p:nvSpPr>
        <p:spPr>
          <a:xfrm>
            <a:off x="191459" y="856742"/>
            <a:ext cx="15456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로그인 화면</a:t>
            </a:r>
            <a:endParaRPr lang="en-US" altLang="ko-KR" sz="16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4B98BD0-2A71-DBB3-FD57-EEE1D6F5D1FA}"/>
              </a:ext>
            </a:extLst>
          </p:cNvPr>
          <p:cNvSpPr txBox="1"/>
          <p:nvPr/>
        </p:nvSpPr>
        <p:spPr>
          <a:xfrm>
            <a:off x="1901186" y="5890867"/>
            <a:ext cx="6300123" cy="7052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400" b="1" dirty="0">
                <a:solidFill>
                  <a:srgbClr val="FF0000"/>
                </a:solidFill>
                <a:highlight>
                  <a:srgbClr val="00FF00"/>
                </a:highlight>
                <a:sym typeface="Wingdings" panose="05000000000000000000" pitchFamily="2" charset="2"/>
              </a:rPr>
              <a:t>현재 로그인 방식에서 </a:t>
            </a:r>
            <a:r>
              <a:rPr lang="ko-KR" altLang="en-US" sz="1400" b="1" u="sng" dirty="0">
                <a:solidFill>
                  <a:srgbClr val="FF0000"/>
                </a:solidFill>
                <a:highlight>
                  <a:srgbClr val="00FF00"/>
                </a:highlight>
                <a:sym typeface="Wingdings" panose="05000000000000000000" pitchFamily="2" charset="2"/>
              </a:rPr>
              <a:t>참조와</a:t>
            </a:r>
            <a:r>
              <a:rPr lang="en-US" altLang="ko-KR" sz="1400" b="1" u="sng" dirty="0">
                <a:solidFill>
                  <a:srgbClr val="FF0000"/>
                </a:solidFill>
                <a:highlight>
                  <a:srgbClr val="00FF00"/>
                </a:highlight>
                <a:sym typeface="Wingdings" panose="05000000000000000000" pitchFamily="2" charset="2"/>
              </a:rPr>
              <a:t> </a:t>
            </a:r>
            <a:r>
              <a:rPr lang="ko-KR" altLang="en-US" sz="1400" b="1" u="sng" dirty="0">
                <a:solidFill>
                  <a:srgbClr val="FF0000"/>
                </a:solidFill>
                <a:highlight>
                  <a:srgbClr val="00FF00"/>
                </a:highlight>
                <a:sym typeface="Wingdings" panose="05000000000000000000" pitchFamily="2" charset="2"/>
              </a:rPr>
              <a:t>같이</a:t>
            </a:r>
            <a:r>
              <a:rPr lang="ko-KR" altLang="en-US" sz="1400" b="1" dirty="0">
                <a:solidFill>
                  <a:srgbClr val="FF0000"/>
                </a:solidFill>
                <a:highlight>
                  <a:srgbClr val="00FF00"/>
                </a:highlight>
                <a:sym typeface="Wingdings" panose="05000000000000000000" pitchFamily="2" charset="2"/>
              </a:rPr>
              <a:t> 로그인</a:t>
            </a:r>
            <a:r>
              <a:rPr lang="ko-KR" altLang="en-US" sz="1400" b="1" u="sng" dirty="0">
                <a:solidFill>
                  <a:srgbClr val="FF0000"/>
                </a:solidFill>
                <a:highlight>
                  <a:srgbClr val="00FF00"/>
                </a:highlight>
                <a:sym typeface="Wingdings" panose="05000000000000000000" pitchFamily="2" charset="2"/>
              </a:rPr>
              <a:t> </a:t>
            </a:r>
            <a:r>
              <a:rPr lang="ko-KR" altLang="en-US" sz="1400" b="1" dirty="0">
                <a:solidFill>
                  <a:srgbClr val="FF0000"/>
                </a:solidFill>
                <a:highlight>
                  <a:srgbClr val="00FF00"/>
                </a:highlight>
                <a:sym typeface="Wingdings" panose="05000000000000000000" pitchFamily="2" charset="2"/>
              </a:rPr>
              <a:t>및 회원 가입 형식으로 변경 요청</a:t>
            </a:r>
            <a:r>
              <a:rPr lang="en-US" altLang="ko-KR" sz="1400" b="1" dirty="0">
                <a:solidFill>
                  <a:srgbClr val="FF0000"/>
                </a:solidFill>
                <a:highlight>
                  <a:srgbClr val="00FF00"/>
                </a:highlight>
                <a:sym typeface="Wingdings" panose="05000000000000000000" pitchFamily="2" charset="2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400" b="1" dirty="0">
                <a:solidFill>
                  <a:srgbClr val="FF0000"/>
                </a:solidFill>
                <a:highlight>
                  <a:srgbClr val="00FF00"/>
                </a:highlight>
                <a:sym typeface="Wingdings" panose="05000000000000000000" pitchFamily="2" charset="2"/>
              </a:rPr>
              <a:t>슬라이드 </a:t>
            </a:r>
            <a:r>
              <a:rPr lang="en-US" altLang="ko-KR" sz="1400" b="1" dirty="0">
                <a:solidFill>
                  <a:srgbClr val="FF0000"/>
                </a:solidFill>
                <a:highlight>
                  <a:srgbClr val="00FF00"/>
                </a:highlight>
                <a:sym typeface="Wingdings" panose="05000000000000000000" pitchFamily="2" charset="2"/>
              </a:rPr>
              <a:t>2</a:t>
            </a:r>
            <a:r>
              <a:rPr lang="ko-KR" altLang="en-US" sz="1400" b="1" dirty="0">
                <a:solidFill>
                  <a:srgbClr val="FF0000"/>
                </a:solidFill>
                <a:highlight>
                  <a:srgbClr val="00FF00"/>
                </a:highlight>
                <a:sym typeface="Wingdings" panose="05000000000000000000" pitchFamily="2" charset="2"/>
              </a:rPr>
              <a:t>번</a:t>
            </a:r>
            <a:r>
              <a:rPr lang="en-US" altLang="ko-KR" sz="1400" b="1" dirty="0">
                <a:solidFill>
                  <a:srgbClr val="FF0000"/>
                </a:solidFill>
                <a:highlight>
                  <a:srgbClr val="00FF00"/>
                </a:highlight>
                <a:sym typeface="Wingdings" panose="05000000000000000000" pitchFamily="2" charset="2"/>
              </a:rPr>
              <a:t>~6</a:t>
            </a:r>
            <a:r>
              <a:rPr lang="ko-KR" altLang="en-US" sz="1400" b="1" dirty="0">
                <a:solidFill>
                  <a:srgbClr val="FF0000"/>
                </a:solidFill>
                <a:highlight>
                  <a:srgbClr val="00FF00"/>
                </a:highlight>
                <a:sym typeface="Wingdings" panose="05000000000000000000" pitchFamily="2" charset="2"/>
              </a:rPr>
              <a:t>번 참조</a:t>
            </a:r>
            <a:r>
              <a:rPr lang="en-US" altLang="ko-KR" sz="1400" b="1" dirty="0">
                <a:solidFill>
                  <a:srgbClr val="FF0000"/>
                </a:solidFill>
                <a:highlight>
                  <a:srgbClr val="00FF00"/>
                </a:highlight>
                <a:sym typeface="Wingdings" panose="05000000000000000000" pitchFamily="2" charset="2"/>
              </a:rPr>
              <a:t>.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893C714C-B055-A56C-A236-EA93B61C73AA}"/>
              </a:ext>
            </a:extLst>
          </p:cNvPr>
          <p:cNvSpPr/>
          <p:nvPr/>
        </p:nvSpPr>
        <p:spPr>
          <a:xfrm>
            <a:off x="2323506" y="4687825"/>
            <a:ext cx="2438399" cy="223809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61157CB6-2399-01DD-8ECF-6E5508548C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1822" y="967133"/>
            <a:ext cx="2376004" cy="4889084"/>
          </a:xfrm>
          <a:prstGeom prst="rect">
            <a:avLst/>
          </a:prstGeom>
        </p:spPr>
      </p:pic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F601771F-503D-5297-D5FC-64F7213067B5}"/>
              </a:ext>
            </a:extLst>
          </p:cNvPr>
          <p:cNvCxnSpPr>
            <a:cxnSpLocks/>
          </p:cNvCxnSpPr>
          <p:nvPr/>
        </p:nvCxnSpPr>
        <p:spPr>
          <a:xfrm>
            <a:off x="4761905" y="4799729"/>
            <a:ext cx="302848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4354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4ABC3-E52B-915B-3A83-D95BD4A2C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A0B382D1-646D-C45D-1661-52867E326BBC}"/>
              </a:ext>
            </a:extLst>
          </p:cNvPr>
          <p:cNvSpPr/>
          <p:nvPr/>
        </p:nvSpPr>
        <p:spPr>
          <a:xfrm>
            <a:off x="8523798" y="222637"/>
            <a:ext cx="1041621" cy="5883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0AEF0FB-497C-F6A7-0D1E-420F31CAF754}"/>
              </a:ext>
            </a:extLst>
          </p:cNvPr>
          <p:cNvSpPr/>
          <p:nvPr/>
        </p:nvSpPr>
        <p:spPr>
          <a:xfrm>
            <a:off x="8523798" y="222637"/>
            <a:ext cx="1041621" cy="5883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771AEE7-6497-ED76-8581-1EABBADE6AD0}"/>
              </a:ext>
            </a:extLst>
          </p:cNvPr>
          <p:cNvSpPr/>
          <p:nvPr/>
        </p:nvSpPr>
        <p:spPr>
          <a:xfrm>
            <a:off x="7036905" y="6577971"/>
            <a:ext cx="2664000" cy="1334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EMPECS Medical Device Co., Ltd. All Rights reserved.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pic>
        <p:nvPicPr>
          <p:cNvPr id="22" name="Picture 2">
            <a:extLst>
              <a:ext uri="{FF2B5EF4-FFF2-40B4-BE49-F238E27FC236}">
                <a16:creationId xmlns:a16="http://schemas.microsoft.com/office/drawing/2014/main" id="{2D760DD3-C1CC-8F12-DD68-A592180D0698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3798" y="157298"/>
            <a:ext cx="998995" cy="65373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EC8BCB37-DC77-A0A1-6B96-B61692ABA12C}"/>
              </a:ext>
            </a:extLst>
          </p:cNvPr>
          <p:cNvSpPr txBox="1"/>
          <p:nvPr/>
        </p:nvSpPr>
        <p:spPr>
          <a:xfrm>
            <a:off x="191459" y="221907"/>
            <a:ext cx="9523081" cy="3738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latin typeface="맑은 고딕"/>
                <a:ea typeface="맑은 고딕"/>
              </a:rPr>
              <a:t>▣ </a:t>
            </a:r>
            <a:r>
              <a:rPr lang="en-US" altLang="ko-KR" sz="1400" b="1" dirty="0">
                <a:latin typeface="맑은 고딕"/>
                <a:ea typeface="맑은 고딕"/>
              </a:rPr>
              <a:t>App</a:t>
            </a:r>
            <a:r>
              <a:rPr lang="ko-KR" altLang="en-US" sz="1400" b="1" dirty="0">
                <a:latin typeface="맑은 고딕"/>
                <a:ea typeface="맑은 고딕"/>
              </a:rPr>
              <a:t> 화면 수정요청</a:t>
            </a:r>
            <a:endParaRPr lang="en-US" altLang="ko-KR" sz="1400" b="1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EDCBFF1-B50E-7A9F-0C15-833685716401}"/>
              </a:ext>
            </a:extLst>
          </p:cNvPr>
          <p:cNvSpPr txBox="1"/>
          <p:nvPr/>
        </p:nvSpPr>
        <p:spPr>
          <a:xfrm>
            <a:off x="191459" y="856742"/>
            <a:ext cx="20024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참조 로그인 화면</a:t>
            </a:r>
            <a:endParaRPr lang="en-US" altLang="ko-KR" sz="16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F9F459-EB8F-AB1C-9A71-75CE2FF2F7EE}"/>
              </a:ext>
            </a:extLst>
          </p:cNvPr>
          <p:cNvSpPr txBox="1"/>
          <p:nvPr/>
        </p:nvSpPr>
        <p:spPr>
          <a:xfrm>
            <a:off x="2283725" y="770287"/>
            <a:ext cx="4732386" cy="3803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>
                <a:solidFill>
                  <a:srgbClr val="FF0000"/>
                </a:solidFill>
                <a:highlight>
                  <a:srgbClr val="00FF00"/>
                </a:highlight>
                <a:sym typeface="Wingdings" panose="05000000000000000000" pitchFamily="2" charset="2"/>
              </a:rPr>
              <a:t>※</a:t>
            </a:r>
            <a:r>
              <a:rPr lang="ko-KR" altLang="en-US" sz="1400" b="1" dirty="0">
                <a:solidFill>
                  <a:srgbClr val="FF0000"/>
                </a:solidFill>
                <a:highlight>
                  <a:srgbClr val="00FF00"/>
                </a:highlight>
                <a:sym typeface="Wingdings" panose="05000000000000000000" pitchFamily="2" charset="2"/>
              </a:rPr>
              <a:t>로그인 순서 및 방법 참조 바랍니다</a:t>
            </a:r>
            <a:r>
              <a:rPr lang="en-US" altLang="ko-KR" sz="1400" b="1" dirty="0">
                <a:solidFill>
                  <a:srgbClr val="FF0000"/>
                </a:solidFill>
                <a:highlight>
                  <a:srgbClr val="00FF00"/>
                </a:highlight>
                <a:sym typeface="Wingdings" panose="05000000000000000000" pitchFamily="2" charset="2"/>
              </a:rPr>
              <a:t>.(</a:t>
            </a:r>
            <a:r>
              <a:rPr lang="ko-KR" altLang="en-US" sz="1400" b="1" dirty="0">
                <a:solidFill>
                  <a:srgbClr val="FF0000"/>
                </a:solidFill>
                <a:highlight>
                  <a:srgbClr val="00FF00"/>
                </a:highlight>
                <a:sym typeface="Wingdings" panose="05000000000000000000" pitchFamily="2" charset="2"/>
              </a:rPr>
              <a:t>참조 예시 입니다</a:t>
            </a:r>
            <a:r>
              <a:rPr lang="en-US" altLang="ko-KR" sz="1400" b="1" dirty="0">
                <a:solidFill>
                  <a:srgbClr val="FF0000"/>
                </a:solidFill>
                <a:highlight>
                  <a:srgbClr val="00FF00"/>
                </a:highlight>
                <a:sym typeface="Wingdings" panose="05000000000000000000" pitchFamily="2" charset="2"/>
              </a:rPr>
              <a:t>)※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B1E74CE-4137-DF72-26C9-159320A041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623" y="1310815"/>
            <a:ext cx="2144310" cy="466343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2C8F170-7424-2751-414D-61626B8901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4176" y="1310814"/>
            <a:ext cx="2144310" cy="466343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95837E1-803B-52F3-B853-528F3DF04E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6258" y="1310814"/>
            <a:ext cx="2144310" cy="4663436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EEA49F7E-8541-EF51-A0F0-1DAB230399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4139" y="1310814"/>
            <a:ext cx="2144310" cy="4663437"/>
          </a:xfrm>
          <a:prstGeom prst="rect">
            <a:avLst/>
          </a:prstGeom>
        </p:spPr>
      </p:pic>
      <p:sp>
        <p:nvSpPr>
          <p:cNvPr id="17" name="타원 16">
            <a:extLst>
              <a:ext uri="{FF2B5EF4-FFF2-40B4-BE49-F238E27FC236}">
                <a16:creationId xmlns:a16="http://schemas.microsoft.com/office/drawing/2014/main" id="{4C9A0BC5-A114-6CD0-3E0F-F82E79064A52}"/>
              </a:ext>
            </a:extLst>
          </p:cNvPr>
          <p:cNvSpPr/>
          <p:nvPr/>
        </p:nvSpPr>
        <p:spPr>
          <a:xfrm>
            <a:off x="1106860" y="1190985"/>
            <a:ext cx="313509" cy="30480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1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B97CE4B1-C205-A809-11F2-4D968EFBC29E}"/>
              </a:ext>
            </a:extLst>
          </p:cNvPr>
          <p:cNvSpPr/>
          <p:nvPr/>
        </p:nvSpPr>
        <p:spPr>
          <a:xfrm>
            <a:off x="3417323" y="1190985"/>
            <a:ext cx="313509" cy="30480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2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290EF2C5-A7FA-5BFD-B064-EAC95B360BD4}"/>
              </a:ext>
            </a:extLst>
          </p:cNvPr>
          <p:cNvSpPr/>
          <p:nvPr/>
        </p:nvSpPr>
        <p:spPr>
          <a:xfrm>
            <a:off x="5727786" y="1190985"/>
            <a:ext cx="313509" cy="30480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3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DFB87DDE-2742-B5AB-E49A-C0D463326A27}"/>
              </a:ext>
            </a:extLst>
          </p:cNvPr>
          <p:cNvSpPr/>
          <p:nvPr/>
        </p:nvSpPr>
        <p:spPr>
          <a:xfrm>
            <a:off x="8029539" y="1199512"/>
            <a:ext cx="313509" cy="30480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4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65A132A-B8EF-390C-E81F-2783E94EEF3A}"/>
              </a:ext>
            </a:extLst>
          </p:cNvPr>
          <p:cNvSpPr/>
          <p:nvPr/>
        </p:nvSpPr>
        <p:spPr>
          <a:xfrm>
            <a:off x="575637" y="1792753"/>
            <a:ext cx="1340249" cy="2351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5B7C89C-6D98-5E31-029B-A654DB794E11}"/>
              </a:ext>
            </a:extLst>
          </p:cNvPr>
          <p:cNvSpPr/>
          <p:nvPr/>
        </p:nvSpPr>
        <p:spPr>
          <a:xfrm>
            <a:off x="541243" y="4655949"/>
            <a:ext cx="1340249" cy="2351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62FAB08-53D8-0F18-1BDC-7DBDAC4E66B7}"/>
              </a:ext>
            </a:extLst>
          </p:cNvPr>
          <p:cNvSpPr/>
          <p:nvPr/>
        </p:nvSpPr>
        <p:spPr>
          <a:xfrm>
            <a:off x="937027" y="5286375"/>
            <a:ext cx="358374" cy="7711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768B27C-C805-6AAE-34B2-024943043D07}"/>
              </a:ext>
            </a:extLst>
          </p:cNvPr>
          <p:cNvSpPr/>
          <p:nvPr/>
        </p:nvSpPr>
        <p:spPr>
          <a:xfrm>
            <a:off x="2943499" y="2299064"/>
            <a:ext cx="508660" cy="1306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85A4054-9B4C-5F19-DB71-471F28195D5A}"/>
              </a:ext>
            </a:extLst>
          </p:cNvPr>
          <p:cNvSpPr/>
          <p:nvPr/>
        </p:nvSpPr>
        <p:spPr>
          <a:xfrm>
            <a:off x="4987988" y="1906416"/>
            <a:ext cx="1340249" cy="2351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890141D-738B-C284-5D36-9B22580ED3B0}"/>
              </a:ext>
            </a:extLst>
          </p:cNvPr>
          <p:cNvSpPr/>
          <p:nvPr/>
        </p:nvSpPr>
        <p:spPr>
          <a:xfrm>
            <a:off x="7438914" y="1878000"/>
            <a:ext cx="1340249" cy="2351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1E9E8CC2-125C-E8EA-B59C-7DEA2EC09485}"/>
              </a:ext>
            </a:extLst>
          </p:cNvPr>
          <p:cNvSpPr/>
          <p:nvPr/>
        </p:nvSpPr>
        <p:spPr>
          <a:xfrm>
            <a:off x="277584" y="4888112"/>
            <a:ext cx="1942928" cy="338553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BE823D43-E01F-93CE-0DB4-A8B185D0DF97}"/>
              </a:ext>
            </a:extLst>
          </p:cNvPr>
          <p:cNvSpPr/>
          <p:nvPr/>
        </p:nvSpPr>
        <p:spPr>
          <a:xfrm>
            <a:off x="303224" y="4277355"/>
            <a:ext cx="1908092" cy="52302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solidFill>
                  <a:srgbClr val="FF0000"/>
                </a:solidFill>
              </a:rPr>
              <a:t>간편로그인</a:t>
            </a:r>
          </a:p>
        </p:txBody>
      </p:sp>
      <p:cxnSp>
        <p:nvCxnSpPr>
          <p:cNvPr id="42" name="연결선: 꺾임 41">
            <a:extLst>
              <a:ext uri="{FF2B5EF4-FFF2-40B4-BE49-F238E27FC236}">
                <a16:creationId xmlns:a16="http://schemas.microsoft.com/office/drawing/2014/main" id="{3CD0ABE4-5A9E-4657-0C42-909F6AB6E7DE}"/>
              </a:ext>
            </a:extLst>
          </p:cNvPr>
          <p:cNvCxnSpPr>
            <a:cxnSpLocks/>
            <a:stCxn id="40" idx="1"/>
          </p:cNvCxnSpPr>
          <p:nvPr/>
        </p:nvCxnSpPr>
        <p:spPr>
          <a:xfrm rot="10800000" flipH="1" flipV="1">
            <a:off x="303224" y="4538864"/>
            <a:ext cx="2163862" cy="1785733"/>
          </a:xfrm>
          <a:prstGeom prst="bentConnector3">
            <a:avLst>
              <a:gd name="adj1" fmla="val -10564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20015611-F9D4-2813-9877-4B76378F874D}"/>
              </a:ext>
            </a:extLst>
          </p:cNvPr>
          <p:cNvSpPr txBox="1"/>
          <p:nvPr/>
        </p:nvSpPr>
        <p:spPr>
          <a:xfrm>
            <a:off x="2387600" y="6093670"/>
            <a:ext cx="5440079" cy="3803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u="sng" dirty="0">
                <a:solidFill>
                  <a:srgbClr val="FF0000"/>
                </a:solidFill>
                <a:highlight>
                  <a:srgbClr val="00FF00"/>
                </a:highlight>
                <a:sym typeface="Wingdings" panose="05000000000000000000" pitchFamily="2" charset="2"/>
              </a:rPr>
              <a:t> 해당 부분에 </a:t>
            </a:r>
            <a:r>
              <a:rPr lang="en-US" altLang="ko-KR" sz="1400" b="1" u="sng" dirty="0">
                <a:solidFill>
                  <a:srgbClr val="FF0000"/>
                </a:solidFill>
                <a:highlight>
                  <a:srgbClr val="00FF00"/>
                </a:highlight>
                <a:sym typeface="Wingdings" panose="05000000000000000000" pitchFamily="2" charset="2"/>
              </a:rPr>
              <a:t>Google, </a:t>
            </a:r>
            <a:r>
              <a:rPr lang="en-US" altLang="ko-KR" sz="1400" b="1" u="sng" dirty="0" err="1">
                <a:solidFill>
                  <a:srgbClr val="FF0000"/>
                </a:solidFill>
                <a:highlight>
                  <a:srgbClr val="00FF00"/>
                </a:highlight>
                <a:sym typeface="Wingdings" panose="05000000000000000000" pitchFamily="2" charset="2"/>
              </a:rPr>
              <a:t>kakao</a:t>
            </a:r>
            <a:r>
              <a:rPr lang="en-US" altLang="ko-KR" sz="1400" b="1" u="sng" dirty="0">
                <a:solidFill>
                  <a:srgbClr val="FF0000"/>
                </a:solidFill>
                <a:highlight>
                  <a:srgbClr val="00FF00"/>
                </a:highlight>
                <a:sym typeface="Wingdings" panose="05000000000000000000" pitchFamily="2" charset="2"/>
              </a:rPr>
              <a:t>, Apple</a:t>
            </a:r>
            <a:r>
              <a:rPr lang="ko-KR" altLang="en-US" sz="1400" b="1" u="sng" dirty="0">
                <a:solidFill>
                  <a:srgbClr val="FF0000"/>
                </a:solidFill>
                <a:highlight>
                  <a:srgbClr val="00FF00"/>
                </a:highlight>
                <a:sym typeface="Wingdings" panose="05000000000000000000" pitchFamily="2" charset="2"/>
              </a:rPr>
              <a:t> 간편 로그인 방식 추가 바랍니다</a:t>
            </a:r>
            <a:r>
              <a:rPr lang="en-US" altLang="ko-KR" sz="1400" b="1" u="sng" dirty="0">
                <a:solidFill>
                  <a:srgbClr val="FF0000"/>
                </a:solidFill>
                <a:highlight>
                  <a:srgbClr val="00FF00"/>
                </a:highlight>
                <a:sym typeface="Wingdings" panose="05000000000000000000" pitchFamily="2" charset="2"/>
              </a:rPr>
              <a:t>.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C6EAB791-48B0-DE2B-A532-73C1B761F1DE}"/>
              </a:ext>
            </a:extLst>
          </p:cNvPr>
          <p:cNvSpPr/>
          <p:nvPr/>
        </p:nvSpPr>
        <p:spPr>
          <a:xfrm>
            <a:off x="277584" y="5274835"/>
            <a:ext cx="1942928" cy="42187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2965950-200C-D2F7-4894-2F26DD5B9AB4}"/>
              </a:ext>
            </a:extLst>
          </p:cNvPr>
          <p:cNvSpPr txBox="1"/>
          <p:nvPr/>
        </p:nvSpPr>
        <p:spPr>
          <a:xfrm>
            <a:off x="2387600" y="5712640"/>
            <a:ext cx="32351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>
                  <a:srgbClr val="FF0000"/>
                </a:solidFill>
                <a:highlight>
                  <a:srgbClr val="00FF00"/>
                </a:highlight>
              </a:rPr>
              <a:t>기존 사용자 로그인 경우</a:t>
            </a:r>
            <a:r>
              <a:rPr lang="en-US" altLang="ko-KR" sz="1100" b="1" dirty="0">
                <a:solidFill>
                  <a:srgbClr val="FF0000"/>
                </a:solidFill>
                <a:highlight>
                  <a:srgbClr val="00FF00"/>
                </a:highlight>
              </a:rPr>
              <a:t> </a:t>
            </a:r>
            <a:r>
              <a:rPr lang="ko-KR" altLang="en-US" sz="1100" b="1" dirty="0">
                <a:solidFill>
                  <a:srgbClr val="FF0000"/>
                </a:solidFill>
                <a:highlight>
                  <a:srgbClr val="00FF00"/>
                </a:highlight>
              </a:rPr>
              <a:t>인증 후 메인 화면 진입</a:t>
            </a:r>
            <a:r>
              <a:rPr lang="en-US" altLang="ko-KR" sz="1100" b="1" dirty="0">
                <a:solidFill>
                  <a:srgbClr val="FF0000"/>
                </a:solidFill>
                <a:highlight>
                  <a:srgbClr val="00FF00"/>
                </a:highlight>
              </a:rPr>
              <a:t>.</a:t>
            </a:r>
            <a:endParaRPr lang="ko-KR" altLang="en-US" sz="1100" b="1" dirty="0">
              <a:solidFill>
                <a:srgbClr val="FF0000"/>
              </a:solidFill>
              <a:highlight>
                <a:srgbClr val="00FF00"/>
              </a:highlight>
            </a:endParaRPr>
          </a:p>
        </p:txBody>
      </p:sp>
      <p:cxnSp>
        <p:nvCxnSpPr>
          <p:cNvPr id="51" name="연결선: 꺾임 50">
            <a:extLst>
              <a:ext uri="{FF2B5EF4-FFF2-40B4-BE49-F238E27FC236}">
                <a16:creationId xmlns:a16="http://schemas.microsoft.com/office/drawing/2014/main" id="{D603155D-2379-3D32-0953-9568BF29F1CC}"/>
              </a:ext>
            </a:extLst>
          </p:cNvPr>
          <p:cNvCxnSpPr>
            <a:cxnSpLocks/>
            <a:stCxn id="38" idx="3"/>
            <a:endCxn id="8" idx="1"/>
          </p:cNvCxnSpPr>
          <p:nvPr/>
        </p:nvCxnSpPr>
        <p:spPr>
          <a:xfrm flipV="1">
            <a:off x="2220512" y="3642532"/>
            <a:ext cx="333664" cy="1414857"/>
          </a:xfrm>
          <a:prstGeom prst="bentConnector3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연결선: 꺾임 54">
            <a:extLst>
              <a:ext uri="{FF2B5EF4-FFF2-40B4-BE49-F238E27FC236}">
                <a16:creationId xmlns:a16="http://schemas.microsoft.com/office/drawing/2014/main" id="{4ECF927D-36BC-3174-546F-34FCC386E325}"/>
              </a:ext>
            </a:extLst>
          </p:cNvPr>
          <p:cNvCxnSpPr>
            <a:cxnSpLocks/>
            <a:stCxn id="46" idx="2"/>
          </p:cNvCxnSpPr>
          <p:nvPr/>
        </p:nvCxnSpPr>
        <p:spPr>
          <a:xfrm rot="16200000" flipH="1">
            <a:off x="1710579" y="5235176"/>
            <a:ext cx="160168" cy="1083230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0742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5C1E6-28A4-0EAF-B041-8B0FDFC1A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265CE69D-12EA-2062-7269-C2C4CABD01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5585" y="1495784"/>
            <a:ext cx="2066375" cy="449394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56E4473E-6204-B83D-8BDF-150C2EE541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7214" y="1430126"/>
            <a:ext cx="2143813" cy="466235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004023F-9960-F178-43DB-262563AC74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7600" y="1495785"/>
            <a:ext cx="2111430" cy="459192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5DDDD8ED-ECFD-A71D-FE44-B8B3CC9E1E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798" y="1407713"/>
            <a:ext cx="2151925" cy="4680000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EBE0CCF2-8F1C-84B8-FD38-24D8D88F7798}"/>
              </a:ext>
            </a:extLst>
          </p:cNvPr>
          <p:cNvSpPr/>
          <p:nvPr/>
        </p:nvSpPr>
        <p:spPr>
          <a:xfrm>
            <a:off x="8523798" y="222637"/>
            <a:ext cx="1041621" cy="5883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7D95739-B458-7DAF-FA23-454752529D0E}"/>
              </a:ext>
            </a:extLst>
          </p:cNvPr>
          <p:cNvSpPr/>
          <p:nvPr/>
        </p:nvSpPr>
        <p:spPr>
          <a:xfrm>
            <a:off x="8523798" y="222637"/>
            <a:ext cx="1041621" cy="5883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8E53673-058B-DEF7-7999-DA0D2545FADC}"/>
              </a:ext>
            </a:extLst>
          </p:cNvPr>
          <p:cNvSpPr/>
          <p:nvPr/>
        </p:nvSpPr>
        <p:spPr>
          <a:xfrm>
            <a:off x="7036905" y="6577971"/>
            <a:ext cx="2664000" cy="1334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EMPECS Medical Device Co., Ltd. All Rights reserved.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pic>
        <p:nvPicPr>
          <p:cNvPr id="22" name="Picture 2">
            <a:extLst>
              <a:ext uri="{FF2B5EF4-FFF2-40B4-BE49-F238E27FC236}">
                <a16:creationId xmlns:a16="http://schemas.microsoft.com/office/drawing/2014/main" id="{3F2AD028-A4D3-7208-FE87-F7277AC3AE93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3798" y="157298"/>
            <a:ext cx="998995" cy="65373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835E3272-3CEA-6C5A-4CC8-21D7394D2F9B}"/>
              </a:ext>
            </a:extLst>
          </p:cNvPr>
          <p:cNvSpPr txBox="1"/>
          <p:nvPr/>
        </p:nvSpPr>
        <p:spPr>
          <a:xfrm>
            <a:off x="191459" y="221907"/>
            <a:ext cx="9523081" cy="3738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latin typeface="맑은 고딕"/>
                <a:ea typeface="맑은 고딕"/>
              </a:rPr>
              <a:t>▣ </a:t>
            </a:r>
            <a:r>
              <a:rPr lang="en-US" altLang="ko-KR" sz="1400" b="1" dirty="0">
                <a:latin typeface="맑은 고딕"/>
                <a:ea typeface="맑은 고딕"/>
              </a:rPr>
              <a:t>App</a:t>
            </a:r>
            <a:r>
              <a:rPr lang="ko-KR" altLang="en-US" sz="1400" b="1" dirty="0">
                <a:latin typeface="맑은 고딕"/>
                <a:ea typeface="맑은 고딕"/>
              </a:rPr>
              <a:t> 화면 수정요청</a:t>
            </a:r>
            <a:endParaRPr lang="en-US" altLang="ko-KR" sz="1400" b="1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9CB0A91-264F-992A-555C-9BEC65755C8E}"/>
              </a:ext>
            </a:extLst>
          </p:cNvPr>
          <p:cNvSpPr txBox="1"/>
          <p:nvPr/>
        </p:nvSpPr>
        <p:spPr>
          <a:xfrm>
            <a:off x="191459" y="856742"/>
            <a:ext cx="20024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참조 로그인 화면</a:t>
            </a:r>
            <a:endParaRPr lang="en-US" altLang="ko-KR" sz="16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BEB683-154F-B445-9B36-9128E0599ABC}"/>
              </a:ext>
            </a:extLst>
          </p:cNvPr>
          <p:cNvSpPr txBox="1"/>
          <p:nvPr/>
        </p:nvSpPr>
        <p:spPr>
          <a:xfrm>
            <a:off x="2283725" y="770287"/>
            <a:ext cx="4868640" cy="3803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>
                <a:solidFill>
                  <a:srgbClr val="FF0000"/>
                </a:solidFill>
                <a:highlight>
                  <a:srgbClr val="00FF00"/>
                </a:highlight>
                <a:sym typeface="Wingdings" panose="05000000000000000000" pitchFamily="2" charset="2"/>
              </a:rPr>
              <a:t>※</a:t>
            </a:r>
            <a:r>
              <a:rPr lang="ko-KR" altLang="en-US" sz="1400" b="1" dirty="0">
                <a:solidFill>
                  <a:srgbClr val="FF0000"/>
                </a:solidFill>
                <a:highlight>
                  <a:srgbClr val="00FF00"/>
                </a:highlight>
                <a:sym typeface="Wingdings" panose="05000000000000000000" pitchFamily="2" charset="2"/>
              </a:rPr>
              <a:t>로그인 순서 및 방법 참조 바랍니다</a:t>
            </a:r>
            <a:r>
              <a:rPr lang="en-US" altLang="ko-KR" sz="1400" b="1" dirty="0">
                <a:solidFill>
                  <a:srgbClr val="FF0000"/>
                </a:solidFill>
                <a:highlight>
                  <a:srgbClr val="00FF00"/>
                </a:highlight>
                <a:sym typeface="Wingdings" panose="05000000000000000000" pitchFamily="2" charset="2"/>
              </a:rPr>
              <a:t>. (</a:t>
            </a:r>
            <a:r>
              <a:rPr lang="ko-KR" altLang="en-US" sz="1400" b="1" dirty="0">
                <a:solidFill>
                  <a:srgbClr val="FF0000"/>
                </a:solidFill>
                <a:highlight>
                  <a:srgbClr val="00FF00"/>
                </a:highlight>
                <a:sym typeface="Wingdings" panose="05000000000000000000" pitchFamily="2" charset="2"/>
              </a:rPr>
              <a:t>참조 예시 입니다</a:t>
            </a:r>
            <a:r>
              <a:rPr lang="en-US" altLang="ko-KR" sz="1400" b="1" dirty="0">
                <a:solidFill>
                  <a:srgbClr val="FF0000"/>
                </a:solidFill>
                <a:highlight>
                  <a:srgbClr val="00FF00"/>
                </a:highlight>
                <a:sym typeface="Wingdings" panose="05000000000000000000" pitchFamily="2" charset="2"/>
              </a:rPr>
              <a:t>)※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6E0DD28C-DA6D-D9A9-F54B-2AFFC6B127B4}"/>
              </a:ext>
            </a:extLst>
          </p:cNvPr>
          <p:cNvSpPr/>
          <p:nvPr/>
        </p:nvSpPr>
        <p:spPr>
          <a:xfrm>
            <a:off x="1106860" y="1190985"/>
            <a:ext cx="313509" cy="30480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5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7551FED1-0901-2A1C-8A35-F50224ED90C6}"/>
              </a:ext>
            </a:extLst>
          </p:cNvPr>
          <p:cNvSpPr/>
          <p:nvPr/>
        </p:nvSpPr>
        <p:spPr>
          <a:xfrm>
            <a:off x="3384838" y="1190985"/>
            <a:ext cx="313509" cy="30480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6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6DD2D934-8097-AA14-897C-7E1387F0540E}"/>
              </a:ext>
            </a:extLst>
          </p:cNvPr>
          <p:cNvSpPr/>
          <p:nvPr/>
        </p:nvSpPr>
        <p:spPr>
          <a:xfrm>
            <a:off x="5658113" y="1190985"/>
            <a:ext cx="313509" cy="30480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7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89A525A8-C3B8-3475-8F2D-6FFC023382C2}"/>
              </a:ext>
            </a:extLst>
          </p:cNvPr>
          <p:cNvSpPr/>
          <p:nvPr/>
        </p:nvSpPr>
        <p:spPr>
          <a:xfrm>
            <a:off x="7933740" y="1190985"/>
            <a:ext cx="313509" cy="30480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8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E7707B9-19F9-6A7E-AA3F-DBA498F9EE77}"/>
              </a:ext>
            </a:extLst>
          </p:cNvPr>
          <p:cNvSpPr/>
          <p:nvPr/>
        </p:nvSpPr>
        <p:spPr>
          <a:xfrm>
            <a:off x="575637" y="1792753"/>
            <a:ext cx="1340249" cy="2351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07D7C79-9634-5A60-8D1D-1A318CABBD9B}"/>
              </a:ext>
            </a:extLst>
          </p:cNvPr>
          <p:cNvSpPr/>
          <p:nvPr/>
        </p:nvSpPr>
        <p:spPr>
          <a:xfrm>
            <a:off x="541243" y="4655949"/>
            <a:ext cx="1340249" cy="2351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5A8A0FD-D5B5-1474-0C40-F8E72DC02588}"/>
              </a:ext>
            </a:extLst>
          </p:cNvPr>
          <p:cNvSpPr/>
          <p:nvPr/>
        </p:nvSpPr>
        <p:spPr>
          <a:xfrm>
            <a:off x="4013022" y="4518660"/>
            <a:ext cx="349034" cy="1372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190B218-1840-75AF-888A-2FDF63F297CE}"/>
              </a:ext>
            </a:extLst>
          </p:cNvPr>
          <p:cNvSpPr/>
          <p:nvPr/>
        </p:nvSpPr>
        <p:spPr>
          <a:xfrm>
            <a:off x="3011098" y="2093193"/>
            <a:ext cx="863700" cy="2214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C9F4583-BB1A-1540-270A-A2663000FD40}"/>
              </a:ext>
            </a:extLst>
          </p:cNvPr>
          <p:cNvSpPr/>
          <p:nvPr/>
        </p:nvSpPr>
        <p:spPr>
          <a:xfrm>
            <a:off x="4997648" y="1975628"/>
            <a:ext cx="1340249" cy="2351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A9BF3B9-D0B7-E64C-3C44-43242091F418}"/>
              </a:ext>
            </a:extLst>
          </p:cNvPr>
          <p:cNvSpPr/>
          <p:nvPr/>
        </p:nvSpPr>
        <p:spPr>
          <a:xfrm>
            <a:off x="774973" y="2030834"/>
            <a:ext cx="863700" cy="2214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5370A15-9C1C-9768-F5B8-91EB4AC891D9}"/>
              </a:ext>
            </a:extLst>
          </p:cNvPr>
          <p:cNvSpPr/>
          <p:nvPr/>
        </p:nvSpPr>
        <p:spPr>
          <a:xfrm>
            <a:off x="6289661" y="4450144"/>
            <a:ext cx="349034" cy="1372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37F4C16-C46C-A0DD-72B0-0790828D9F59}"/>
              </a:ext>
            </a:extLst>
          </p:cNvPr>
          <p:cNvSpPr/>
          <p:nvPr/>
        </p:nvSpPr>
        <p:spPr>
          <a:xfrm>
            <a:off x="3052218" y="4753791"/>
            <a:ext cx="349034" cy="1372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1017BA7-7FF3-DF84-ABBE-CC539E3B7F69}"/>
              </a:ext>
            </a:extLst>
          </p:cNvPr>
          <p:cNvSpPr/>
          <p:nvPr/>
        </p:nvSpPr>
        <p:spPr>
          <a:xfrm>
            <a:off x="5352238" y="4685146"/>
            <a:ext cx="349034" cy="1372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F31DA1F-F700-8033-A308-8158774BF5B8}"/>
              </a:ext>
            </a:extLst>
          </p:cNvPr>
          <p:cNvSpPr/>
          <p:nvPr/>
        </p:nvSpPr>
        <p:spPr>
          <a:xfrm>
            <a:off x="5496268" y="3400286"/>
            <a:ext cx="793393" cy="2351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352655A-F9AC-88CE-23E8-E28952955FC1}"/>
              </a:ext>
            </a:extLst>
          </p:cNvPr>
          <p:cNvSpPr/>
          <p:nvPr/>
        </p:nvSpPr>
        <p:spPr>
          <a:xfrm>
            <a:off x="7449820" y="2440453"/>
            <a:ext cx="1340249" cy="2351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EC6A80A-3BF1-720B-5DD8-4F77F16E9D74}"/>
              </a:ext>
            </a:extLst>
          </p:cNvPr>
          <p:cNvSpPr/>
          <p:nvPr/>
        </p:nvSpPr>
        <p:spPr>
          <a:xfrm>
            <a:off x="2624773" y="3836813"/>
            <a:ext cx="3858681" cy="658394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rgbClr val="FF0000"/>
                </a:solidFill>
                <a:highlight>
                  <a:srgbClr val="00FF00"/>
                </a:highlight>
              </a:rPr>
              <a:t>해당 부분은</a:t>
            </a:r>
            <a:r>
              <a:rPr lang="en-US" altLang="ko-KR" sz="1400" b="1" dirty="0">
                <a:solidFill>
                  <a:srgbClr val="FF0000"/>
                </a:solidFill>
                <a:highlight>
                  <a:srgbClr val="00FF00"/>
                </a:highlight>
              </a:rPr>
              <a:t> </a:t>
            </a:r>
            <a:r>
              <a:rPr lang="ko-KR" altLang="en-US" sz="1400" b="1" dirty="0">
                <a:solidFill>
                  <a:srgbClr val="FF0000"/>
                </a:solidFill>
                <a:highlight>
                  <a:srgbClr val="00FF00"/>
                </a:highlight>
              </a:rPr>
              <a:t>핸드폰 번호로 </a:t>
            </a:r>
            <a:r>
              <a:rPr lang="en-US" altLang="ko-KR" sz="1400" b="1" dirty="0">
                <a:solidFill>
                  <a:srgbClr val="FF0000"/>
                </a:solidFill>
                <a:highlight>
                  <a:srgbClr val="00FF00"/>
                </a:highlight>
              </a:rPr>
              <a:t>ID</a:t>
            </a:r>
            <a:r>
              <a:rPr lang="ko-KR" altLang="en-US" sz="1400" b="1" dirty="0">
                <a:solidFill>
                  <a:srgbClr val="FF0000"/>
                </a:solidFill>
                <a:highlight>
                  <a:srgbClr val="00FF00"/>
                </a:highlight>
              </a:rPr>
              <a:t>로 설정하지만</a:t>
            </a:r>
            <a:endParaRPr lang="en-US" altLang="ko-KR" sz="1400" b="1" dirty="0">
              <a:solidFill>
                <a:srgbClr val="FF0000"/>
              </a:solidFill>
              <a:highlight>
                <a:srgbClr val="00FF00"/>
              </a:highlight>
            </a:endParaRPr>
          </a:p>
          <a:p>
            <a:pPr algn="ctr"/>
            <a:r>
              <a:rPr lang="ko-KR" altLang="en-US" sz="1400" b="1" dirty="0">
                <a:solidFill>
                  <a:srgbClr val="FF0000"/>
                </a:solidFill>
                <a:highlight>
                  <a:srgbClr val="00FF00"/>
                </a:highlight>
              </a:rPr>
              <a:t>자사는 </a:t>
            </a:r>
            <a:r>
              <a:rPr lang="en-US" altLang="ko-KR" sz="1400" b="1" dirty="0">
                <a:solidFill>
                  <a:srgbClr val="FF0000"/>
                </a:solidFill>
                <a:highlight>
                  <a:srgbClr val="00FF00"/>
                </a:highlight>
              </a:rPr>
              <a:t>ID/PW </a:t>
            </a:r>
            <a:r>
              <a:rPr lang="ko-KR" altLang="en-US" sz="1400" b="1" dirty="0">
                <a:solidFill>
                  <a:srgbClr val="FF0000"/>
                </a:solidFill>
                <a:highlight>
                  <a:srgbClr val="00FF00"/>
                </a:highlight>
              </a:rPr>
              <a:t>설정 방식으로 진행 </a:t>
            </a:r>
          </a:p>
        </p:txBody>
      </p:sp>
    </p:spTree>
    <p:extLst>
      <p:ext uri="{BB962C8B-B14F-4D97-AF65-F5344CB8AC3E}">
        <p14:creationId xmlns:p14="http://schemas.microsoft.com/office/powerpoint/2010/main" val="1085718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19132-9BF4-7CA1-836E-7196FBC5A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2794E93B-F47B-44E3-E4F1-ADA8932A9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7297" y="1590290"/>
            <a:ext cx="1986393" cy="43200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0FE489D-5C13-A0FF-F047-D3CB5C5CAD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1670" y="1536122"/>
            <a:ext cx="1986393" cy="4320000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8EFCA038-2354-1D6C-CE7F-58FBA00EA0C0}"/>
              </a:ext>
            </a:extLst>
          </p:cNvPr>
          <p:cNvSpPr/>
          <p:nvPr/>
        </p:nvSpPr>
        <p:spPr>
          <a:xfrm>
            <a:off x="8523798" y="222637"/>
            <a:ext cx="1041621" cy="5883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1F47A35-CCC4-B833-0384-B3F39A5BDE4D}"/>
              </a:ext>
            </a:extLst>
          </p:cNvPr>
          <p:cNvSpPr/>
          <p:nvPr/>
        </p:nvSpPr>
        <p:spPr>
          <a:xfrm>
            <a:off x="8523798" y="222637"/>
            <a:ext cx="1041621" cy="5883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2F577D7-66B1-2BF2-2E57-D8BE32446A16}"/>
              </a:ext>
            </a:extLst>
          </p:cNvPr>
          <p:cNvSpPr/>
          <p:nvPr/>
        </p:nvSpPr>
        <p:spPr>
          <a:xfrm>
            <a:off x="7036905" y="6577971"/>
            <a:ext cx="2664000" cy="1334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EMPECS Medical Device Co., Ltd. All Rights reserved.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pic>
        <p:nvPicPr>
          <p:cNvPr id="22" name="Picture 2">
            <a:extLst>
              <a:ext uri="{FF2B5EF4-FFF2-40B4-BE49-F238E27FC236}">
                <a16:creationId xmlns:a16="http://schemas.microsoft.com/office/drawing/2014/main" id="{E99A4327-8857-C0C6-7924-715B253CD581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3798" y="157298"/>
            <a:ext cx="998995" cy="65373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615CEBF-FBDB-C31B-CFD0-198DCA8C57FA}"/>
              </a:ext>
            </a:extLst>
          </p:cNvPr>
          <p:cNvSpPr txBox="1"/>
          <p:nvPr/>
        </p:nvSpPr>
        <p:spPr>
          <a:xfrm>
            <a:off x="191459" y="221907"/>
            <a:ext cx="9523081" cy="3738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latin typeface="맑은 고딕"/>
                <a:ea typeface="맑은 고딕"/>
              </a:rPr>
              <a:t>▣ </a:t>
            </a:r>
            <a:r>
              <a:rPr lang="en-US" altLang="ko-KR" sz="1400" b="1" dirty="0">
                <a:latin typeface="맑은 고딕"/>
                <a:ea typeface="맑은 고딕"/>
              </a:rPr>
              <a:t>App</a:t>
            </a:r>
            <a:r>
              <a:rPr lang="ko-KR" altLang="en-US" sz="1400" b="1" dirty="0">
                <a:latin typeface="맑은 고딕"/>
                <a:ea typeface="맑은 고딕"/>
              </a:rPr>
              <a:t> 화면 수정요청</a:t>
            </a:r>
            <a:endParaRPr lang="en-US" altLang="ko-KR" sz="1400" b="1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634EAF2-FDF0-5BA9-F848-9258F44B3035}"/>
              </a:ext>
            </a:extLst>
          </p:cNvPr>
          <p:cNvSpPr txBox="1"/>
          <p:nvPr/>
        </p:nvSpPr>
        <p:spPr>
          <a:xfrm>
            <a:off x="191459" y="856742"/>
            <a:ext cx="20024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참조 로그인 화면</a:t>
            </a:r>
            <a:endParaRPr lang="en-US" altLang="ko-KR" sz="16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224A7D-840B-AF9E-927B-5C9FBE0CA652}"/>
              </a:ext>
            </a:extLst>
          </p:cNvPr>
          <p:cNvSpPr txBox="1"/>
          <p:nvPr/>
        </p:nvSpPr>
        <p:spPr>
          <a:xfrm>
            <a:off x="2283725" y="770287"/>
            <a:ext cx="4724370" cy="3803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>
                <a:solidFill>
                  <a:srgbClr val="FF0000"/>
                </a:solidFill>
                <a:highlight>
                  <a:srgbClr val="00FF00"/>
                </a:highlight>
                <a:sym typeface="Wingdings" panose="05000000000000000000" pitchFamily="2" charset="2"/>
              </a:rPr>
              <a:t>※</a:t>
            </a:r>
            <a:r>
              <a:rPr lang="ko-KR" altLang="en-US" sz="1400" b="1" dirty="0">
                <a:solidFill>
                  <a:srgbClr val="FF0000"/>
                </a:solidFill>
                <a:highlight>
                  <a:srgbClr val="00FF00"/>
                </a:highlight>
                <a:sym typeface="Wingdings" panose="05000000000000000000" pitchFamily="2" charset="2"/>
              </a:rPr>
              <a:t>로그인 순서 및 방법 참조 바랍니다</a:t>
            </a:r>
            <a:r>
              <a:rPr lang="en-US" altLang="ko-KR" sz="1400" b="1" dirty="0">
                <a:solidFill>
                  <a:srgbClr val="FF0000"/>
                </a:solidFill>
                <a:highlight>
                  <a:srgbClr val="00FF00"/>
                </a:highlight>
                <a:sym typeface="Wingdings" panose="05000000000000000000" pitchFamily="2" charset="2"/>
              </a:rPr>
              <a:t>. (</a:t>
            </a:r>
            <a:r>
              <a:rPr lang="ko-KR" altLang="en-US" sz="1400" b="1" dirty="0">
                <a:solidFill>
                  <a:srgbClr val="FF0000"/>
                </a:solidFill>
                <a:highlight>
                  <a:srgbClr val="00FF00"/>
                </a:highlight>
                <a:sym typeface="Wingdings" panose="05000000000000000000" pitchFamily="2" charset="2"/>
              </a:rPr>
              <a:t>참조 예시 입니다</a:t>
            </a:r>
            <a:r>
              <a:rPr lang="en-US" altLang="ko-KR" sz="1400" b="1" dirty="0">
                <a:solidFill>
                  <a:srgbClr val="FF0000"/>
                </a:solidFill>
                <a:highlight>
                  <a:srgbClr val="00FF00"/>
                </a:highlight>
                <a:sym typeface="Wingdings" panose="05000000000000000000" pitchFamily="2" charset="2"/>
              </a:rPr>
              <a:t>)※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1447FEC-BAD2-8821-F890-769726F51D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417" y="1495785"/>
            <a:ext cx="1986393" cy="43200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E68BF66-53D8-6825-CF78-1C391E339D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48395" y="1536122"/>
            <a:ext cx="1986393" cy="4320000"/>
          </a:xfrm>
          <a:prstGeom prst="rect">
            <a:avLst/>
          </a:prstGeom>
        </p:spPr>
      </p:pic>
      <p:sp>
        <p:nvSpPr>
          <p:cNvPr id="34" name="직사각형 33">
            <a:extLst>
              <a:ext uri="{FF2B5EF4-FFF2-40B4-BE49-F238E27FC236}">
                <a16:creationId xmlns:a16="http://schemas.microsoft.com/office/drawing/2014/main" id="{20DD8485-CB79-ED49-D7AD-662392EEAB30}"/>
              </a:ext>
            </a:extLst>
          </p:cNvPr>
          <p:cNvSpPr/>
          <p:nvPr/>
        </p:nvSpPr>
        <p:spPr>
          <a:xfrm>
            <a:off x="774973" y="2030834"/>
            <a:ext cx="863700" cy="2214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05CED60E-D22D-8D0B-2974-C557C5A183D4}"/>
              </a:ext>
            </a:extLst>
          </p:cNvPr>
          <p:cNvSpPr/>
          <p:nvPr/>
        </p:nvSpPr>
        <p:spPr>
          <a:xfrm>
            <a:off x="3093761" y="1920121"/>
            <a:ext cx="863700" cy="2214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992D5544-A66A-4044-976B-A22954827BB0}"/>
              </a:ext>
            </a:extLst>
          </p:cNvPr>
          <p:cNvSpPr/>
          <p:nvPr/>
        </p:nvSpPr>
        <p:spPr>
          <a:xfrm>
            <a:off x="5316493" y="2030834"/>
            <a:ext cx="863700" cy="2214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793B872C-3D74-D5B3-6C43-DE5861E247FF}"/>
              </a:ext>
            </a:extLst>
          </p:cNvPr>
          <p:cNvSpPr/>
          <p:nvPr/>
        </p:nvSpPr>
        <p:spPr>
          <a:xfrm>
            <a:off x="705490" y="2923207"/>
            <a:ext cx="863700" cy="2214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6A615904-4818-A322-484A-624A1663A5B6}"/>
              </a:ext>
            </a:extLst>
          </p:cNvPr>
          <p:cNvSpPr/>
          <p:nvPr/>
        </p:nvSpPr>
        <p:spPr>
          <a:xfrm>
            <a:off x="2707841" y="2675798"/>
            <a:ext cx="863700" cy="2214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A9D7372-A62B-5725-6E11-E1B7A5B9A743}"/>
              </a:ext>
            </a:extLst>
          </p:cNvPr>
          <p:cNvSpPr/>
          <p:nvPr/>
        </p:nvSpPr>
        <p:spPr>
          <a:xfrm>
            <a:off x="2707841" y="3318287"/>
            <a:ext cx="863700" cy="2214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09E28C55-1B12-C600-1106-273E91954BB1}"/>
              </a:ext>
            </a:extLst>
          </p:cNvPr>
          <p:cNvSpPr/>
          <p:nvPr/>
        </p:nvSpPr>
        <p:spPr>
          <a:xfrm>
            <a:off x="2730701" y="4571964"/>
            <a:ext cx="863700" cy="2214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9B281AFB-BABC-DEB8-DB52-8326ED31161D}"/>
              </a:ext>
            </a:extLst>
          </p:cNvPr>
          <p:cNvSpPr/>
          <p:nvPr/>
        </p:nvSpPr>
        <p:spPr>
          <a:xfrm>
            <a:off x="2730701" y="3953156"/>
            <a:ext cx="363060" cy="2214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8AE4C534-84BA-C879-62C2-DCA9C72276A8}"/>
              </a:ext>
            </a:extLst>
          </p:cNvPr>
          <p:cNvSpPr/>
          <p:nvPr/>
        </p:nvSpPr>
        <p:spPr>
          <a:xfrm>
            <a:off x="3315445" y="3960366"/>
            <a:ext cx="363060" cy="2214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216EE58C-C9B6-866E-BDA4-21309E5A48E9}"/>
              </a:ext>
            </a:extLst>
          </p:cNvPr>
          <p:cNvSpPr/>
          <p:nvPr/>
        </p:nvSpPr>
        <p:spPr>
          <a:xfrm>
            <a:off x="3900189" y="3960366"/>
            <a:ext cx="363060" cy="2214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5089C111-FF01-8417-3D83-DA7C0181B354}"/>
              </a:ext>
            </a:extLst>
          </p:cNvPr>
          <p:cNvSpPr/>
          <p:nvPr/>
        </p:nvSpPr>
        <p:spPr>
          <a:xfrm>
            <a:off x="5256464" y="2971164"/>
            <a:ext cx="481396" cy="2214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717D5A90-2F51-D16E-2028-87B246E8AB64}"/>
              </a:ext>
            </a:extLst>
          </p:cNvPr>
          <p:cNvSpPr/>
          <p:nvPr/>
        </p:nvSpPr>
        <p:spPr>
          <a:xfrm>
            <a:off x="5425035" y="3187004"/>
            <a:ext cx="320445" cy="2214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707E04AD-55E0-68C0-1516-B0AFFABFFF06}"/>
              </a:ext>
            </a:extLst>
          </p:cNvPr>
          <p:cNvSpPr/>
          <p:nvPr/>
        </p:nvSpPr>
        <p:spPr>
          <a:xfrm>
            <a:off x="3335549" y="1186798"/>
            <a:ext cx="517703" cy="509161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rgbClr val="FF0000"/>
                </a:solidFill>
              </a:rPr>
              <a:t>10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40A7E8DB-0EEA-7E6B-17B0-106DE5CD5476}"/>
              </a:ext>
            </a:extLst>
          </p:cNvPr>
          <p:cNvSpPr/>
          <p:nvPr/>
        </p:nvSpPr>
        <p:spPr>
          <a:xfrm>
            <a:off x="947971" y="1186199"/>
            <a:ext cx="517703" cy="509161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rgbClr val="FF0000"/>
                </a:solidFill>
              </a:rPr>
              <a:t>9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CBD17F7E-82F7-9BC0-1260-ADB73BBED803}"/>
              </a:ext>
            </a:extLst>
          </p:cNvPr>
          <p:cNvSpPr/>
          <p:nvPr/>
        </p:nvSpPr>
        <p:spPr>
          <a:xfrm>
            <a:off x="5608588" y="1195296"/>
            <a:ext cx="517703" cy="509161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rgbClr val="FF0000"/>
                </a:solidFill>
              </a:rPr>
              <a:t>11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5F387786-4752-A815-5C26-3ED7325783D9}"/>
              </a:ext>
            </a:extLst>
          </p:cNvPr>
          <p:cNvSpPr/>
          <p:nvPr/>
        </p:nvSpPr>
        <p:spPr>
          <a:xfrm>
            <a:off x="7836280" y="1195296"/>
            <a:ext cx="517703" cy="509161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rgbClr val="FF0000"/>
                </a:solidFill>
              </a:rPr>
              <a:t>12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5243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23098-EC00-C22B-2134-E5C94FA15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E76A6606-CAF4-56DC-E53E-273C72630F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8395" y="1529539"/>
            <a:ext cx="1986393" cy="4320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3BA1AA7-FF95-5465-E93E-0E77D97D61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1670" y="1529539"/>
            <a:ext cx="1986393" cy="4320000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65D4D280-41B4-B22A-192D-AADFDD7AE48F}"/>
              </a:ext>
            </a:extLst>
          </p:cNvPr>
          <p:cNvSpPr/>
          <p:nvPr/>
        </p:nvSpPr>
        <p:spPr>
          <a:xfrm>
            <a:off x="8523798" y="222637"/>
            <a:ext cx="1041621" cy="5883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8AEAD57-EB53-B2F4-6E5E-BD88A5E32594}"/>
              </a:ext>
            </a:extLst>
          </p:cNvPr>
          <p:cNvSpPr/>
          <p:nvPr/>
        </p:nvSpPr>
        <p:spPr>
          <a:xfrm>
            <a:off x="8523798" y="222637"/>
            <a:ext cx="1041621" cy="5883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ADAED43-360E-3B09-2D77-7184C20184B6}"/>
              </a:ext>
            </a:extLst>
          </p:cNvPr>
          <p:cNvSpPr/>
          <p:nvPr/>
        </p:nvSpPr>
        <p:spPr>
          <a:xfrm>
            <a:off x="7036905" y="6577971"/>
            <a:ext cx="2664000" cy="1334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EMPECS Medical Device Co., Ltd. All Rights reserved.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pic>
        <p:nvPicPr>
          <p:cNvPr id="22" name="Picture 2">
            <a:extLst>
              <a:ext uri="{FF2B5EF4-FFF2-40B4-BE49-F238E27FC236}">
                <a16:creationId xmlns:a16="http://schemas.microsoft.com/office/drawing/2014/main" id="{1FDEC069-C2BC-074E-8243-201BA0DC04E1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3798" y="157298"/>
            <a:ext cx="998995" cy="65373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A8166C4B-0A3E-D70B-A010-BEE8AD94F808}"/>
              </a:ext>
            </a:extLst>
          </p:cNvPr>
          <p:cNvSpPr txBox="1"/>
          <p:nvPr/>
        </p:nvSpPr>
        <p:spPr>
          <a:xfrm>
            <a:off x="191459" y="221907"/>
            <a:ext cx="9523081" cy="3738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latin typeface="맑은 고딕"/>
                <a:ea typeface="맑은 고딕"/>
              </a:rPr>
              <a:t>▣ </a:t>
            </a:r>
            <a:r>
              <a:rPr lang="en-US" altLang="ko-KR" sz="1400" b="1" dirty="0">
                <a:latin typeface="맑은 고딕"/>
                <a:ea typeface="맑은 고딕"/>
              </a:rPr>
              <a:t>App</a:t>
            </a:r>
            <a:r>
              <a:rPr lang="ko-KR" altLang="en-US" sz="1400" b="1" dirty="0">
                <a:latin typeface="맑은 고딕"/>
                <a:ea typeface="맑은 고딕"/>
              </a:rPr>
              <a:t> 화면 수정요청</a:t>
            </a:r>
            <a:endParaRPr lang="en-US" altLang="ko-KR" sz="1400" b="1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E77BCDF-0A83-E374-0930-CF56F6057F47}"/>
              </a:ext>
            </a:extLst>
          </p:cNvPr>
          <p:cNvSpPr txBox="1"/>
          <p:nvPr/>
        </p:nvSpPr>
        <p:spPr>
          <a:xfrm>
            <a:off x="191459" y="856742"/>
            <a:ext cx="20024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참조 로그인 화면</a:t>
            </a:r>
            <a:endParaRPr lang="en-US" altLang="ko-KR" sz="16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D30B47-216F-E323-EA0A-7559769717BA}"/>
              </a:ext>
            </a:extLst>
          </p:cNvPr>
          <p:cNvSpPr txBox="1"/>
          <p:nvPr/>
        </p:nvSpPr>
        <p:spPr>
          <a:xfrm>
            <a:off x="2283725" y="770287"/>
            <a:ext cx="4724370" cy="3803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>
                <a:solidFill>
                  <a:srgbClr val="FF0000"/>
                </a:solidFill>
                <a:highlight>
                  <a:srgbClr val="00FF00"/>
                </a:highlight>
                <a:sym typeface="Wingdings" panose="05000000000000000000" pitchFamily="2" charset="2"/>
              </a:rPr>
              <a:t>※</a:t>
            </a:r>
            <a:r>
              <a:rPr lang="ko-KR" altLang="en-US" sz="1400" b="1" dirty="0">
                <a:solidFill>
                  <a:srgbClr val="FF0000"/>
                </a:solidFill>
                <a:highlight>
                  <a:srgbClr val="00FF00"/>
                </a:highlight>
                <a:sym typeface="Wingdings" panose="05000000000000000000" pitchFamily="2" charset="2"/>
              </a:rPr>
              <a:t>로그인 순서 및 방법 참조 바랍니다</a:t>
            </a:r>
            <a:r>
              <a:rPr lang="en-US" altLang="ko-KR" sz="1400" b="1" dirty="0">
                <a:solidFill>
                  <a:srgbClr val="FF0000"/>
                </a:solidFill>
                <a:highlight>
                  <a:srgbClr val="00FF00"/>
                </a:highlight>
                <a:sym typeface="Wingdings" panose="05000000000000000000" pitchFamily="2" charset="2"/>
              </a:rPr>
              <a:t>. (</a:t>
            </a:r>
            <a:r>
              <a:rPr lang="ko-KR" altLang="en-US" sz="1400" b="1" dirty="0">
                <a:solidFill>
                  <a:srgbClr val="FF0000"/>
                </a:solidFill>
                <a:highlight>
                  <a:srgbClr val="00FF00"/>
                </a:highlight>
                <a:sym typeface="Wingdings" panose="05000000000000000000" pitchFamily="2" charset="2"/>
              </a:rPr>
              <a:t>참조 예시 입니다</a:t>
            </a:r>
            <a:r>
              <a:rPr lang="en-US" altLang="ko-KR" sz="1400" b="1" dirty="0">
                <a:solidFill>
                  <a:srgbClr val="FF0000"/>
                </a:solidFill>
                <a:highlight>
                  <a:srgbClr val="00FF00"/>
                </a:highlight>
                <a:sym typeface="Wingdings" panose="05000000000000000000" pitchFamily="2" charset="2"/>
              </a:rPr>
              <a:t>)※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B59015B-2197-160E-3A29-C3090611ED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417" y="1529539"/>
            <a:ext cx="1986393" cy="43200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7D1812B9-2DBC-B41E-7CE0-9230BF1A59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7297" y="1529539"/>
            <a:ext cx="1986393" cy="4320000"/>
          </a:xfrm>
          <a:prstGeom prst="rect">
            <a:avLst/>
          </a:prstGeom>
        </p:spPr>
      </p:pic>
      <p:sp>
        <p:nvSpPr>
          <p:cNvPr id="15" name="타원 14">
            <a:extLst>
              <a:ext uri="{FF2B5EF4-FFF2-40B4-BE49-F238E27FC236}">
                <a16:creationId xmlns:a16="http://schemas.microsoft.com/office/drawing/2014/main" id="{B74570C6-63F0-7A8A-ADB2-41B8E5629E74}"/>
              </a:ext>
            </a:extLst>
          </p:cNvPr>
          <p:cNvSpPr/>
          <p:nvPr/>
        </p:nvSpPr>
        <p:spPr>
          <a:xfrm>
            <a:off x="1004761" y="1274958"/>
            <a:ext cx="517703" cy="509161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rgbClr val="FF0000"/>
                </a:solidFill>
              </a:rPr>
              <a:t>13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F17A028-990E-B6DA-2683-5B0D990CF7C0}"/>
              </a:ext>
            </a:extLst>
          </p:cNvPr>
          <p:cNvSpPr/>
          <p:nvPr/>
        </p:nvSpPr>
        <p:spPr>
          <a:xfrm>
            <a:off x="822310" y="1927987"/>
            <a:ext cx="863700" cy="2214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2198BBC-82A6-0832-1EED-FF330EF475DA}"/>
              </a:ext>
            </a:extLst>
          </p:cNvPr>
          <p:cNvSpPr/>
          <p:nvPr/>
        </p:nvSpPr>
        <p:spPr>
          <a:xfrm>
            <a:off x="460872" y="2372942"/>
            <a:ext cx="863700" cy="2214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1189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26F54-B9ED-90C1-0270-3D1E1C98F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FDE7175D-E8CA-ECBF-5374-6218D2B97A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459" y="1342704"/>
            <a:ext cx="1986393" cy="4320000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692C2362-AC9B-7BF9-0E46-C2EBAE4A3E52}"/>
              </a:ext>
            </a:extLst>
          </p:cNvPr>
          <p:cNvSpPr/>
          <p:nvPr/>
        </p:nvSpPr>
        <p:spPr>
          <a:xfrm>
            <a:off x="8523798" y="222637"/>
            <a:ext cx="1041621" cy="5883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C9889FD-ED3E-A4B3-901D-C44F2C61F9B8}"/>
              </a:ext>
            </a:extLst>
          </p:cNvPr>
          <p:cNvSpPr/>
          <p:nvPr/>
        </p:nvSpPr>
        <p:spPr>
          <a:xfrm>
            <a:off x="8523798" y="222637"/>
            <a:ext cx="1041621" cy="5883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C06102A-20A6-426D-CD3F-AD81DE77EC8A}"/>
              </a:ext>
            </a:extLst>
          </p:cNvPr>
          <p:cNvSpPr/>
          <p:nvPr/>
        </p:nvSpPr>
        <p:spPr>
          <a:xfrm>
            <a:off x="7036905" y="6577971"/>
            <a:ext cx="2664000" cy="1334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EMPECS Medical Device Co., Ltd. All Rights reserved.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pic>
        <p:nvPicPr>
          <p:cNvPr id="22" name="Picture 2">
            <a:extLst>
              <a:ext uri="{FF2B5EF4-FFF2-40B4-BE49-F238E27FC236}">
                <a16:creationId xmlns:a16="http://schemas.microsoft.com/office/drawing/2014/main" id="{333AB535-211F-B331-C30D-60EFB95DB78F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3798" y="157298"/>
            <a:ext cx="998995" cy="65373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FE6542B4-D2D8-DD10-6720-FD6EA5FE7009}"/>
              </a:ext>
            </a:extLst>
          </p:cNvPr>
          <p:cNvSpPr txBox="1"/>
          <p:nvPr/>
        </p:nvSpPr>
        <p:spPr>
          <a:xfrm>
            <a:off x="191459" y="221907"/>
            <a:ext cx="9523081" cy="3738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latin typeface="맑은 고딕"/>
                <a:ea typeface="맑은 고딕"/>
              </a:rPr>
              <a:t>▣ </a:t>
            </a:r>
            <a:r>
              <a:rPr lang="en-US" altLang="ko-KR" sz="1400" b="1" dirty="0">
                <a:latin typeface="맑은 고딕"/>
                <a:ea typeface="맑은 고딕"/>
              </a:rPr>
              <a:t>App</a:t>
            </a:r>
            <a:r>
              <a:rPr lang="ko-KR" altLang="en-US" sz="1400" b="1" dirty="0">
                <a:latin typeface="맑은 고딕"/>
                <a:ea typeface="맑은 고딕"/>
              </a:rPr>
              <a:t> 화면 수정요청</a:t>
            </a:r>
            <a:endParaRPr lang="en-US" altLang="ko-KR" sz="1400" b="1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8DCA004-947D-6DE4-B1D7-949F4BB9BA11}"/>
              </a:ext>
            </a:extLst>
          </p:cNvPr>
          <p:cNvSpPr txBox="1"/>
          <p:nvPr/>
        </p:nvSpPr>
        <p:spPr>
          <a:xfrm>
            <a:off x="191459" y="856742"/>
            <a:ext cx="20024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참조 로그인 화면</a:t>
            </a:r>
            <a:endParaRPr lang="en-US" altLang="ko-KR" sz="16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7244D1-32F6-E55B-9EC0-49564D7CF78F}"/>
              </a:ext>
            </a:extLst>
          </p:cNvPr>
          <p:cNvSpPr txBox="1"/>
          <p:nvPr/>
        </p:nvSpPr>
        <p:spPr>
          <a:xfrm>
            <a:off x="2283725" y="770287"/>
            <a:ext cx="4724370" cy="3803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>
                <a:solidFill>
                  <a:srgbClr val="FF0000"/>
                </a:solidFill>
                <a:sym typeface="Wingdings" panose="05000000000000000000" pitchFamily="2" charset="2"/>
              </a:rPr>
              <a:t>※</a:t>
            </a:r>
            <a:r>
              <a:rPr lang="ko-KR" altLang="en-US" sz="1400" b="1" dirty="0">
                <a:solidFill>
                  <a:srgbClr val="FF0000"/>
                </a:solidFill>
                <a:sym typeface="Wingdings" panose="05000000000000000000" pitchFamily="2" charset="2"/>
              </a:rPr>
              <a:t>로그인 순서 및 방법 참조 바랍니다</a:t>
            </a:r>
            <a:r>
              <a:rPr lang="en-US" altLang="ko-KR" sz="1400" b="1" dirty="0">
                <a:solidFill>
                  <a:srgbClr val="FF0000"/>
                </a:solidFill>
                <a:sym typeface="Wingdings" panose="05000000000000000000" pitchFamily="2" charset="2"/>
              </a:rPr>
              <a:t>. (</a:t>
            </a:r>
            <a:r>
              <a:rPr lang="ko-KR" altLang="en-US" sz="1400" b="1" dirty="0">
                <a:solidFill>
                  <a:srgbClr val="FF0000"/>
                </a:solidFill>
                <a:sym typeface="Wingdings" panose="05000000000000000000" pitchFamily="2" charset="2"/>
              </a:rPr>
              <a:t>참조 예시 입니다</a:t>
            </a:r>
            <a:r>
              <a:rPr lang="en-US" altLang="ko-KR" sz="1400" b="1" dirty="0">
                <a:solidFill>
                  <a:srgbClr val="FF0000"/>
                </a:solidFill>
                <a:sym typeface="Wingdings" panose="05000000000000000000" pitchFamily="2" charset="2"/>
              </a:rPr>
              <a:t>)※</a:t>
            </a: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8B876179-4E38-3E51-1871-DDE70057E70D}"/>
              </a:ext>
            </a:extLst>
          </p:cNvPr>
          <p:cNvSpPr/>
          <p:nvPr/>
        </p:nvSpPr>
        <p:spPr>
          <a:xfrm>
            <a:off x="933842" y="1195296"/>
            <a:ext cx="517703" cy="509161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rgbClr val="FF0000"/>
                </a:solidFill>
              </a:rPr>
              <a:t>11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2257514-42C9-5875-5E4F-0EE1021245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8866" y="1342704"/>
            <a:ext cx="1986393" cy="4320000"/>
          </a:xfrm>
          <a:prstGeom prst="rect">
            <a:avLst/>
          </a:prstGeom>
        </p:spPr>
      </p:pic>
      <p:sp>
        <p:nvSpPr>
          <p:cNvPr id="11" name="타원 10">
            <a:extLst>
              <a:ext uri="{FF2B5EF4-FFF2-40B4-BE49-F238E27FC236}">
                <a16:creationId xmlns:a16="http://schemas.microsoft.com/office/drawing/2014/main" id="{AE830D72-38AB-CA71-17C0-29402B53B367}"/>
              </a:ext>
            </a:extLst>
          </p:cNvPr>
          <p:cNvSpPr/>
          <p:nvPr/>
        </p:nvSpPr>
        <p:spPr>
          <a:xfrm>
            <a:off x="3083210" y="1195295"/>
            <a:ext cx="517703" cy="509161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rgbClr val="FF0000"/>
                </a:solidFill>
              </a:rPr>
              <a:t>12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D070DCC-A8A9-83FA-D5B6-D98EC12758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6271" y="1342704"/>
            <a:ext cx="1986393" cy="4320000"/>
          </a:xfrm>
          <a:prstGeom prst="rect">
            <a:avLst/>
          </a:prstGeom>
        </p:spPr>
      </p:pic>
      <p:sp>
        <p:nvSpPr>
          <p:cNvPr id="15" name="타원 14">
            <a:extLst>
              <a:ext uri="{FF2B5EF4-FFF2-40B4-BE49-F238E27FC236}">
                <a16:creationId xmlns:a16="http://schemas.microsoft.com/office/drawing/2014/main" id="{777F9666-DC51-6917-7EC6-917545F6389F}"/>
              </a:ext>
            </a:extLst>
          </p:cNvPr>
          <p:cNvSpPr/>
          <p:nvPr/>
        </p:nvSpPr>
        <p:spPr>
          <a:xfrm>
            <a:off x="5240615" y="1195294"/>
            <a:ext cx="517703" cy="509161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rgbClr val="FF0000"/>
                </a:solidFill>
              </a:rPr>
              <a:t>13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BA7DF0CC-E6EE-6F77-BA73-F77A28217F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3674" y="1195294"/>
            <a:ext cx="1986393" cy="4320000"/>
          </a:xfrm>
          <a:prstGeom prst="rect">
            <a:avLst/>
          </a:prstGeom>
        </p:spPr>
      </p:pic>
      <p:sp>
        <p:nvSpPr>
          <p:cNvPr id="24" name="타원 23">
            <a:extLst>
              <a:ext uri="{FF2B5EF4-FFF2-40B4-BE49-F238E27FC236}">
                <a16:creationId xmlns:a16="http://schemas.microsoft.com/office/drawing/2014/main" id="{42C85EA0-1A84-A42A-21ED-D97C9A15ED1E}"/>
              </a:ext>
            </a:extLst>
          </p:cNvPr>
          <p:cNvSpPr/>
          <p:nvPr/>
        </p:nvSpPr>
        <p:spPr>
          <a:xfrm>
            <a:off x="7398018" y="980053"/>
            <a:ext cx="517703" cy="509161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rgbClr val="FF0000"/>
                </a:solidFill>
              </a:rPr>
              <a:t>14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56852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E0786-28CC-3C9F-3029-8500CAFB9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99CC452F-BAC8-73D1-E18C-922E20989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635" y="1236130"/>
            <a:ext cx="2696012" cy="5172501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B2A32F7C-D5D1-3113-60B2-2C6A7D85725F}"/>
              </a:ext>
            </a:extLst>
          </p:cNvPr>
          <p:cNvSpPr/>
          <p:nvPr/>
        </p:nvSpPr>
        <p:spPr>
          <a:xfrm>
            <a:off x="8523798" y="222637"/>
            <a:ext cx="1041621" cy="5883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73EC72C-4F48-D6C5-8D7B-0DBAF4467D49}"/>
              </a:ext>
            </a:extLst>
          </p:cNvPr>
          <p:cNvSpPr/>
          <p:nvPr/>
        </p:nvSpPr>
        <p:spPr>
          <a:xfrm>
            <a:off x="8523798" y="222637"/>
            <a:ext cx="1041621" cy="5883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C50B1AF-CBFA-8AB9-A98F-B5F88FC9DAFA}"/>
              </a:ext>
            </a:extLst>
          </p:cNvPr>
          <p:cNvSpPr/>
          <p:nvPr/>
        </p:nvSpPr>
        <p:spPr>
          <a:xfrm>
            <a:off x="7036905" y="6577971"/>
            <a:ext cx="2664000" cy="1334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EMPECS Medical Device Co., Ltd. All Rights reserved.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pic>
        <p:nvPicPr>
          <p:cNvPr id="22" name="Picture 2">
            <a:extLst>
              <a:ext uri="{FF2B5EF4-FFF2-40B4-BE49-F238E27FC236}">
                <a16:creationId xmlns:a16="http://schemas.microsoft.com/office/drawing/2014/main" id="{790CCB84-4330-6531-8E4A-E18A1D4B0EA4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3798" y="157298"/>
            <a:ext cx="998995" cy="65373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77D49E93-08A2-C4F5-3333-5044219A01DA}"/>
              </a:ext>
            </a:extLst>
          </p:cNvPr>
          <p:cNvSpPr txBox="1"/>
          <p:nvPr/>
        </p:nvSpPr>
        <p:spPr>
          <a:xfrm>
            <a:off x="191459" y="221907"/>
            <a:ext cx="9523081" cy="3738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latin typeface="맑은 고딕"/>
                <a:ea typeface="맑은 고딕"/>
              </a:rPr>
              <a:t>▣ </a:t>
            </a:r>
            <a:r>
              <a:rPr lang="en-US" altLang="ko-KR" sz="1400" b="1" dirty="0">
                <a:latin typeface="맑은 고딕"/>
                <a:ea typeface="맑은 고딕"/>
              </a:rPr>
              <a:t>App</a:t>
            </a:r>
            <a:r>
              <a:rPr lang="ko-KR" altLang="en-US" sz="1400" b="1" dirty="0">
                <a:latin typeface="맑은 고딕"/>
                <a:ea typeface="맑은 고딕"/>
              </a:rPr>
              <a:t> 화면 수정요청</a:t>
            </a:r>
            <a:endParaRPr lang="en-US" altLang="ko-KR" sz="1400" b="1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06E7841-CBAC-2A47-4CF7-27648B0062D2}"/>
              </a:ext>
            </a:extLst>
          </p:cNvPr>
          <p:cNvSpPr txBox="1"/>
          <p:nvPr/>
        </p:nvSpPr>
        <p:spPr>
          <a:xfrm>
            <a:off x="191459" y="856742"/>
            <a:ext cx="22025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메인 화면 </a:t>
            </a:r>
            <a:r>
              <a:rPr lang="en-US" altLang="ko-KR" sz="1600" b="1" dirty="0"/>
              <a:t>(01)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B41B64E-236E-7ACB-FBF7-DA2ABE8F2F05}"/>
              </a:ext>
            </a:extLst>
          </p:cNvPr>
          <p:cNvSpPr txBox="1"/>
          <p:nvPr/>
        </p:nvSpPr>
        <p:spPr>
          <a:xfrm>
            <a:off x="3526723" y="1174783"/>
            <a:ext cx="5888958" cy="4583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>
                <a:sym typeface="Wingdings" panose="05000000000000000000" pitchFamily="2" charset="2"/>
              </a:rPr>
              <a:t>1. </a:t>
            </a:r>
            <a:r>
              <a:rPr lang="ko-KR" altLang="en-US" sz="1400" b="1" dirty="0" err="1">
                <a:sym typeface="Wingdings" panose="05000000000000000000" pitchFamily="2" charset="2"/>
              </a:rPr>
              <a:t>데시보드</a:t>
            </a:r>
            <a:r>
              <a:rPr lang="ko-KR" altLang="en-US" sz="1400" b="1" dirty="0">
                <a:sym typeface="Wingdings" panose="05000000000000000000" pitchFamily="2" charset="2"/>
              </a:rPr>
              <a:t> 관련</a:t>
            </a:r>
            <a:endParaRPr lang="en-US" altLang="ko-KR" sz="1400" b="1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1-1. </a:t>
            </a:r>
            <a:r>
              <a:rPr lang="ko-KR" altLang="en-US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동그라미 모양을 </a:t>
            </a:r>
            <a:r>
              <a:rPr lang="ko-KR" altLang="en-US" sz="1400" b="1" dirty="0" err="1">
                <a:highlight>
                  <a:srgbClr val="00FF00"/>
                </a:highlight>
                <a:sym typeface="Wingdings" panose="05000000000000000000" pitchFamily="2" charset="2"/>
              </a:rPr>
              <a:t>둥근삼각모양으로</a:t>
            </a:r>
            <a:r>
              <a:rPr lang="ko-KR" altLang="en-US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 변경</a:t>
            </a:r>
            <a:r>
              <a:rPr lang="en-US" altLang="ko-KR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(</a:t>
            </a:r>
            <a:r>
              <a:rPr lang="ko-KR" altLang="en-US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당사 센서 디자인 적용</a:t>
            </a:r>
            <a:r>
              <a:rPr lang="en-US" altLang="ko-KR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1400" b="1" dirty="0">
                <a:sym typeface="Wingdings" panose="05000000000000000000" pitchFamily="2" charset="2"/>
              </a:rPr>
              <a:t>  </a:t>
            </a:r>
            <a:endParaRPr lang="en-US" altLang="ko-KR" sz="1400" b="1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endParaRPr lang="en-US" altLang="ko-KR" sz="1400" b="1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sym typeface="Wingdings" panose="05000000000000000000" pitchFamily="2" charset="2"/>
              </a:rPr>
              <a:t>                                                                                           (</a:t>
            </a:r>
            <a:r>
              <a:rPr lang="ko-KR" altLang="en-US" sz="1400" b="1" dirty="0">
                <a:sym typeface="Wingdings" panose="05000000000000000000" pitchFamily="2" charset="2"/>
              </a:rPr>
              <a:t>예시</a:t>
            </a:r>
            <a:r>
              <a:rPr lang="en-US" altLang="ko-KR" sz="1400" b="1" dirty="0">
                <a:sym typeface="Wingdings" panose="05000000000000000000" pitchFamily="2" charset="2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1-2. </a:t>
            </a:r>
            <a:r>
              <a:rPr lang="ko-KR" altLang="en-US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중앙의 색상 </a:t>
            </a:r>
            <a:r>
              <a:rPr lang="ko-KR" altLang="en-US" sz="1400" b="1" dirty="0" err="1">
                <a:highlight>
                  <a:srgbClr val="00FF00"/>
                </a:highlight>
                <a:sym typeface="Wingdings" panose="05000000000000000000" pitchFamily="2" charset="2"/>
              </a:rPr>
              <a:t>그라디에이션을</a:t>
            </a:r>
            <a:r>
              <a:rPr lang="ko-KR" altLang="en-US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 제거하고 </a:t>
            </a:r>
            <a:r>
              <a:rPr lang="en-US" altLang="ko-KR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flashing</a:t>
            </a:r>
            <a:r>
              <a:rPr lang="ko-KR" altLang="en-US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은 유지 </a:t>
            </a:r>
            <a:endParaRPr lang="en-US" altLang="ko-KR" sz="1400" b="1" dirty="0">
              <a:highlight>
                <a:srgbClr val="00FF00"/>
              </a:highlight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1-3. </a:t>
            </a:r>
            <a:r>
              <a:rPr lang="ko-KR" altLang="en-US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상승</a:t>
            </a:r>
            <a:r>
              <a:rPr lang="en-US" altLang="ko-KR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, </a:t>
            </a:r>
            <a:r>
              <a:rPr lang="ko-KR" altLang="en-US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하강</a:t>
            </a:r>
            <a:r>
              <a:rPr lang="en-US" altLang="ko-KR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, </a:t>
            </a:r>
            <a:r>
              <a:rPr lang="ko-KR" altLang="en-US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유지 표현의 화살표 사이즈 키움 </a:t>
            </a:r>
            <a:r>
              <a:rPr lang="en-US" altLang="ko-KR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(</a:t>
            </a:r>
            <a:r>
              <a:rPr lang="ko-KR" altLang="en-US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숫자크기와 유사</a:t>
            </a:r>
            <a:r>
              <a:rPr lang="en-US" altLang="ko-KR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         </a:t>
            </a:r>
            <a:r>
              <a:rPr lang="ko-KR" altLang="en-US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그리고 단위</a:t>
            </a:r>
            <a:r>
              <a:rPr lang="en-US" altLang="ko-KR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(mg/dL </a:t>
            </a:r>
            <a:r>
              <a:rPr lang="ko-KR" altLang="en-US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또는 </a:t>
            </a:r>
            <a:r>
              <a:rPr lang="en-US" altLang="ko-KR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mmol/L)</a:t>
            </a:r>
            <a:r>
              <a:rPr lang="ko-KR" altLang="en-US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가 표시되어야 함</a:t>
            </a:r>
            <a:r>
              <a:rPr lang="en-US" altLang="ko-KR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400" b="1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sym typeface="Wingdings" panose="05000000000000000000" pitchFamily="2" charset="2"/>
              </a:rPr>
              <a:t>                                                             (</a:t>
            </a:r>
            <a:r>
              <a:rPr lang="ko-KR" altLang="en-US" sz="1400" b="1" dirty="0">
                <a:sym typeface="Wingdings" panose="05000000000000000000" pitchFamily="2" charset="2"/>
              </a:rPr>
              <a:t>예시</a:t>
            </a:r>
            <a:r>
              <a:rPr lang="en-US" altLang="ko-KR" sz="1400" b="1" dirty="0">
                <a:sym typeface="Wingdings" panose="05000000000000000000" pitchFamily="2" charset="2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sym typeface="Wingdings" panose="05000000000000000000" pitchFamily="2" charset="2"/>
              </a:rPr>
              <a:t>                                                           </a:t>
            </a:r>
          </a:p>
          <a:p>
            <a:pPr>
              <a:lnSpc>
                <a:spcPct val="150000"/>
              </a:lnSpc>
            </a:pPr>
            <a:endParaRPr lang="en-US" altLang="ko-KR" sz="1400" b="1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endParaRPr lang="en-US" altLang="ko-KR" sz="1400" b="1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endParaRPr lang="en-US" altLang="ko-KR" sz="1400" b="1" dirty="0">
              <a:sym typeface="Wingdings" panose="05000000000000000000" pitchFamily="2" charset="2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61174B2F-B8A7-CD89-29DB-6175E79178FB}"/>
              </a:ext>
            </a:extLst>
          </p:cNvPr>
          <p:cNvSpPr/>
          <p:nvPr/>
        </p:nvSpPr>
        <p:spPr>
          <a:xfrm>
            <a:off x="405635" y="1195295"/>
            <a:ext cx="2766319" cy="1592343"/>
          </a:xfrm>
          <a:prstGeom prst="roundRect">
            <a:avLst>
              <a:gd name="adj" fmla="val 6984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511FC34-F2C0-A4DA-F2CF-415ADB069235}"/>
              </a:ext>
            </a:extLst>
          </p:cNvPr>
          <p:cNvSpPr txBox="1"/>
          <p:nvPr/>
        </p:nvSpPr>
        <p:spPr>
          <a:xfrm>
            <a:off x="2201157" y="1530140"/>
            <a:ext cx="4354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1-1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E760511D-2475-5331-A5A4-E43B677902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3609" y="1969940"/>
            <a:ext cx="979390" cy="817698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18FCB574-AF4D-4BA9-8FAF-8697E34A00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8906" y="1969940"/>
            <a:ext cx="824991" cy="817940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E5B04615-553F-7363-ACFA-7EBAD83C70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66" y="1969940"/>
            <a:ext cx="895327" cy="817698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D2F10E05-7517-71F4-9DB4-CD4928C48E7D}"/>
              </a:ext>
            </a:extLst>
          </p:cNvPr>
          <p:cNvSpPr txBox="1"/>
          <p:nvPr/>
        </p:nvSpPr>
        <p:spPr>
          <a:xfrm>
            <a:off x="2483659" y="1832584"/>
            <a:ext cx="4354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1-2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038B260-D4C4-CF0C-44D9-1773E0BA81E4}"/>
              </a:ext>
            </a:extLst>
          </p:cNvPr>
          <p:cNvSpPr txBox="1"/>
          <p:nvPr/>
        </p:nvSpPr>
        <p:spPr>
          <a:xfrm>
            <a:off x="762207" y="1963389"/>
            <a:ext cx="4354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1-3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7421DD29-82D0-B404-181B-7994281356A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73609" y="3903979"/>
            <a:ext cx="1089685" cy="683362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B3F8F898-52B5-6FDC-A1D6-5791984B1D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45202" y="3903979"/>
            <a:ext cx="529955" cy="683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112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94D29-8F03-36E8-61F9-6B1BA2642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B2071D4C-0F53-425C-CEDE-3A2FD7993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635" y="1236130"/>
            <a:ext cx="2696012" cy="5172501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232A2770-011C-DBC1-E1B5-E0A9AA10F462}"/>
              </a:ext>
            </a:extLst>
          </p:cNvPr>
          <p:cNvSpPr/>
          <p:nvPr/>
        </p:nvSpPr>
        <p:spPr>
          <a:xfrm>
            <a:off x="8523798" y="222637"/>
            <a:ext cx="1041621" cy="5883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9FE53F7-89EB-DA8A-F721-3DD4FC18735F}"/>
              </a:ext>
            </a:extLst>
          </p:cNvPr>
          <p:cNvSpPr/>
          <p:nvPr/>
        </p:nvSpPr>
        <p:spPr>
          <a:xfrm>
            <a:off x="8523798" y="222637"/>
            <a:ext cx="1041621" cy="5883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14D4774-1694-A0C6-D2E7-0ED1EACAD769}"/>
              </a:ext>
            </a:extLst>
          </p:cNvPr>
          <p:cNvSpPr/>
          <p:nvPr/>
        </p:nvSpPr>
        <p:spPr>
          <a:xfrm>
            <a:off x="7036905" y="6577971"/>
            <a:ext cx="2664000" cy="1334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EMPECS Medical Device Co., Ltd. All Rights reserved.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pic>
        <p:nvPicPr>
          <p:cNvPr id="22" name="Picture 2">
            <a:extLst>
              <a:ext uri="{FF2B5EF4-FFF2-40B4-BE49-F238E27FC236}">
                <a16:creationId xmlns:a16="http://schemas.microsoft.com/office/drawing/2014/main" id="{490C3F1D-92F1-A58D-B8EB-0CF3D1EAE6ED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3798" y="157298"/>
            <a:ext cx="998995" cy="65373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15862E1B-F532-EF3C-3725-8988489BA472}"/>
              </a:ext>
            </a:extLst>
          </p:cNvPr>
          <p:cNvSpPr txBox="1"/>
          <p:nvPr/>
        </p:nvSpPr>
        <p:spPr>
          <a:xfrm>
            <a:off x="191459" y="221907"/>
            <a:ext cx="9523081" cy="3738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latin typeface="맑은 고딕"/>
                <a:ea typeface="맑은 고딕"/>
              </a:rPr>
              <a:t>▣ </a:t>
            </a:r>
            <a:r>
              <a:rPr lang="en-US" altLang="ko-KR" sz="1400" b="1" dirty="0">
                <a:latin typeface="맑은 고딕"/>
                <a:ea typeface="맑은 고딕"/>
              </a:rPr>
              <a:t>App</a:t>
            </a:r>
            <a:r>
              <a:rPr lang="ko-KR" altLang="en-US" sz="1400" b="1" dirty="0">
                <a:latin typeface="맑은 고딕"/>
                <a:ea typeface="맑은 고딕"/>
              </a:rPr>
              <a:t> 화면 수정요청</a:t>
            </a:r>
            <a:endParaRPr lang="en-US" altLang="ko-KR" sz="1400" b="1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979535A-D09D-A54C-AE98-D6FC71E422A1}"/>
              </a:ext>
            </a:extLst>
          </p:cNvPr>
          <p:cNvSpPr txBox="1"/>
          <p:nvPr/>
        </p:nvSpPr>
        <p:spPr>
          <a:xfrm>
            <a:off x="191459" y="856742"/>
            <a:ext cx="22025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메인 화면 </a:t>
            </a:r>
            <a:r>
              <a:rPr lang="en-US" altLang="ko-KR" sz="1600" b="1" dirty="0"/>
              <a:t>(02)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51672F8-FF83-5BC9-C2B3-6DD2ECF14212}"/>
              </a:ext>
            </a:extLst>
          </p:cNvPr>
          <p:cNvSpPr txBox="1"/>
          <p:nvPr/>
        </p:nvSpPr>
        <p:spPr>
          <a:xfrm>
            <a:off x="3520638" y="887146"/>
            <a:ext cx="5888958" cy="5229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>
                <a:sym typeface="Wingdings" panose="05000000000000000000" pitchFamily="2" charset="2"/>
              </a:rPr>
              <a:t>2. </a:t>
            </a:r>
            <a:r>
              <a:rPr lang="ko-KR" altLang="en-US" sz="1400" b="1" dirty="0">
                <a:sym typeface="Wingdings" panose="05000000000000000000" pitchFamily="2" charset="2"/>
              </a:rPr>
              <a:t>그래프 관련</a:t>
            </a:r>
            <a:endParaRPr lang="en-US" altLang="ko-KR" sz="1400" b="1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2-1. Y</a:t>
            </a:r>
            <a:r>
              <a:rPr lang="ko-KR" altLang="en-US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축에 아이콘 들어가지 않도록 배치</a:t>
            </a:r>
            <a:r>
              <a:rPr lang="en-US" altLang="ko-KR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(</a:t>
            </a:r>
            <a:r>
              <a:rPr lang="ko-KR" altLang="en-US" sz="1400" b="1" dirty="0" err="1">
                <a:highlight>
                  <a:srgbClr val="00FF00"/>
                </a:highlight>
                <a:sym typeface="Wingdings" panose="05000000000000000000" pitchFamily="2" charset="2"/>
              </a:rPr>
              <a:t>그패프</a:t>
            </a:r>
            <a:r>
              <a:rPr lang="ko-KR" altLang="en-US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 안쪽으로 배치</a:t>
            </a:r>
            <a:r>
              <a:rPr lang="en-US" altLang="ko-KR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2-2. Y</a:t>
            </a:r>
            <a:r>
              <a:rPr lang="ko-KR" altLang="en-US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축과 그래프 간격 너무 넓음</a:t>
            </a:r>
            <a:endParaRPr lang="en-US" altLang="ko-KR" sz="1400" b="1" dirty="0">
              <a:highlight>
                <a:srgbClr val="00FF00"/>
              </a:highlight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2-3. </a:t>
            </a:r>
            <a:r>
              <a:rPr lang="ko-KR" altLang="en-US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아이콘을 터치하면 </a:t>
            </a:r>
            <a:r>
              <a:rPr lang="en-US" altLang="ko-KR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(</a:t>
            </a:r>
            <a:r>
              <a:rPr lang="ko-KR" altLang="en-US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생성된</a:t>
            </a:r>
            <a:r>
              <a:rPr lang="en-US" altLang="ko-KR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) </a:t>
            </a:r>
            <a:r>
              <a:rPr lang="ko-KR" altLang="en-US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세로선 최상단에 데이터 및 </a:t>
            </a:r>
            <a:r>
              <a:rPr lang="ko-KR" altLang="en-US" sz="1400" b="1" dirty="0" err="1">
                <a:highlight>
                  <a:srgbClr val="00FF00"/>
                </a:highlight>
                <a:sym typeface="Wingdings" panose="05000000000000000000" pitchFamily="2" charset="2"/>
              </a:rPr>
              <a:t>날자표시</a:t>
            </a:r>
            <a:endParaRPr lang="en-US" altLang="ko-KR" sz="1400" b="1" dirty="0">
              <a:highlight>
                <a:srgbClr val="00FF00"/>
              </a:highlight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endParaRPr lang="en-US" altLang="ko-KR" sz="1400" b="1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endParaRPr lang="en-US" altLang="ko-KR" sz="1400" b="1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endParaRPr lang="en-US" altLang="ko-KR" sz="1400" b="1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sym typeface="Wingdings" panose="05000000000000000000" pitchFamily="2" charset="2"/>
              </a:rPr>
              <a:t>                                                                                                         (</a:t>
            </a:r>
            <a:r>
              <a:rPr lang="ko-KR" altLang="en-US" sz="1400" b="1" dirty="0">
                <a:sym typeface="Wingdings" panose="05000000000000000000" pitchFamily="2" charset="2"/>
              </a:rPr>
              <a:t>예시</a:t>
            </a:r>
            <a:r>
              <a:rPr lang="en-US" altLang="ko-KR" sz="1400" b="1" dirty="0">
                <a:sym typeface="Wingdings" panose="05000000000000000000" pitchFamily="2" charset="2"/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ko-KR" sz="1400" b="1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2-4. X</a:t>
            </a:r>
            <a:r>
              <a:rPr lang="ko-KR" altLang="en-US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축 </a:t>
            </a:r>
            <a:r>
              <a:rPr lang="en-US" altLang="ko-KR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(24</a:t>
            </a:r>
            <a:r>
              <a:rPr lang="ko-KR" altLang="en-US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시 표시할 때</a:t>
            </a:r>
            <a:r>
              <a:rPr lang="en-US" altLang="ko-KR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)</a:t>
            </a:r>
            <a:r>
              <a:rPr lang="ko-KR" altLang="en-US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 시간  </a:t>
            </a:r>
            <a:r>
              <a:rPr lang="en-US" altLang="ko-KR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overlay </a:t>
            </a:r>
            <a:r>
              <a:rPr lang="ko-KR" altLang="en-US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되지 않도록 조정 </a:t>
            </a:r>
            <a:r>
              <a:rPr lang="en-US" altLang="ko-KR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 3</a:t>
            </a:r>
            <a:r>
              <a:rPr lang="ko-KR" altLang="en-US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시간간격</a:t>
            </a:r>
            <a:endParaRPr lang="en-US" altLang="ko-KR" sz="1400" b="1" dirty="0">
              <a:highlight>
                <a:srgbClr val="00FF00"/>
              </a:highlight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2-5. </a:t>
            </a:r>
            <a:r>
              <a:rPr lang="ko-KR" altLang="en-US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고혈당</a:t>
            </a:r>
            <a:r>
              <a:rPr lang="en-US" altLang="ko-KR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, </a:t>
            </a:r>
            <a:r>
              <a:rPr lang="ko-KR" altLang="en-US" sz="1400" b="1" dirty="0" err="1">
                <a:highlight>
                  <a:srgbClr val="00FF00"/>
                </a:highlight>
                <a:sym typeface="Wingdings" panose="05000000000000000000" pitchFamily="2" charset="2"/>
              </a:rPr>
              <a:t>저혈당</a:t>
            </a:r>
            <a:r>
              <a:rPr lang="en-US" altLang="ko-KR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,</a:t>
            </a:r>
            <a:r>
              <a:rPr lang="ko-KR" altLang="en-US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 목표범위 라인을 빼고 색상 </a:t>
            </a:r>
            <a:r>
              <a:rPr lang="ko-KR" altLang="en-US" sz="1400" b="1" dirty="0" err="1">
                <a:highlight>
                  <a:srgbClr val="00FF00"/>
                </a:highlight>
                <a:sym typeface="Wingdings" panose="05000000000000000000" pitchFamily="2" charset="2"/>
              </a:rPr>
              <a:t>블럭으로</a:t>
            </a:r>
            <a:r>
              <a:rPr lang="ko-KR" altLang="en-US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 표현 </a:t>
            </a:r>
            <a:endParaRPr lang="en-US" altLang="ko-KR" sz="1400" b="1" dirty="0">
              <a:highlight>
                <a:srgbClr val="00FF00"/>
              </a:highlight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sym typeface="Wingdings" panose="05000000000000000000" pitchFamily="2" charset="2"/>
              </a:rPr>
              <a:t>                                                                      </a:t>
            </a:r>
            <a:r>
              <a:rPr lang="ko-KR" altLang="en-US" sz="1400" b="1" dirty="0">
                <a:sym typeface="Wingdings" panose="05000000000000000000" pitchFamily="2" charset="2"/>
              </a:rPr>
              <a:t> </a:t>
            </a:r>
            <a:endParaRPr lang="en-US" altLang="ko-KR" sz="1400" b="1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sym typeface="Wingdings" panose="05000000000000000000" pitchFamily="2" charset="2"/>
              </a:rPr>
              <a:t>                                                               </a:t>
            </a: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sym typeface="Wingdings" panose="05000000000000000000" pitchFamily="2" charset="2"/>
              </a:rPr>
              <a:t>  </a:t>
            </a:r>
          </a:p>
          <a:p>
            <a:pPr>
              <a:lnSpc>
                <a:spcPct val="150000"/>
              </a:lnSpc>
            </a:pPr>
            <a:endParaRPr lang="en-US" altLang="ko-KR" sz="1400" b="1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sym typeface="Wingdings" panose="05000000000000000000" pitchFamily="2" charset="2"/>
              </a:rPr>
              <a:t>                                                                 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CE81EBE-5686-E9AD-E483-A66BE848CA9C}"/>
              </a:ext>
            </a:extLst>
          </p:cNvPr>
          <p:cNvSpPr/>
          <p:nvPr/>
        </p:nvSpPr>
        <p:spPr>
          <a:xfrm>
            <a:off x="308445" y="2769326"/>
            <a:ext cx="2883030" cy="1872343"/>
          </a:xfrm>
          <a:prstGeom prst="roundRect">
            <a:avLst>
              <a:gd name="adj" fmla="val 6984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24BA95-C236-62D6-C245-338599CF2266}"/>
              </a:ext>
            </a:extLst>
          </p:cNvPr>
          <p:cNvSpPr txBox="1"/>
          <p:nvPr/>
        </p:nvSpPr>
        <p:spPr>
          <a:xfrm>
            <a:off x="335968" y="3078917"/>
            <a:ext cx="4354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2-1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9520D23-363C-AE35-4591-5B23048AF5B5}"/>
              </a:ext>
            </a:extLst>
          </p:cNvPr>
          <p:cNvSpPr txBox="1"/>
          <p:nvPr/>
        </p:nvSpPr>
        <p:spPr>
          <a:xfrm>
            <a:off x="610768" y="3552067"/>
            <a:ext cx="4354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2-2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61E641F3-6AD8-BAB6-EFCC-458A9541B8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4775" y="2198838"/>
            <a:ext cx="1228170" cy="139299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23728A7E-557E-9E7E-CBFF-AF52348C3C6A}"/>
              </a:ext>
            </a:extLst>
          </p:cNvPr>
          <p:cNvSpPr txBox="1"/>
          <p:nvPr/>
        </p:nvSpPr>
        <p:spPr>
          <a:xfrm>
            <a:off x="1401617" y="4304919"/>
            <a:ext cx="4354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2-4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C4F57B7-5372-76B3-862B-FF16F3C9716C}"/>
              </a:ext>
            </a:extLst>
          </p:cNvPr>
          <p:cNvSpPr txBox="1"/>
          <p:nvPr/>
        </p:nvSpPr>
        <p:spPr>
          <a:xfrm>
            <a:off x="1032446" y="2909360"/>
            <a:ext cx="4354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2-3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4B4C31B7-AFEF-FF73-7A26-D143B4BD9C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2108" y="2197808"/>
            <a:ext cx="1874270" cy="138021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D52BE21-2CC1-7C04-1673-CDB0A9A83869}"/>
              </a:ext>
            </a:extLst>
          </p:cNvPr>
          <p:cNvSpPr txBox="1"/>
          <p:nvPr/>
        </p:nvSpPr>
        <p:spPr>
          <a:xfrm>
            <a:off x="2739619" y="3796696"/>
            <a:ext cx="4354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2-5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9DCE988-7173-D471-DF48-AA3F9F0536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06410" y="4495447"/>
            <a:ext cx="1265738" cy="10693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BC50C76-59ED-F33E-9B52-827D13E630A5}"/>
              </a:ext>
            </a:extLst>
          </p:cNvPr>
          <p:cNvSpPr txBox="1"/>
          <p:nvPr/>
        </p:nvSpPr>
        <p:spPr>
          <a:xfrm>
            <a:off x="5068832" y="4560709"/>
            <a:ext cx="9848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고혈당위치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DC5A4D-251F-9E6E-554D-CFA133FF8BE2}"/>
              </a:ext>
            </a:extLst>
          </p:cNvPr>
          <p:cNvSpPr txBox="1"/>
          <p:nvPr/>
        </p:nvSpPr>
        <p:spPr>
          <a:xfrm>
            <a:off x="5207432" y="5143323"/>
            <a:ext cx="9848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err="1"/>
              <a:t>저혈당위치</a:t>
            </a:r>
            <a:endParaRPr lang="ko-KR" altLang="en-US" sz="1100" dirty="0"/>
          </a:p>
        </p:txBody>
      </p:sp>
      <p:pic>
        <p:nvPicPr>
          <p:cNvPr id="51" name="그림 50">
            <a:extLst>
              <a:ext uri="{FF2B5EF4-FFF2-40B4-BE49-F238E27FC236}">
                <a16:creationId xmlns:a16="http://schemas.microsoft.com/office/drawing/2014/main" id="{2F84FDBA-6532-2198-F271-C157743C698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1245" y="4495447"/>
            <a:ext cx="1459253" cy="1069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9645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3C3B2-9787-509F-F7DC-18AEAF5A3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54043A94-9A10-B96E-B391-C185A9D7CA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635" y="1236130"/>
            <a:ext cx="2696012" cy="5172501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273CE5A7-C9CD-2E34-8A4B-3F1BB69947D0}"/>
              </a:ext>
            </a:extLst>
          </p:cNvPr>
          <p:cNvSpPr/>
          <p:nvPr/>
        </p:nvSpPr>
        <p:spPr>
          <a:xfrm>
            <a:off x="8523798" y="222637"/>
            <a:ext cx="1041621" cy="5883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BD42E0D-97EA-A939-B92D-62AFE13257A8}"/>
              </a:ext>
            </a:extLst>
          </p:cNvPr>
          <p:cNvSpPr/>
          <p:nvPr/>
        </p:nvSpPr>
        <p:spPr>
          <a:xfrm>
            <a:off x="8523798" y="222637"/>
            <a:ext cx="1041621" cy="5883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4F70F00-EBF4-074A-68CF-E4BC958AC323}"/>
              </a:ext>
            </a:extLst>
          </p:cNvPr>
          <p:cNvSpPr/>
          <p:nvPr/>
        </p:nvSpPr>
        <p:spPr>
          <a:xfrm>
            <a:off x="7036905" y="6577971"/>
            <a:ext cx="2664000" cy="1334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EMPECS Medical Device Co., Ltd. All Rights reserved.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pic>
        <p:nvPicPr>
          <p:cNvPr id="22" name="Picture 2">
            <a:extLst>
              <a:ext uri="{FF2B5EF4-FFF2-40B4-BE49-F238E27FC236}">
                <a16:creationId xmlns:a16="http://schemas.microsoft.com/office/drawing/2014/main" id="{95020AB9-4394-3E10-F235-98643FB33A67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3798" y="157298"/>
            <a:ext cx="998995" cy="65373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35E5A71C-2478-013C-5BF7-5436F2076A9D}"/>
              </a:ext>
            </a:extLst>
          </p:cNvPr>
          <p:cNvSpPr txBox="1"/>
          <p:nvPr/>
        </p:nvSpPr>
        <p:spPr>
          <a:xfrm>
            <a:off x="191459" y="221907"/>
            <a:ext cx="9523081" cy="3738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latin typeface="맑은 고딕"/>
                <a:ea typeface="맑은 고딕"/>
              </a:rPr>
              <a:t>▣ </a:t>
            </a:r>
            <a:r>
              <a:rPr lang="en-US" altLang="ko-KR" sz="1400" b="1" dirty="0">
                <a:latin typeface="맑은 고딕"/>
                <a:ea typeface="맑은 고딕"/>
              </a:rPr>
              <a:t>App</a:t>
            </a:r>
            <a:r>
              <a:rPr lang="ko-KR" altLang="en-US" sz="1400" b="1" dirty="0">
                <a:latin typeface="맑은 고딕"/>
                <a:ea typeface="맑은 고딕"/>
              </a:rPr>
              <a:t> 화면 수정요청</a:t>
            </a:r>
            <a:endParaRPr lang="en-US" altLang="ko-KR" sz="1400" b="1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22DDC27-3C48-895D-FBDB-AAE86EAB7758}"/>
              </a:ext>
            </a:extLst>
          </p:cNvPr>
          <p:cNvSpPr txBox="1"/>
          <p:nvPr/>
        </p:nvSpPr>
        <p:spPr>
          <a:xfrm>
            <a:off x="191459" y="856742"/>
            <a:ext cx="22025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메인 화면 </a:t>
            </a:r>
            <a:r>
              <a:rPr lang="en-US" altLang="ko-KR" sz="1600" b="1" dirty="0"/>
              <a:t>(02)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8208BAB-D109-8984-B4C1-0F46B1951720}"/>
              </a:ext>
            </a:extLst>
          </p:cNvPr>
          <p:cNvSpPr txBox="1"/>
          <p:nvPr/>
        </p:nvSpPr>
        <p:spPr>
          <a:xfrm>
            <a:off x="3520638" y="887146"/>
            <a:ext cx="5888958" cy="4581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2. </a:t>
            </a:r>
            <a:r>
              <a:rPr lang="ko-KR" altLang="en-US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그래프 관련 </a:t>
            </a:r>
            <a:endParaRPr lang="en-US" altLang="ko-KR" sz="1400" b="1" dirty="0">
              <a:highlight>
                <a:srgbClr val="00FF00"/>
              </a:highlight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(</a:t>
            </a:r>
            <a:r>
              <a:rPr lang="ko-KR" altLang="en-US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이전페이지 연속</a:t>
            </a:r>
            <a:r>
              <a:rPr lang="en-US" altLang="ko-KR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2-6. </a:t>
            </a:r>
            <a:r>
              <a:rPr lang="ko-KR" altLang="en-US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고혈당 위치 이상은 주황색</a:t>
            </a:r>
            <a:r>
              <a:rPr lang="en-US" altLang="ko-KR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, </a:t>
            </a:r>
            <a:r>
              <a:rPr lang="ko-KR" altLang="en-US" sz="1400" b="1" dirty="0" err="1">
                <a:highlight>
                  <a:srgbClr val="00FF00"/>
                </a:highlight>
                <a:sym typeface="Wingdings" panose="05000000000000000000" pitchFamily="2" charset="2"/>
              </a:rPr>
              <a:t>저혈당</a:t>
            </a:r>
            <a:r>
              <a:rPr lang="ko-KR" altLang="en-US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 위치 이하는 빨강색</a:t>
            </a:r>
            <a:endParaRPr lang="en-US" altLang="ko-KR" sz="1400" b="1" dirty="0">
              <a:highlight>
                <a:srgbClr val="00FF00"/>
              </a:highlight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endParaRPr lang="en-US" altLang="ko-KR" sz="1400" b="1" dirty="0">
              <a:highlight>
                <a:srgbClr val="00FF00"/>
              </a:highlight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              </a:t>
            </a:r>
          </a:p>
          <a:p>
            <a:pPr>
              <a:lnSpc>
                <a:spcPct val="150000"/>
              </a:lnSpc>
            </a:pPr>
            <a:endParaRPr lang="en-US" altLang="ko-KR" sz="1400" b="1" dirty="0">
              <a:highlight>
                <a:srgbClr val="00FF00"/>
              </a:highlight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endParaRPr lang="en-US" altLang="ko-KR" sz="1400" b="1" dirty="0">
              <a:highlight>
                <a:srgbClr val="00FF00"/>
              </a:highlight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endParaRPr lang="en-US" altLang="ko-KR" sz="1400" b="1" dirty="0">
              <a:highlight>
                <a:srgbClr val="00FF00"/>
              </a:highlight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endParaRPr lang="en-US" altLang="ko-KR" sz="1400" b="1" dirty="0">
              <a:highlight>
                <a:srgbClr val="00FF00"/>
              </a:highlight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endParaRPr lang="en-US" altLang="ko-KR" sz="1400" b="1" dirty="0">
              <a:highlight>
                <a:srgbClr val="00FF00"/>
              </a:highlight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2-7. </a:t>
            </a:r>
            <a:r>
              <a:rPr lang="ko-KR" altLang="en-US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데이터 터치</a:t>
            </a:r>
            <a:r>
              <a:rPr lang="en-US" altLang="ko-KR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(</a:t>
            </a:r>
            <a:r>
              <a:rPr lang="ko-KR" altLang="en-US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손가락 </a:t>
            </a:r>
            <a:r>
              <a:rPr lang="en-US" altLang="ko-KR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1</a:t>
            </a:r>
            <a:r>
              <a:rPr lang="ko-KR" altLang="en-US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개</a:t>
            </a:r>
            <a:r>
              <a:rPr lang="en-US" altLang="ko-KR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), </a:t>
            </a:r>
            <a:r>
              <a:rPr lang="ko-KR" altLang="en-US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그래프 </a:t>
            </a:r>
            <a:r>
              <a:rPr lang="ko-KR" altLang="en-US" sz="1400" b="1" dirty="0" err="1">
                <a:highlight>
                  <a:srgbClr val="00FF00"/>
                </a:highlight>
                <a:sym typeface="Wingdings" panose="05000000000000000000" pitchFamily="2" charset="2"/>
              </a:rPr>
              <a:t>스위핑</a:t>
            </a:r>
            <a:r>
              <a:rPr lang="en-US" altLang="ko-KR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(</a:t>
            </a:r>
            <a:r>
              <a:rPr lang="ko-KR" altLang="en-US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손가락 </a:t>
            </a:r>
            <a:r>
              <a:rPr lang="en-US" altLang="ko-KR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2</a:t>
            </a:r>
            <a:r>
              <a:rPr lang="ko-KR" altLang="en-US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개</a:t>
            </a:r>
            <a:r>
              <a:rPr lang="en-US" altLang="ko-KR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)  </a:t>
            </a:r>
            <a:r>
              <a:rPr lang="ko-KR" altLang="en-US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의 기능이 정확히 이뤄지도록 수정</a:t>
            </a:r>
            <a:r>
              <a:rPr lang="en-US" altLang="ko-KR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! </a:t>
            </a: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 (</a:t>
            </a:r>
            <a:r>
              <a:rPr lang="ko-KR" altLang="en-US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현재 손가락 </a:t>
            </a:r>
            <a:r>
              <a:rPr lang="en-US" altLang="ko-KR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2</a:t>
            </a:r>
            <a:r>
              <a:rPr lang="ko-KR" altLang="en-US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개를 이용하여 그래프를 늘이거나 줄일 때 데이터 터치 구동이 되는 경우가 많음</a:t>
            </a:r>
            <a:r>
              <a:rPr lang="en-US" altLang="ko-KR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)                                                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B65E0B9-8646-BEF5-9A27-784EFD2913A0}"/>
              </a:ext>
            </a:extLst>
          </p:cNvPr>
          <p:cNvSpPr/>
          <p:nvPr/>
        </p:nvSpPr>
        <p:spPr>
          <a:xfrm>
            <a:off x="308445" y="2769326"/>
            <a:ext cx="2883030" cy="1872343"/>
          </a:xfrm>
          <a:prstGeom prst="roundRect">
            <a:avLst>
              <a:gd name="adj" fmla="val 6984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9D4147-50D9-675E-31CD-BB85072BC789}"/>
              </a:ext>
            </a:extLst>
          </p:cNvPr>
          <p:cNvSpPr txBox="1"/>
          <p:nvPr/>
        </p:nvSpPr>
        <p:spPr>
          <a:xfrm>
            <a:off x="2176313" y="3194466"/>
            <a:ext cx="4354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2-6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986B37F-41D2-46E1-A4A3-CDC6B20A65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2117" y="2257751"/>
            <a:ext cx="2530013" cy="1495643"/>
          </a:xfrm>
          <a:prstGeom prst="rect">
            <a:avLst/>
          </a:prstGeom>
        </p:spPr>
      </p:pic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5D6C7C92-FDD4-9486-51DD-27A78B98187F}"/>
              </a:ext>
            </a:extLst>
          </p:cNvPr>
          <p:cNvCxnSpPr>
            <a:cxnSpLocks/>
          </p:cNvCxnSpPr>
          <p:nvPr/>
        </p:nvCxnSpPr>
        <p:spPr>
          <a:xfrm>
            <a:off x="6149240" y="2682240"/>
            <a:ext cx="914400" cy="0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A02300C2-4514-1EF4-55A5-1461A5DA7F8F}"/>
              </a:ext>
            </a:extLst>
          </p:cNvPr>
          <p:cNvCxnSpPr>
            <a:cxnSpLocks/>
          </p:cNvCxnSpPr>
          <p:nvPr/>
        </p:nvCxnSpPr>
        <p:spPr>
          <a:xfrm>
            <a:off x="4815840" y="3429000"/>
            <a:ext cx="2247800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689E39F6-E07E-8876-B527-A69DDAD77DE0}"/>
              </a:ext>
            </a:extLst>
          </p:cNvPr>
          <p:cNvCxnSpPr>
            <a:cxnSpLocks/>
          </p:cNvCxnSpPr>
          <p:nvPr/>
        </p:nvCxnSpPr>
        <p:spPr>
          <a:xfrm>
            <a:off x="6149240" y="3131820"/>
            <a:ext cx="914400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F55275D-9883-605F-2621-6274E1149344}"/>
              </a:ext>
            </a:extLst>
          </p:cNvPr>
          <p:cNvSpPr txBox="1"/>
          <p:nvPr/>
        </p:nvSpPr>
        <p:spPr>
          <a:xfrm>
            <a:off x="7063640" y="2551435"/>
            <a:ext cx="14638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/>
              <a:t>고혈당 이상 </a:t>
            </a:r>
            <a:r>
              <a:rPr lang="en-US" altLang="ko-KR" sz="1100" b="1" dirty="0"/>
              <a:t>(</a:t>
            </a:r>
            <a:r>
              <a:rPr lang="ko-KR" altLang="en-US" sz="1100" b="1" dirty="0"/>
              <a:t>주황색</a:t>
            </a:r>
            <a:r>
              <a:rPr lang="en-US" altLang="ko-KR" sz="1100" b="1" dirty="0"/>
              <a:t>)</a:t>
            </a:r>
            <a:endParaRPr lang="ko-KR" altLang="en-US" sz="11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064A41-6925-9D50-4495-0044FB10DE25}"/>
              </a:ext>
            </a:extLst>
          </p:cNvPr>
          <p:cNvSpPr txBox="1"/>
          <p:nvPr/>
        </p:nvSpPr>
        <p:spPr>
          <a:xfrm>
            <a:off x="7063640" y="2995258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/>
              <a:t>목표범위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367F66-A67E-6FBC-8113-68938C3F5118}"/>
              </a:ext>
            </a:extLst>
          </p:cNvPr>
          <p:cNvSpPr txBox="1"/>
          <p:nvPr/>
        </p:nvSpPr>
        <p:spPr>
          <a:xfrm>
            <a:off x="7063640" y="3295397"/>
            <a:ext cx="14638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 err="1"/>
              <a:t>저혈당</a:t>
            </a:r>
            <a:r>
              <a:rPr lang="ko-KR" altLang="en-US" sz="1100" b="1" dirty="0"/>
              <a:t> 이하 </a:t>
            </a:r>
            <a:r>
              <a:rPr lang="en-US" altLang="ko-KR" sz="1100" b="1" dirty="0"/>
              <a:t>(</a:t>
            </a:r>
            <a:r>
              <a:rPr lang="ko-KR" altLang="en-US" sz="1100" b="1" dirty="0"/>
              <a:t>빨간색</a:t>
            </a:r>
            <a:r>
              <a:rPr lang="en-US" altLang="ko-KR" sz="1100" b="1" dirty="0"/>
              <a:t>)</a:t>
            </a:r>
            <a:endParaRPr lang="ko-KR" altLang="en-US" sz="11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335FE11-C0DB-2AA3-BE78-A21565DA7CFD}"/>
              </a:ext>
            </a:extLst>
          </p:cNvPr>
          <p:cNvSpPr txBox="1"/>
          <p:nvPr/>
        </p:nvSpPr>
        <p:spPr>
          <a:xfrm>
            <a:off x="1342432" y="3648057"/>
            <a:ext cx="4354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2-7</a:t>
            </a:r>
          </a:p>
        </p:txBody>
      </p:sp>
    </p:spTree>
    <p:extLst>
      <p:ext uri="{BB962C8B-B14F-4D97-AF65-F5344CB8AC3E}">
        <p14:creationId xmlns:p14="http://schemas.microsoft.com/office/powerpoint/2010/main" val="33867280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A242E-E7D1-8CDD-42C8-CADBB679C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그림 65">
            <a:extLst>
              <a:ext uri="{FF2B5EF4-FFF2-40B4-BE49-F238E27FC236}">
                <a16:creationId xmlns:a16="http://schemas.microsoft.com/office/drawing/2014/main" id="{58DD6532-39D2-49D8-8722-AC2020C206C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34" t="22373" r="14140" b="41583"/>
          <a:stretch>
            <a:fillRect/>
          </a:stretch>
        </p:blipFill>
        <p:spPr>
          <a:xfrm>
            <a:off x="3547128" y="4819657"/>
            <a:ext cx="1537285" cy="164294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1639901-A6E0-9DFE-C865-900124393D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635" y="1236130"/>
            <a:ext cx="2696012" cy="5172501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DE48D6EF-5AD4-8F06-5827-05738529E8E5}"/>
              </a:ext>
            </a:extLst>
          </p:cNvPr>
          <p:cNvSpPr/>
          <p:nvPr/>
        </p:nvSpPr>
        <p:spPr>
          <a:xfrm>
            <a:off x="8523798" y="222637"/>
            <a:ext cx="1041621" cy="5883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C475A7D-B4B5-D650-5D81-48CAD96ED0AB}"/>
              </a:ext>
            </a:extLst>
          </p:cNvPr>
          <p:cNvSpPr/>
          <p:nvPr/>
        </p:nvSpPr>
        <p:spPr>
          <a:xfrm>
            <a:off x="8523798" y="222637"/>
            <a:ext cx="1041621" cy="5883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D94B093-1202-ACE4-3D89-059BB008C7D0}"/>
              </a:ext>
            </a:extLst>
          </p:cNvPr>
          <p:cNvSpPr/>
          <p:nvPr/>
        </p:nvSpPr>
        <p:spPr>
          <a:xfrm>
            <a:off x="7036905" y="6577971"/>
            <a:ext cx="2664000" cy="1334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EMPECS Medical Device Co., Ltd. All Rights reserved.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pic>
        <p:nvPicPr>
          <p:cNvPr id="22" name="Picture 2">
            <a:extLst>
              <a:ext uri="{FF2B5EF4-FFF2-40B4-BE49-F238E27FC236}">
                <a16:creationId xmlns:a16="http://schemas.microsoft.com/office/drawing/2014/main" id="{5EC2822F-6310-BBCF-A6FC-A354DE7AA5C5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3798" y="157298"/>
            <a:ext cx="998995" cy="65373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FCB29538-D99A-F90F-F2F1-EB7FCC170046}"/>
              </a:ext>
            </a:extLst>
          </p:cNvPr>
          <p:cNvSpPr txBox="1"/>
          <p:nvPr/>
        </p:nvSpPr>
        <p:spPr>
          <a:xfrm>
            <a:off x="191459" y="221907"/>
            <a:ext cx="9523081" cy="3738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latin typeface="맑은 고딕"/>
                <a:ea typeface="맑은 고딕"/>
              </a:rPr>
              <a:t>▣ </a:t>
            </a:r>
            <a:r>
              <a:rPr lang="en-US" altLang="ko-KR" sz="1400" b="1" dirty="0">
                <a:latin typeface="맑은 고딕"/>
                <a:ea typeface="맑은 고딕"/>
              </a:rPr>
              <a:t>App</a:t>
            </a:r>
            <a:r>
              <a:rPr lang="ko-KR" altLang="en-US" sz="1400" b="1" dirty="0">
                <a:latin typeface="맑은 고딕"/>
                <a:ea typeface="맑은 고딕"/>
              </a:rPr>
              <a:t> 화면 수정요청</a:t>
            </a:r>
            <a:endParaRPr lang="en-US" altLang="ko-KR" sz="1400" b="1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FC98B36-1250-3D45-EF63-E533BACAA49B}"/>
              </a:ext>
            </a:extLst>
          </p:cNvPr>
          <p:cNvSpPr txBox="1"/>
          <p:nvPr/>
        </p:nvSpPr>
        <p:spPr>
          <a:xfrm>
            <a:off x="191459" y="856742"/>
            <a:ext cx="22025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메인 화면 </a:t>
            </a:r>
            <a:r>
              <a:rPr lang="en-US" altLang="ko-KR" sz="1600" b="1" dirty="0"/>
              <a:t>(03)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FEAFB90-A9A4-54D1-6D12-9C34BE123FEC}"/>
              </a:ext>
            </a:extLst>
          </p:cNvPr>
          <p:cNvSpPr txBox="1"/>
          <p:nvPr/>
        </p:nvSpPr>
        <p:spPr>
          <a:xfrm>
            <a:off x="3520638" y="887146"/>
            <a:ext cx="5888958" cy="36120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>
                <a:highlight>
                  <a:srgbClr val="FFFF00"/>
                </a:highlight>
                <a:sym typeface="Wingdings" panose="05000000000000000000" pitchFamily="2" charset="2"/>
              </a:rPr>
              <a:t>3. </a:t>
            </a:r>
            <a:r>
              <a:rPr lang="ko-KR" altLang="en-US" sz="1400" b="1" dirty="0">
                <a:highlight>
                  <a:srgbClr val="FFFF00"/>
                </a:highlight>
                <a:sym typeface="Wingdings" panose="05000000000000000000" pitchFamily="2" charset="2"/>
              </a:rPr>
              <a:t>혈당이벤트 메모 기록 </a:t>
            </a:r>
            <a:endParaRPr lang="en-US" altLang="ko-KR" sz="1400" b="1" dirty="0">
              <a:highlight>
                <a:srgbClr val="FFFF00"/>
              </a:highlight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highlight>
                  <a:srgbClr val="FFFF00"/>
                </a:highlight>
                <a:sym typeface="Wingdings" panose="05000000000000000000" pitchFamily="2" charset="2"/>
              </a:rPr>
              <a:t>3-1. </a:t>
            </a:r>
            <a:r>
              <a:rPr lang="ko-KR" altLang="en-US" sz="1400" b="1" dirty="0">
                <a:highlight>
                  <a:srgbClr val="FFFF00"/>
                </a:highlight>
                <a:sym typeface="Wingdings" panose="05000000000000000000" pitchFamily="2" charset="2"/>
              </a:rPr>
              <a:t>사용된 아이콘 이미지 통일</a:t>
            </a:r>
            <a:endParaRPr lang="en-US" altLang="ko-KR" sz="1400" b="1" dirty="0">
              <a:highlight>
                <a:srgbClr val="FFFF00"/>
              </a:highlight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highlight>
                  <a:srgbClr val="FFFF00"/>
                </a:highlight>
                <a:sym typeface="Wingdings" panose="05000000000000000000" pitchFamily="2" charset="2"/>
              </a:rPr>
              <a:t>      (</a:t>
            </a:r>
            <a:r>
              <a:rPr lang="ko-KR" altLang="en-US" sz="1400" b="1" dirty="0">
                <a:highlight>
                  <a:srgbClr val="FFFF00"/>
                </a:highlight>
                <a:sym typeface="Wingdings" panose="05000000000000000000" pitchFamily="2" charset="2"/>
              </a:rPr>
              <a:t>그래프표현 </a:t>
            </a:r>
            <a:r>
              <a:rPr lang="en-US" altLang="ko-KR" sz="1400" b="1" dirty="0">
                <a:highlight>
                  <a:srgbClr val="FFFF00"/>
                </a:highlight>
                <a:sym typeface="Wingdings" panose="05000000000000000000" pitchFamily="2" charset="2"/>
              </a:rPr>
              <a:t>: breakfast, lunch, dinner, snack, memo, photo, last snack)</a:t>
            </a: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highlight>
                  <a:srgbClr val="FFFF00"/>
                </a:highlight>
                <a:sym typeface="Wingdings" panose="05000000000000000000" pitchFamily="2" charset="2"/>
              </a:rPr>
              <a:t>      (</a:t>
            </a:r>
            <a:r>
              <a:rPr lang="ko-KR" altLang="en-US" sz="1400" b="1" dirty="0">
                <a:highlight>
                  <a:srgbClr val="FFFF00"/>
                </a:highlight>
                <a:sym typeface="Wingdings" panose="05000000000000000000" pitchFamily="2" charset="2"/>
              </a:rPr>
              <a:t>메모추가창 </a:t>
            </a:r>
            <a:r>
              <a:rPr lang="en-US" altLang="ko-KR" sz="1400" b="1" dirty="0">
                <a:highlight>
                  <a:srgbClr val="FFFF00"/>
                </a:highlight>
                <a:sym typeface="Wingdings" panose="05000000000000000000" pitchFamily="2" charset="2"/>
              </a:rPr>
              <a:t>: </a:t>
            </a:r>
            <a:r>
              <a:rPr lang="ko-KR" altLang="en-US" sz="1400" b="1" dirty="0">
                <a:highlight>
                  <a:srgbClr val="FFFF00"/>
                </a:highlight>
                <a:sym typeface="Wingdings" panose="05000000000000000000" pitchFamily="2" charset="2"/>
              </a:rPr>
              <a:t>혈당</a:t>
            </a:r>
            <a:r>
              <a:rPr lang="en-US" altLang="ko-KR" sz="1400" b="1" dirty="0">
                <a:highlight>
                  <a:srgbClr val="FFFF00"/>
                </a:highlight>
                <a:sym typeface="Wingdings" panose="05000000000000000000" pitchFamily="2" charset="2"/>
              </a:rPr>
              <a:t>, </a:t>
            </a:r>
            <a:r>
              <a:rPr lang="ko-KR" altLang="en-US" sz="1400" b="1" dirty="0">
                <a:highlight>
                  <a:srgbClr val="FFFF00"/>
                </a:highlight>
                <a:sym typeface="Wingdings" panose="05000000000000000000" pitchFamily="2" charset="2"/>
              </a:rPr>
              <a:t>운동</a:t>
            </a:r>
            <a:r>
              <a:rPr lang="en-US" altLang="ko-KR" sz="1400" b="1" dirty="0">
                <a:highlight>
                  <a:srgbClr val="FFFF00"/>
                </a:highlight>
                <a:sym typeface="Wingdings" panose="05000000000000000000" pitchFamily="2" charset="2"/>
              </a:rPr>
              <a:t>, </a:t>
            </a:r>
            <a:r>
              <a:rPr lang="ko-KR" altLang="en-US" sz="1400" b="1" dirty="0">
                <a:highlight>
                  <a:srgbClr val="FFFF00"/>
                </a:highlight>
                <a:sym typeface="Wingdings" panose="05000000000000000000" pitchFamily="2" charset="2"/>
              </a:rPr>
              <a:t>인슐린</a:t>
            </a:r>
            <a:r>
              <a:rPr lang="en-US" altLang="ko-KR" sz="1400" b="1" dirty="0">
                <a:highlight>
                  <a:srgbClr val="FFFF00"/>
                </a:highlight>
                <a:sym typeface="Wingdings" panose="05000000000000000000" pitchFamily="2" charset="2"/>
              </a:rPr>
              <a:t>, </a:t>
            </a:r>
            <a:r>
              <a:rPr lang="ko-KR" altLang="en-US" sz="1400" b="1" dirty="0">
                <a:highlight>
                  <a:srgbClr val="FFFF00"/>
                </a:highlight>
                <a:sym typeface="Wingdings" panose="05000000000000000000" pitchFamily="2" charset="2"/>
              </a:rPr>
              <a:t>케톤</a:t>
            </a:r>
            <a:r>
              <a:rPr lang="en-US" altLang="ko-KR" sz="1400" b="1" dirty="0">
                <a:highlight>
                  <a:srgbClr val="FFFF00"/>
                </a:highlight>
                <a:sym typeface="Wingdings" panose="05000000000000000000" pitchFamily="2" charset="2"/>
              </a:rPr>
              <a:t>, </a:t>
            </a:r>
            <a:r>
              <a:rPr lang="ko-KR" altLang="en-US" sz="1400" b="1" dirty="0">
                <a:highlight>
                  <a:srgbClr val="FFFF00"/>
                </a:highlight>
                <a:sym typeface="Wingdings" panose="05000000000000000000" pitchFamily="2" charset="2"/>
              </a:rPr>
              <a:t>식사</a:t>
            </a:r>
            <a:r>
              <a:rPr lang="en-US" altLang="ko-KR" sz="1400" b="1" dirty="0">
                <a:highlight>
                  <a:srgbClr val="FFFF00"/>
                </a:highlight>
                <a:sym typeface="Wingdings" panose="05000000000000000000" pitchFamily="2" charset="2"/>
              </a:rPr>
              <a:t>, </a:t>
            </a:r>
            <a:r>
              <a:rPr lang="ko-KR" altLang="en-US" sz="1400" b="1" dirty="0" err="1">
                <a:highlight>
                  <a:srgbClr val="FFFF00"/>
                </a:highlight>
                <a:sym typeface="Wingdings" panose="05000000000000000000" pitchFamily="2" charset="2"/>
              </a:rPr>
              <a:t>경구약</a:t>
            </a:r>
            <a:r>
              <a:rPr lang="en-US" altLang="ko-KR" sz="1400" b="1" dirty="0">
                <a:highlight>
                  <a:srgbClr val="FFFF00"/>
                </a:highlight>
                <a:sym typeface="Wingdings" panose="05000000000000000000" pitchFamily="2" charset="2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1400" b="1" dirty="0">
                <a:highlight>
                  <a:srgbClr val="FFFF00"/>
                </a:highlight>
                <a:sym typeface="Wingdings" panose="05000000000000000000" pitchFamily="2" charset="2"/>
              </a:rPr>
              <a:t>이것을 아래의 아이콘으로 통일</a:t>
            </a:r>
            <a:r>
              <a:rPr lang="en-US" altLang="ko-KR" sz="1400" b="1" dirty="0">
                <a:highlight>
                  <a:srgbClr val="FFFF00"/>
                </a:highlight>
                <a:sym typeface="Wingdings" panose="05000000000000000000" pitchFamily="2" charset="2"/>
              </a:rPr>
              <a:t>.</a:t>
            </a:r>
            <a:r>
              <a:rPr lang="ko-KR" altLang="en-US" sz="1400" b="1" dirty="0">
                <a:highlight>
                  <a:srgbClr val="FFFF00"/>
                </a:highlight>
                <a:sym typeface="Wingdings" panose="05000000000000000000" pitchFamily="2" charset="2"/>
              </a:rPr>
              <a:t> </a:t>
            </a:r>
            <a:r>
              <a:rPr lang="en-US" altLang="ko-KR" sz="1400" b="1" dirty="0">
                <a:highlight>
                  <a:srgbClr val="FFFF00"/>
                </a:highlight>
                <a:sym typeface="Wingdings" panose="05000000000000000000" pitchFamily="2" charset="2"/>
              </a:rPr>
              <a:t>- </a:t>
            </a:r>
            <a:r>
              <a:rPr lang="ko-KR" altLang="en-US" sz="1400" b="1" dirty="0">
                <a:highlight>
                  <a:srgbClr val="FFFF00"/>
                </a:highlight>
                <a:sym typeface="Wingdings" panose="05000000000000000000" pitchFamily="2" charset="2"/>
              </a:rPr>
              <a:t>아이콘 디자인 원본 요청</a:t>
            </a:r>
            <a:r>
              <a:rPr lang="en-US" altLang="ko-KR" sz="1400" b="1" dirty="0">
                <a:highlight>
                  <a:srgbClr val="FFFF00"/>
                </a:highlight>
                <a:sym typeface="Wingdings" panose="05000000000000000000" pitchFamily="2" charset="2"/>
              </a:rPr>
              <a:t>(</a:t>
            </a:r>
            <a:r>
              <a:rPr lang="en-US" altLang="ko-KR" sz="1400" b="1" dirty="0" err="1">
                <a:highlight>
                  <a:srgbClr val="FFFF00"/>
                </a:highlight>
                <a:sym typeface="Wingdings" panose="05000000000000000000" pitchFamily="2" charset="2"/>
              </a:rPr>
              <a:t>ai,psd</a:t>
            </a:r>
            <a:r>
              <a:rPr lang="en-US" altLang="ko-KR" sz="1400" b="1" dirty="0">
                <a:highlight>
                  <a:srgbClr val="FFFF00"/>
                </a:highlight>
                <a:sym typeface="Wingdings" panose="05000000000000000000" pitchFamily="2" charset="2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highlight>
                  <a:srgbClr val="FFFF00"/>
                </a:highlight>
                <a:sym typeface="Wingdings" panose="05000000000000000000" pitchFamily="2" charset="2"/>
              </a:rPr>
              <a:t> Blood glucose(</a:t>
            </a:r>
            <a:r>
              <a:rPr lang="ko-KR" altLang="en-US" sz="1400" b="1" dirty="0">
                <a:highlight>
                  <a:srgbClr val="FFFF00"/>
                </a:highlight>
                <a:sym typeface="Wingdings" panose="05000000000000000000" pitchFamily="2" charset="2"/>
              </a:rPr>
              <a:t>혈당</a:t>
            </a:r>
            <a:r>
              <a:rPr lang="en-US" altLang="ko-KR" sz="1400" b="1" dirty="0">
                <a:highlight>
                  <a:srgbClr val="FFFF00"/>
                </a:highlight>
                <a:sym typeface="Wingdings" panose="05000000000000000000" pitchFamily="2" charset="2"/>
              </a:rPr>
              <a:t>) </a:t>
            </a: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highlight>
                  <a:srgbClr val="FFFF00"/>
                </a:highlight>
                <a:sym typeface="Wingdings" panose="05000000000000000000" pitchFamily="2" charset="2"/>
              </a:rPr>
              <a:t> Insulin(</a:t>
            </a:r>
            <a:r>
              <a:rPr lang="ko-KR" altLang="en-US" sz="1400" b="1" dirty="0">
                <a:highlight>
                  <a:srgbClr val="FFFF00"/>
                </a:highlight>
                <a:sym typeface="Wingdings" panose="05000000000000000000" pitchFamily="2" charset="2"/>
              </a:rPr>
              <a:t>인슐린</a:t>
            </a:r>
            <a:r>
              <a:rPr lang="en-US" altLang="ko-KR" sz="1400" b="1" dirty="0">
                <a:highlight>
                  <a:srgbClr val="FFFF00"/>
                </a:highlight>
                <a:sym typeface="Wingdings" panose="05000000000000000000" pitchFamily="2" charset="2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en-US" altLang="ko-KR" sz="1400" b="1" dirty="0">
                <a:highlight>
                  <a:srgbClr val="FFFF00"/>
                </a:highlight>
                <a:sym typeface="Wingdings" panose="05000000000000000000" pitchFamily="2" charset="2"/>
              </a:rPr>
              <a:t>Medication(</a:t>
            </a:r>
            <a:r>
              <a:rPr lang="ko-KR" altLang="en-US" sz="1400" b="1" dirty="0">
                <a:highlight>
                  <a:srgbClr val="FFFF00"/>
                </a:highlight>
                <a:sym typeface="Wingdings" panose="05000000000000000000" pitchFamily="2" charset="2"/>
              </a:rPr>
              <a:t>약물</a:t>
            </a:r>
            <a:r>
              <a:rPr lang="en-US" altLang="ko-KR" sz="1400" b="1" dirty="0">
                <a:highlight>
                  <a:srgbClr val="FFFF00"/>
                </a:highlight>
                <a:sym typeface="Wingdings" panose="05000000000000000000" pitchFamily="2" charset="2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en-US" altLang="ko-KR" sz="1400" b="1" dirty="0">
                <a:highlight>
                  <a:srgbClr val="FFFF00"/>
                </a:highlight>
                <a:sym typeface="Wingdings" panose="05000000000000000000" pitchFamily="2" charset="2"/>
              </a:rPr>
              <a:t>Exercise(</a:t>
            </a:r>
            <a:r>
              <a:rPr lang="ko-KR" altLang="en-US" sz="1400" b="1" dirty="0">
                <a:highlight>
                  <a:srgbClr val="FFFF00"/>
                </a:highlight>
                <a:sym typeface="Wingdings" panose="05000000000000000000" pitchFamily="2" charset="2"/>
              </a:rPr>
              <a:t>운동</a:t>
            </a:r>
            <a:r>
              <a:rPr lang="en-US" altLang="ko-KR" sz="1400" b="1" dirty="0">
                <a:highlight>
                  <a:srgbClr val="FFFF00"/>
                </a:highlight>
                <a:sym typeface="Wingdings" panose="05000000000000000000" pitchFamily="2" charset="2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en-US" altLang="ko-KR" sz="1400" b="1" dirty="0">
                <a:highlight>
                  <a:srgbClr val="FFFF00"/>
                </a:highlight>
                <a:sym typeface="Wingdings" panose="05000000000000000000" pitchFamily="2" charset="2"/>
              </a:rPr>
              <a:t>Meal(</a:t>
            </a:r>
            <a:r>
              <a:rPr lang="ko-KR" altLang="en-US" sz="1400" b="1" dirty="0">
                <a:highlight>
                  <a:srgbClr val="FFFF00"/>
                </a:highlight>
                <a:sym typeface="Wingdings" panose="05000000000000000000" pitchFamily="2" charset="2"/>
              </a:rPr>
              <a:t>식사</a:t>
            </a:r>
            <a:r>
              <a:rPr lang="en-US" altLang="ko-KR" sz="1400" b="1" dirty="0">
                <a:highlight>
                  <a:srgbClr val="FFFF00"/>
                </a:highlight>
                <a:sym typeface="Wingdings" panose="05000000000000000000" pitchFamily="2" charset="2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en-US" altLang="ko-KR" sz="1400" b="1" dirty="0">
                <a:highlight>
                  <a:srgbClr val="FFFF00"/>
                </a:highlight>
                <a:sym typeface="Wingdings" panose="05000000000000000000" pitchFamily="2" charset="2"/>
              </a:rPr>
              <a:t>Memo(</a:t>
            </a:r>
            <a:r>
              <a:rPr lang="ko-KR" altLang="en-US" sz="1400" b="1" dirty="0">
                <a:highlight>
                  <a:srgbClr val="FFFF00"/>
                </a:highlight>
                <a:sym typeface="Wingdings" panose="05000000000000000000" pitchFamily="2" charset="2"/>
              </a:rPr>
              <a:t>메모</a:t>
            </a:r>
            <a:r>
              <a:rPr lang="en-US" altLang="ko-KR" sz="1400" b="1" dirty="0">
                <a:highlight>
                  <a:srgbClr val="FFFF00"/>
                </a:highlight>
                <a:sym typeface="Wingdings" panose="05000000000000000000" pitchFamily="2" charset="2"/>
              </a:rPr>
              <a:t>) – </a:t>
            </a:r>
            <a:r>
              <a:rPr lang="ko-KR" altLang="en-US" sz="1400" b="1" dirty="0">
                <a:highlight>
                  <a:srgbClr val="FFFF00"/>
                </a:highlight>
                <a:sym typeface="Wingdings" panose="05000000000000000000" pitchFamily="2" charset="2"/>
              </a:rPr>
              <a:t>녹색</a:t>
            </a:r>
            <a:endParaRPr lang="en-US" altLang="ko-KR" sz="1400" b="1" dirty="0">
              <a:highlight>
                <a:srgbClr val="FFFF00"/>
              </a:highlight>
              <a:sym typeface="Wingdings" panose="05000000000000000000" pitchFamily="2" charset="2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D04525F-CE2D-279A-FAD1-631489C90387}"/>
              </a:ext>
            </a:extLst>
          </p:cNvPr>
          <p:cNvSpPr/>
          <p:nvPr/>
        </p:nvSpPr>
        <p:spPr>
          <a:xfrm>
            <a:off x="322217" y="4581760"/>
            <a:ext cx="2883030" cy="1419498"/>
          </a:xfrm>
          <a:prstGeom prst="roundRect">
            <a:avLst>
              <a:gd name="adj" fmla="val 6984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C7A357-3FF8-BED1-D1F1-66699077B374}"/>
              </a:ext>
            </a:extLst>
          </p:cNvPr>
          <p:cNvSpPr txBox="1"/>
          <p:nvPr/>
        </p:nvSpPr>
        <p:spPr>
          <a:xfrm>
            <a:off x="272952" y="5029899"/>
            <a:ext cx="4354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3-1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EBEEF553-9439-834D-5238-CB22A88FD6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9590" y="2830126"/>
            <a:ext cx="493130" cy="511622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5A1820E4-E0C5-EEEF-6458-4F555EB4B5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7278" y="2813459"/>
            <a:ext cx="499585" cy="511623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C536843A-1E13-2CBB-50CC-B667E847B7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5445" y="2830126"/>
            <a:ext cx="517641" cy="511622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DDD4DA58-8AF1-66C1-E745-154BB8FF0FD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7521" y="2819619"/>
            <a:ext cx="499586" cy="505463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E10605B2-77F7-2F5B-B0A7-37284DAAAFF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99709" y="2819619"/>
            <a:ext cx="517641" cy="517641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A216143-593B-A2F8-6964-65AE5735B399}"/>
              </a:ext>
            </a:extLst>
          </p:cNvPr>
          <p:cNvSpPr/>
          <p:nvPr/>
        </p:nvSpPr>
        <p:spPr>
          <a:xfrm>
            <a:off x="1506583" y="5442857"/>
            <a:ext cx="474863" cy="466961"/>
          </a:xfrm>
          <a:prstGeom prst="roundRect">
            <a:avLst>
              <a:gd name="adj" fmla="val 6984"/>
            </a:avLst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94E2DD75-2A70-C3CC-4D27-D3E61D4A5621}"/>
              </a:ext>
            </a:extLst>
          </p:cNvPr>
          <p:cNvSpPr/>
          <p:nvPr/>
        </p:nvSpPr>
        <p:spPr>
          <a:xfrm>
            <a:off x="575696" y="4701549"/>
            <a:ext cx="362778" cy="819686"/>
          </a:xfrm>
          <a:prstGeom prst="roundRect">
            <a:avLst>
              <a:gd name="adj" fmla="val 6984"/>
            </a:avLst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6E48F7CC-148F-4E08-50AF-F748B96809F3}"/>
              </a:ext>
            </a:extLst>
          </p:cNvPr>
          <p:cNvSpPr/>
          <p:nvPr/>
        </p:nvSpPr>
        <p:spPr>
          <a:xfrm>
            <a:off x="832599" y="3049913"/>
            <a:ext cx="2197984" cy="250636"/>
          </a:xfrm>
          <a:prstGeom prst="roundRect">
            <a:avLst>
              <a:gd name="adj" fmla="val 6984"/>
            </a:avLst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C9CE9D72-FCC5-D2DC-7D0F-096294C4A997}"/>
              </a:ext>
            </a:extLst>
          </p:cNvPr>
          <p:cNvSpPr/>
          <p:nvPr/>
        </p:nvSpPr>
        <p:spPr>
          <a:xfrm>
            <a:off x="3431086" y="4701549"/>
            <a:ext cx="1741806" cy="1876422"/>
          </a:xfrm>
          <a:prstGeom prst="roundRect">
            <a:avLst>
              <a:gd name="adj" fmla="val 6984"/>
            </a:avLst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</a:endParaRPr>
          </a:p>
        </p:txBody>
      </p:sp>
      <p:cxnSp>
        <p:nvCxnSpPr>
          <p:cNvPr id="2" name="연결선: 구부러짐 1">
            <a:extLst>
              <a:ext uri="{FF2B5EF4-FFF2-40B4-BE49-F238E27FC236}">
                <a16:creationId xmlns:a16="http://schemas.microsoft.com/office/drawing/2014/main" id="{3C60FB1B-C9BF-3A31-8626-5FD0A9A5B999}"/>
              </a:ext>
            </a:extLst>
          </p:cNvPr>
          <p:cNvCxnSpPr>
            <a:cxnSpLocks/>
          </p:cNvCxnSpPr>
          <p:nvPr/>
        </p:nvCxnSpPr>
        <p:spPr>
          <a:xfrm>
            <a:off x="1889760" y="5686697"/>
            <a:ext cx="1733006" cy="644434"/>
          </a:xfrm>
          <a:prstGeom prst="curvedConnector3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ED8A7813-C814-87A8-4FED-D6517443E08F}"/>
              </a:ext>
            </a:extLst>
          </p:cNvPr>
          <p:cNvSpPr txBox="1"/>
          <p:nvPr/>
        </p:nvSpPr>
        <p:spPr>
          <a:xfrm>
            <a:off x="5759813" y="3602811"/>
            <a:ext cx="3954727" cy="10266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>
                <a:sym typeface="Wingdings" panose="05000000000000000000" pitchFamily="2" charset="2"/>
              </a:rPr>
              <a:t>3-2. </a:t>
            </a:r>
            <a:r>
              <a:rPr lang="ko-KR" altLang="en-US" sz="1400" b="1" dirty="0">
                <a:sym typeface="Wingdings" panose="05000000000000000000" pitchFamily="2" charset="2"/>
              </a:rPr>
              <a:t>추가입력 </a:t>
            </a:r>
            <a:r>
              <a:rPr lang="ko-KR" altLang="en-US" sz="1400" b="1" dirty="0" err="1">
                <a:sym typeface="Wingdings" panose="05000000000000000000" pitchFamily="2" charset="2"/>
              </a:rPr>
              <a:t>팝업창</a:t>
            </a:r>
            <a:r>
              <a:rPr lang="ko-KR" altLang="en-US" sz="1400" b="1" dirty="0">
                <a:sym typeface="Wingdings" panose="05000000000000000000" pitchFamily="2" charset="2"/>
              </a:rPr>
              <a:t> 아이콘 통일</a:t>
            </a:r>
            <a:r>
              <a:rPr lang="en-US" altLang="ko-KR" sz="1400" b="1" dirty="0">
                <a:sym typeface="Wingdings" panose="05000000000000000000" pitchFamily="2" charset="2"/>
              </a:rPr>
              <a:t>(</a:t>
            </a:r>
            <a:r>
              <a:rPr lang="ko-KR" altLang="en-US" sz="1400" b="1" dirty="0">
                <a:sym typeface="Wingdings" panose="05000000000000000000" pitchFamily="2" charset="2"/>
              </a:rPr>
              <a:t>영어 표기</a:t>
            </a:r>
            <a:r>
              <a:rPr lang="en-US" altLang="ko-KR" sz="1400" b="1" dirty="0">
                <a:sym typeface="Wingdings" panose="05000000000000000000" pitchFamily="2" charset="2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sym typeface="Wingdings" panose="05000000000000000000" pitchFamily="2" charset="2"/>
              </a:rPr>
              <a:t>3-3. </a:t>
            </a:r>
            <a:r>
              <a:rPr lang="ko-KR" altLang="en-US" sz="1400" b="1" dirty="0">
                <a:sym typeface="Wingdings" panose="05000000000000000000" pitchFamily="2" charset="2"/>
              </a:rPr>
              <a:t>혈당이벤트 추가 저장하면  그래프 위에  아이콘 추가되고 아래목록에 표시</a:t>
            </a:r>
            <a:endParaRPr lang="en-US" altLang="ko-KR" sz="1400" b="1" dirty="0">
              <a:sym typeface="Wingdings" panose="05000000000000000000" pitchFamily="2" charset="2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B5A7526-CFB2-BEB2-B20A-9C6475EC3D8E}"/>
              </a:ext>
            </a:extLst>
          </p:cNvPr>
          <p:cNvSpPr txBox="1"/>
          <p:nvPr/>
        </p:nvSpPr>
        <p:spPr>
          <a:xfrm>
            <a:off x="3484824" y="6069521"/>
            <a:ext cx="4354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3-2</a:t>
            </a:r>
          </a:p>
        </p:txBody>
      </p:sp>
      <p:pic>
        <p:nvPicPr>
          <p:cNvPr id="57" name="그림 56">
            <a:extLst>
              <a:ext uri="{FF2B5EF4-FFF2-40B4-BE49-F238E27FC236}">
                <a16:creationId xmlns:a16="http://schemas.microsoft.com/office/drawing/2014/main" id="{8E6F5382-0B92-51D8-58DF-8AD227A60E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34" t="22373" r="14140" b="41583"/>
          <a:stretch>
            <a:fillRect/>
          </a:stretch>
        </p:blipFill>
        <p:spPr>
          <a:xfrm>
            <a:off x="6028262" y="4787908"/>
            <a:ext cx="1537285" cy="1642941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12B212F5-B11B-09F5-872B-0AADE50D3D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8407" y="4767405"/>
            <a:ext cx="277587" cy="287996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1C2D974A-CEE5-09A3-DBB1-F1523273844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54580" y="4772527"/>
            <a:ext cx="284647" cy="287996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A47553C9-BE28-E79C-89D7-B07B12CDE7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9335" y="4794844"/>
            <a:ext cx="281220" cy="287996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436B527C-7248-7C62-9300-D9DCDEA9B72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43445" y="5259760"/>
            <a:ext cx="301498" cy="301498"/>
          </a:xfrm>
          <a:prstGeom prst="rect">
            <a:avLst/>
          </a:prstGeom>
        </p:spPr>
      </p:pic>
      <p:pic>
        <p:nvPicPr>
          <p:cNvPr id="62" name="그림 61">
            <a:extLst>
              <a:ext uri="{FF2B5EF4-FFF2-40B4-BE49-F238E27FC236}">
                <a16:creationId xmlns:a16="http://schemas.microsoft.com/office/drawing/2014/main" id="{ABA7D515-5450-7677-3403-0223AAF2D9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67422" y="5259760"/>
            <a:ext cx="305045" cy="301498"/>
          </a:xfrm>
          <a:prstGeom prst="rect">
            <a:avLst/>
          </a:prstGeom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884A5511-A6AA-C26F-6601-CDD0687FE57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27079" y="5208201"/>
            <a:ext cx="438804" cy="562569"/>
          </a:xfrm>
          <a:prstGeom prst="rect">
            <a:avLst/>
          </a:prstGeom>
        </p:spPr>
      </p:pic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CCA913F2-D45B-CB72-6DCF-769C460EBF82}"/>
              </a:ext>
            </a:extLst>
          </p:cNvPr>
          <p:cNvCxnSpPr>
            <a:cxnSpLocks/>
          </p:cNvCxnSpPr>
          <p:nvPr/>
        </p:nvCxnSpPr>
        <p:spPr>
          <a:xfrm flipH="1">
            <a:off x="6521911" y="5878069"/>
            <a:ext cx="521818" cy="5527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F219E246-4FE6-83F7-E348-A850C8A8DFDB}"/>
              </a:ext>
            </a:extLst>
          </p:cNvPr>
          <p:cNvCxnSpPr>
            <a:cxnSpLocks/>
          </p:cNvCxnSpPr>
          <p:nvPr/>
        </p:nvCxnSpPr>
        <p:spPr>
          <a:xfrm>
            <a:off x="6514787" y="5911899"/>
            <a:ext cx="538347" cy="5343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연결선: 구부러짐 66">
            <a:extLst>
              <a:ext uri="{FF2B5EF4-FFF2-40B4-BE49-F238E27FC236}">
                <a16:creationId xmlns:a16="http://schemas.microsoft.com/office/drawing/2014/main" id="{F54999B5-0402-A859-B784-FB7E99E6A174}"/>
              </a:ext>
            </a:extLst>
          </p:cNvPr>
          <p:cNvCxnSpPr>
            <a:cxnSpLocks/>
          </p:cNvCxnSpPr>
          <p:nvPr/>
        </p:nvCxnSpPr>
        <p:spPr>
          <a:xfrm flipV="1">
            <a:off x="4984461" y="5410509"/>
            <a:ext cx="939117" cy="922782"/>
          </a:xfrm>
          <a:prstGeom prst="curvedConnector3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9ED90920-2130-D312-F002-A7112802F3F4}"/>
              </a:ext>
            </a:extLst>
          </p:cNvPr>
          <p:cNvSpPr/>
          <p:nvPr/>
        </p:nvSpPr>
        <p:spPr>
          <a:xfrm>
            <a:off x="5916723" y="4672883"/>
            <a:ext cx="1741806" cy="1876422"/>
          </a:xfrm>
          <a:prstGeom prst="roundRect">
            <a:avLst>
              <a:gd name="adj" fmla="val 6984"/>
            </a:avLst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87BF7B1-BB49-7FE2-A360-EC05B2B2180B}"/>
              </a:ext>
            </a:extLst>
          </p:cNvPr>
          <p:cNvSpPr txBox="1"/>
          <p:nvPr/>
        </p:nvSpPr>
        <p:spPr>
          <a:xfrm>
            <a:off x="3484824" y="6342946"/>
            <a:ext cx="4354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3-3</a:t>
            </a:r>
          </a:p>
        </p:txBody>
      </p:sp>
    </p:spTree>
    <p:extLst>
      <p:ext uri="{BB962C8B-B14F-4D97-AF65-F5344CB8AC3E}">
        <p14:creationId xmlns:p14="http://schemas.microsoft.com/office/powerpoint/2010/main" val="7626432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FD61A-3035-1F33-90C6-232F9BA34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13FBDEDB-1601-CAA5-E72A-A1D220EBF9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649" y="1322422"/>
            <a:ext cx="2619631" cy="5205934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916D3591-87A0-3D28-2FE7-7924495EB5A0}"/>
              </a:ext>
            </a:extLst>
          </p:cNvPr>
          <p:cNvSpPr/>
          <p:nvPr/>
        </p:nvSpPr>
        <p:spPr>
          <a:xfrm>
            <a:off x="8523798" y="222637"/>
            <a:ext cx="1041621" cy="5883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71B0088-A8BB-C6D1-1882-D867623F1153}"/>
              </a:ext>
            </a:extLst>
          </p:cNvPr>
          <p:cNvSpPr/>
          <p:nvPr/>
        </p:nvSpPr>
        <p:spPr>
          <a:xfrm>
            <a:off x="8523798" y="222637"/>
            <a:ext cx="1041621" cy="5883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F9186CF-AD29-5AC3-B2FD-737EA6A48CCD}"/>
              </a:ext>
            </a:extLst>
          </p:cNvPr>
          <p:cNvSpPr/>
          <p:nvPr/>
        </p:nvSpPr>
        <p:spPr>
          <a:xfrm>
            <a:off x="7036905" y="6577971"/>
            <a:ext cx="2664000" cy="1334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EMPECS Medical Device Co., Ltd. All Rights reserved.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pic>
        <p:nvPicPr>
          <p:cNvPr id="22" name="Picture 2">
            <a:extLst>
              <a:ext uri="{FF2B5EF4-FFF2-40B4-BE49-F238E27FC236}">
                <a16:creationId xmlns:a16="http://schemas.microsoft.com/office/drawing/2014/main" id="{5F97E5C1-30DC-F1DB-E819-CBE21B9FECD8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3798" y="157298"/>
            <a:ext cx="998995" cy="65373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A0A601FC-C1A3-6F2E-2953-EC6CF9515265}"/>
              </a:ext>
            </a:extLst>
          </p:cNvPr>
          <p:cNvSpPr txBox="1"/>
          <p:nvPr/>
        </p:nvSpPr>
        <p:spPr>
          <a:xfrm>
            <a:off x="191459" y="221907"/>
            <a:ext cx="9523081" cy="3738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latin typeface="맑은 고딕"/>
                <a:ea typeface="맑은 고딕"/>
              </a:rPr>
              <a:t>▣ </a:t>
            </a:r>
            <a:r>
              <a:rPr lang="en-US" altLang="ko-KR" sz="1400" b="1" dirty="0">
                <a:latin typeface="맑은 고딕"/>
                <a:ea typeface="맑은 고딕"/>
              </a:rPr>
              <a:t>App</a:t>
            </a:r>
            <a:r>
              <a:rPr lang="ko-KR" altLang="en-US" sz="1400" b="1" dirty="0">
                <a:latin typeface="맑은 고딕"/>
                <a:ea typeface="맑은 고딕"/>
              </a:rPr>
              <a:t> 화면 수정요청</a:t>
            </a:r>
            <a:endParaRPr lang="en-US" altLang="ko-KR" sz="1400" b="1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62BDC32-0320-B507-1318-5137250EE0EF}"/>
              </a:ext>
            </a:extLst>
          </p:cNvPr>
          <p:cNvSpPr txBox="1"/>
          <p:nvPr/>
        </p:nvSpPr>
        <p:spPr>
          <a:xfrm>
            <a:off x="191459" y="856742"/>
            <a:ext cx="22025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메인 화면 </a:t>
            </a:r>
            <a:r>
              <a:rPr lang="en-US" altLang="ko-KR" sz="1600" b="1" dirty="0"/>
              <a:t>(04)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4171AF7-D631-BBDD-2D08-AF2CCB117290}"/>
              </a:ext>
            </a:extLst>
          </p:cNvPr>
          <p:cNvSpPr/>
          <p:nvPr/>
        </p:nvSpPr>
        <p:spPr>
          <a:xfrm>
            <a:off x="417649" y="2532016"/>
            <a:ext cx="2619631" cy="2283823"/>
          </a:xfrm>
          <a:prstGeom prst="roundRect">
            <a:avLst>
              <a:gd name="adj" fmla="val 6984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0B25F10E-8A72-537D-9376-38D5A956835B}"/>
              </a:ext>
            </a:extLst>
          </p:cNvPr>
          <p:cNvCxnSpPr/>
          <p:nvPr/>
        </p:nvCxnSpPr>
        <p:spPr>
          <a:xfrm>
            <a:off x="936637" y="4283527"/>
            <a:ext cx="1706880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921ACD1-49B8-1912-CC29-92E491CB1FD0}"/>
              </a:ext>
            </a:extLst>
          </p:cNvPr>
          <p:cNvSpPr txBox="1"/>
          <p:nvPr/>
        </p:nvSpPr>
        <p:spPr>
          <a:xfrm>
            <a:off x="936637" y="4013984"/>
            <a:ext cx="4354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4-1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024B3D-9AB6-EB2F-517E-F0DF5CE02B45}"/>
              </a:ext>
            </a:extLst>
          </p:cNvPr>
          <p:cNvSpPr txBox="1"/>
          <p:nvPr/>
        </p:nvSpPr>
        <p:spPr>
          <a:xfrm>
            <a:off x="3444537" y="856742"/>
            <a:ext cx="6270004" cy="52278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>
                <a:sym typeface="Wingdings" panose="05000000000000000000" pitchFamily="2" charset="2"/>
              </a:rPr>
              <a:t>4. </a:t>
            </a:r>
            <a:r>
              <a:rPr lang="ko-KR" altLang="en-US" sz="1400" b="1" dirty="0">
                <a:sym typeface="Wingdings" panose="05000000000000000000" pitchFamily="2" charset="2"/>
              </a:rPr>
              <a:t>그래프 슬라이딩 관련 </a:t>
            </a:r>
            <a:endParaRPr lang="en-US" altLang="ko-KR" sz="1400" b="1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sym typeface="Wingdings" panose="05000000000000000000" pitchFamily="2" charset="2"/>
              </a:rPr>
              <a:t>4-1. </a:t>
            </a:r>
            <a:r>
              <a:rPr lang="ko-KR" altLang="en-US" sz="1400" b="1" dirty="0">
                <a:sym typeface="Wingdings" panose="05000000000000000000" pitchFamily="2" charset="2"/>
              </a:rPr>
              <a:t>손가락 </a:t>
            </a:r>
            <a:r>
              <a:rPr lang="en-US" altLang="ko-KR" sz="1400" b="1" dirty="0">
                <a:sym typeface="Wingdings" panose="05000000000000000000" pitchFamily="2" charset="2"/>
              </a:rPr>
              <a:t>1</a:t>
            </a:r>
            <a:r>
              <a:rPr lang="ko-KR" altLang="en-US" sz="1400" b="1" dirty="0">
                <a:sym typeface="Wingdings" panose="05000000000000000000" pitchFamily="2" charset="2"/>
              </a:rPr>
              <a:t>개로 좌</a:t>
            </a:r>
            <a:r>
              <a:rPr lang="en-US" altLang="ko-KR" sz="1400" b="1" dirty="0">
                <a:sym typeface="Wingdings" panose="05000000000000000000" pitchFamily="2" charset="2"/>
              </a:rPr>
              <a:t>/</a:t>
            </a:r>
            <a:r>
              <a:rPr lang="ko-KR" altLang="en-US" sz="1400" b="1" dirty="0">
                <a:sym typeface="Wingdings" panose="05000000000000000000" pitchFamily="2" charset="2"/>
              </a:rPr>
              <a:t>우 슬라이딩 구현이 우선 </a:t>
            </a:r>
            <a:r>
              <a:rPr lang="en-US" altLang="ko-KR" sz="1400" b="1" dirty="0">
                <a:sym typeface="Wingdings" panose="05000000000000000000" pitchFamily="2" charset="2"/>
              </a:rPr>
              <a:t>(</a:t>
            </a:r>
            <a:r>
              <a:rPr lang="ko-KR" altLang="en-US" sz="1400" b="1" dirty="0">
                <a:sym typeface="Wingdings" panose="05000000000000000000" pitchFamily="2" charset="2"/>
              </a:rPr>
              <a:t>빨간 세로선 없는 상태</a:t>
            </a:r>
            <a:r>
              <a:rPr lang="en-US" altLang="ko-KR" sz="1400" b="1" dirty="0">
                <a:sym typeface="Wingdings" panose="05000000000000000000" pitchFamily="2" charset="2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sym typeface="Wingdings" panose="05000000000000000000" pitchFamily="2" charset="2"/>
              </a:rPr>
              <a:t>        - </a:t>
            </a:r>
            <a:r>
              <a:rPr lang="ko-KR" altLang="en-US" sz="1400" b="1" dirty="0">
                <a:sym typeface="Wingdings" panose="05000000000000000000" pitchFamily="2" charset="2"/>
              </a:rPr>
              <a:t>손가락 </a:t>
            </a:r>
            <a:r>
              <a:rPr lang="en-US" altLang="ko-KR" sz="1400" b="1" dirty="0">
                <a:sym typeface="Wingdings" panose="05000000000000000000" pitchFamily="2" charset="2"/>
              </a:rPr>
              <a:t>2</a:t>
            </a:r>
            <a:r>
              <a:rPr lang="ko-KR" altLang="en-US" sz="1400" b="1" dirty="0">
                <a:sym typeface="Wingdings" panose="05000000000000000000" pitchFamily="2" charset="2"/>
              </a:rPr>
              <a:t>개는 확대</a:t>
            </a:r>
            <a:r>
              <a:rPr lang="en-US" altLang="ko-KR" sz="1400" b="1" dirty="0">
                <a:sym typeface="Wingdings" panose="05000000000000000000" pitchFamily="2" charset="2"/>
              </a:rPr>
              <a:t>/</a:t>
            </a:r>
            <a:r>
              <a:rPr lang="ko-KR" altLang="en-US" sz="1400" b="1" dirty="0">
                <a:sym typeface="Wingdings" panose="05000000000000000000" pitchFamily="2" charset="2"/>
              </a:rPr>
              <a:t>축소에 사용 </a:t>
            </a:r>
            <a:endParaRPr lang="en-US" altLang="ko-KR" sz="1400" b="1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sym typeface="Wingdings" panose="05000000000000000000" pitchFamily="2" charset="2"/>
              </a:rPr>
              <a:t>4-2. </a:t>
            </a:r>
            <a:r>
              <a:rPr lang="ko-KR" altLang="en-US" sz="1400" b="1" dirty="0">
                <a:sym typeface="Wingdings" panose="05000000000000000000" pitchFamily="2" charset="2"/>
              </a:rPr>
              <a:t>손가락 </a:t>
            </a:r>
            <a:r>
              <a:rPr lang="en-US" altLang="ko-KR" sz="1400" b="1" dirty="0">
                <a:sym typeface="Wingdings" panose="05000000000000000000" pitchFamily="2" charset="2"/>
              </a:rPr>
              <a:t>1</a:t>
            </a:r>
            <a:r>
              <a:rPr lang="ko-KR" altLang="en-US" sz="1400" b="1" dirty="0">
                <a:sym typeface="Wingdings" panose="05000000000000000000" pitchFamily="2" charset="2"/>
              </a:rPr>
              <a:t>개로 데이터 주변 일정영역 터치 시 데이터 표시 </a:t>
            </a:r>
            <a:r>
              <a:rPr lang="en-US" altLang="ko-KR" sz="1400" b="1" dirty="0">
                <a:sym typeface="Wingdings" panose="05000000000000000000" pitchFamily="2" charset="2"/>
              </a:rPr>
              <a:t>(</a:t>
            </a:r>
            <a:r>
              <a:rPr lang="ko-KR" altLang="en-US" sz="1400" b="1" dirty="0">
                <a:sym typeface="Wingdings" panose="05000000000000000000" pitchFamily="2" charset="2"/>
              </a:rPr>
              <a:t>빨간 세로선 생성</a:t>
            </a:r>
            <a:r>
              <a:rPr lang="en-US" altLang="ko-KR" sz="1400" b="1" dirty="0">
                <a:sym typeface="Wingdings" panose="05000000000000000000" pitchFamily="2" charset="2"/>
              </a:rPr>
              <a:t>)</a:t>
            </a:r>
            <a:r>
              <a:rPr lang="ko-KR" altLang="en-US" sz="1400" b="1" dirty="0">
                <a:sym typeface="Wingdings" panose="05000000000000000000" pitchFamily="2" charset="2"/>
              </a:rPr>
              <a:t> </a:t>
            </a:r>
            <a:endParaRPr lang="en-US" altLang="ko-KR" sz="1400" b="1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sym typeface="Wingdings" panose="05000000000000000000" pitchFamily="2" charset="2"/>
              </a:rPr>
              <a:t>         - </a:t>
            </a:r>
            <a:r>
              <a:rPr lang="ko-KR" altLang="en-US" sz="1400" b="1" dirty="0">
                <a:sym typeface="Wingdings" panose="05000000000000000000" pitchFamily="2" charset="2"/>
              </a:rPr>
              <a:t>손가락 </a:t>
            </a:r>
            <a:r>
              <a:rPr lang="en-US" altLang="ko-KR" sz="1400" b="1" dirty="0">
                <a:sym typeface="Wingdings" panose="05000000000000000000" pitchFamily="2" charset="2"/>
              </a:rPr>
              <a:t>1</a:t>
            </a:r>
            <a:r>
              <a:rPr lang="ko-KR" altLang="en-US" sz="1400" b="1" dirty="0">
                <a:sym typeface="Wingdings" panose="05000000000000000000" pitchFamily="2" charset="2"/>
              </a:rPr>
              <a:t>개를 떼어도 데이터 값 표시는 유지됨</a:t>
            </a:r>
            <a:endParaRPr lang="en-US" altLang="ko-KR" sz="1400" b="1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sym typeface="Wingdings" panose="05000000000000000000" pitchFamily="2" charset="2"/>
              </a:rPr>
              <a:t>         - </a:t>
            </a:r>
            <a:r>
              <a:rPr lang="ko-KR" altLang="en-US" sz="1400" b="1" dirty="0">
                <a:sym typeface="Wingdings" panose="05000000000000000000" pitchFamily="2" charset="2"/>
              </a:rPr>
              <a:t>단</a:t>
            </a:r>
            <a:r>
              <a:rPr lang="en-US" altLang="ko-KR" sz="1400" b="1" dirty="0">
                <a:sym typeface="Wingdings" panose="05000000000000000000" pitchFamily="2" charset="2"/>
              </a:rPr>
              <a:t>, </a:t>
            </a:r>
            <a:r>
              <a:rPr lang="ko-KR" altLang="en-US" sz="1400" b="1" dirty="0">
                <a:sym typeface="Wingdings" panose="05000000000000000000" pitchFamily="2" charset="2"/>
              </a:rPr>
              <a:t>데이터 표시상태에서 좌</a:t>
            </a:r>
            <a:r>
              <a:rPr lang="en-US" altLang="ko-KR" sz="1400" b="1" dirty="0">
                <a:sym typeface="Wingdings" panose="05000000000000000000" pitchFamily="2" charset="2"/>
              </a:rPr>
              <a:t>/</a:t>
            </a:r>
            <a:r>
              <a:rPr lang="ko-KR" altLang="en-US" sz="1400" b="1" dirty="0">
                <a:sym typeface="Wingdings" panose="05000000000000000000" pitchFamily="2" charset="2"/>
              </a:rPr>
              <a:t>우 슬라이딩 하면 데이터 표시가 이동함</a:t>
            </a:r>
            <a:endParaRPr lang="en-US" altLang="ko-KR" sz="1400" b="1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endParaRPr lang="en-US" altLang="ko-KR" sz="1400" b="1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sym typeface="Wingdings" panose="05000000000000000000" pitchFamily="2" charset="2"/>
              </a:rPr>
              <a:t>                                                        //  </a:t>
            </a:r>
            <a:r>
              <a:rPr lang="ko-KR" altLang="en-US" sz="1400" b="1" dirty="0">
                <a:sym typeface="Wingdings" panose="05000000000000000000" pitchFamily="2" charset="2"/>
              </a:rPr>
              <a:t>데이터 표시 수정</a:t>
            </a:r>
            <a:r>
              <a:rPr lang="en-US" altLang="ko-KR" sz="1400" b="1" dirty="0">
                <a:sym typeface="Wingdings" panose="05000000000000000000" pitchFamily="2" charset="2"/>
              </a:rPr>
              <a:t>                                                               </a:t>
            </a: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sym typeface="Wingdings" panose="05000000000000000000" pitchFamily="2" charset="2"/>
              </a:rPr>
              <a:t>         </a:t>
            </a: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sym typeface="Wingdings" panose="05000000000000000000" pitchFamily="2" charset="2"/>
              </a:rPr>
              <a:t>         - </a:t>
            </a:r>
            <a:r>
              <a:rPr lang="ko-KR" altLang="en-US" sz="1400" b="1" dirty="0">
                <a:sym typeface="Wingdings" panose="05000000000000000000" pitchFamily="2" charset="2"/>
              </a:rPr>
              <a:t>손가락 </a:t>
            </a:r>
            <a:r>
              <a:rPr lang="en-US" altLang="ko-KR" sz="1400" b="1" dirty="0">
                <a:sym typeface="Wingdings" panose="05000000000000000000" pitchFamily="2" charset="2"/>
              </a:rPr>
              <a:t>1</a:t>
            </a:r>
            <a:r>
              <a:rPr lang="ko-KR" altLang="en-US" sz="1400" b="1" dirty="0">
                <a:sym typeface="Wingdings" panose="05000000000000000000" pitchFamily="2" charset="2"/>
              </a:rPr>
              <a:t>개로 데이터 영역 밖 한번 터치하면 데이터 표시 사라짐 </a:t>
            </a:r>
            <a:endParaRPr lang="en-US" altLang="ko-KR" sz="1400" b="1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sym typeface="Wingdings" panose="05000000000000000000" pitchFamily="2" charset="2"/>
              </a:rPr>
              <a:t>           (</a:t>
            </a:r>
            <a:r>
              <a:rPr lang="ko-KR" altLang="en-US" sz="1400" b="1" dirty="0">
                <a:sym typeface="Wingdings" panose="05000000000000000000" pitchFamily="2" charset="2"/>
              </a:rPr>
              <a:t>빨간 세로선 동시 사라짐</a:t>
            </a:r>
            <a:r>
              <a:rPr lang="en-US" altLang="ko-KR" sz="1400" b="1" dirty="0">
                <a:sym typeface="Wingdings" panose="05000000000000000000" pitchFamily="2" charset="2"/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ko-KR" sz="1400" b="1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sym typeface="Wingdings" panose="05000000000000000000" pitchFamily="2" charset="2"/>
              </a:rPr>
              <a:t>4-3. </a:t>
            </a:r>
            <a:r>
              <a:rPr lang="ko-KR" altLang="en-US" sz="1400" b="1" dirty="0">
                <a:sym typeface="Wingdings" panose="05000000000000000000" pitchFamily="2" charset="2"/>
              </a:rPr>
              <a:t>두꺼운 녹색선은 표시하지 않고 </a:t>
            </a:r>
            <a:r>
              <a:rPr lang="ko-KR" altLang="en-US" sz="1400" b="1" dirty="0" err="1">
                <a:sym typeface="Wingdings" panose="05000000000000000000" pitchFamily="2" charset="2"/>
              </a:rPr>
              <a:t>빨간선만</a:t>
            </a:r>
            <a:r>
              <a:rPr lang="ko-KR" altLang="en-US" sz="1400" b="1" dirty="0">
                <a:sym typeface="Wingdings" panose="05000000000000000000" pitchFamily="2" charset="2"/>
              </a:rPr>
              <a:t> 유지</a:t>
            </a:r>
            <a:endParaRPr lang="en-US" altLang="ko-KR" sz="1400" b="1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sym typeface="Wingdings" panose="05000000000000000000" pitchFamily="2" charset="2"/>
              </a:rPr>
              <a:t>4-4. X-</a:t>
            </a:r>
            <a:r>
              <a:rPr lang="ko-KR" altLang="en-US" sz="1400" b="1" dirty="0">
                <a:sym typeface="Wingdings" panose="05000000000000000000" pitchFamily="2" charset="2"/>
              </a:rPr>
              <a:t>축</a:t>
            </a:r>
            <a:r>
              <a:rPr lang="en-US" altLang="ko-KR" sz="1400" b="1" dirty="0">
                <a:sym typeface="Wingdings" panose="05000000000000000000" pitchFamily="2" charset="2"/>
              </a:rPr>
              <a:t> </a:t>
            </a:r>
            <a:r>
              <a:rPr lang="ko-KR" altLang="en-US" sz="1400" b="1" dirty="0">
                <a:sym typeface="Wingdings" panose="05000000000000000000" pitchFamily="2" charset="2"/>
              </a:rPr>
              <a:t>시간표시를 확대</a:t>
            </a:r>
            <a:r>
              <a:rPr lang="en-US" altLang="ko-KR" sz="1400" b="1" dirty="0">
                <a:sym typeface="Wingdings" panose="05000000000000000000" pitchFamily="2" charset="2"/>
              </a:rPr>
              <a:t>/</a:t>
            </a:r>
            <a:r>
              <a:rPr lang="ko-KR" altLang="en-US" sz="1400" b="1" dirty="0">
                <a:sym typeface="Wingdings" panose="05000000000000000000" pitchFamily="2" charset="2"/>
              </a:rPr>
              <a:t>축소에 따라 다변화 요청</a:t>
            </a:r>
            <a:endParaRPr lang="en-US" altLang="ko-KR" sz="1400" b="1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sym typeface="Wingdings" panose="05000000000000000000" pitchFamily="2" charset="2"/>
              </a:rPr>
              <a:t>        - </a:t>
            </a:r>
            <a:r>
              <a:rPr lang="ko-KR" altLang="en-US" sz="1400" b="1" dirty="0">
                <a:sym typeface="Wingdings" panose="05000000000000000000" pitchFamily="2" charset="2"/>
              </a:rPr>
              <a:t>최대축소 </a:t>
            </a:r>
            <a:r>
              <a:rPr lang="en-US" altLang="ko-KR" sz="1400" b="1" dirty="0">
                <a:sym typeface="Wingdings" panose="05000000000000000000" pitchFamily="2" charset="2"/>
              </a:rPr>
              <a:t>24</a:t>
            </a:r>
            <a:r>
              <a:rPr lang="ko-KR" altLang="en-US" sz="1400" b="1" dirty="0">
                <a:sym typeface="Wingdings" panose="05000000000000000000" pitchFamily="2" charset="2"/>
              </a:rPr>
              <a:t>시간</a:t>
            </a:r>
            <a:r>
              <a:rPr lang="en-US" altLang="ko-KR" sz="1400" b="1" dirty="0">
                <a:sym typeface="Wingdings" panose="05000000000000000000" pitchFamily="2" charset="2"/>
              </a:rPr>
              <a:t> (3</a:t>
            </a:r>
            <a:r>
              <a:rPr lang="ko-KR" altLang="en-US" sz="1400" b="1" dirty="0">
                <a:sym typeface="Wingdings" panose="05000000000000000000" pitchFamily="2" charset="2"/>
              </a:rPr>
              <a:t>시간 간격</a:t>
            </a:r>
            <a:r>
              <a:rPr lang="en-US" altLang="ko-KR" sz="1400" b="1" dirty="0">
                <a:sym typeface="Wingdings" panose="05000000000000000000" pitchFamily="2" charset="2"/>
              </a:rPr>
              <a:t>),  12</a:t>
            </a:r>
            <a:r>
              <a:rPr lang="ko-KR" altLang="en-US" sz="1400" b="1" dirty="0">
                <a:sym typeface="Wingdings" panose="05000000000000000000" pitchFamily="2" charset="2"/>
              </a:rPr>
              <a:t>시간</a:t>
            </a:r>
            <a:r>
              <a:rPr lang="en-US" altLang="ko-KR" sz="1400" b="1" dirty="0">
                <a:sym typeface="Wingdings" panose="05000000000000000000" pitchFamily="2" charset="2"/>
              </a:rPr>
              <a:t>(3</a:t>
            </a:r>
            <a:r>
              <a:rPr lang="ko-KR" altLang="en-US" sz="1400" b="1" dirty="0">
                <a:sym typeface="Wingdings" panose="05000000000000000000" pitchFamily="2" charset="2"/>
              </a:rPr>
              <a:t>시간 간격</a:t>
            </a:r>
            <a:r>
              <a:rPr lang="en-US" altLang="ko-KR" sz="1400" b="1" dirty="0">
                <a:sym typeface="Wingdings" panose="05000000000000000000" pitchFamily="2" charset="2"/>
              </a:rPr>
              <a:t>),</a:t>
            </a: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sym typeface="Wingdings" panose="05000000000000000000" pitchFamily="2" charset="2"/>
              </a:rPr>
              <a:t>        - </a:t>
            </a:r>
            <a:r>
              <a:rPr lang="ko-KR" altLang="en-US" sz="1400" b="1" dirty="0">
                <a:sym typeface="Wingdings" panose="05000000000000000000" pitchFamily="2" charset="2"/>
              </a:rPr>
              <a:t>최대확대는 </a:t>
            </a:r>
            <a:r>
              <a:rPr lang="en-US" altLang="ko-KR" sz="1400" b="1" dirty="0">
                <a:sym typeface="Wingdings" panose="05000000000000000000" pitchFamily="2" charset="2"/>
              </a:rPr>
              <a:t>3</a:t>
            </a:r>
            <a:r>
              <a:rPr lang="ko-KR" altLang="en-US" sz="1400" b="1" dirty="0">
                <a:sym typeface="Wingdings" panose="05000000000000000000" pitchFamily="2" charset="2"/>
              </a:rPr>
              <a:t>시간</a:t>
            </a:r>
            <a:r>
              <a:rPr lang="en-US" altLang="ko-KR" sz="1400" b="1" dirty="0">
                <a:sym typeface="Wingdings" panose="05000000000000000000" pitchFamily="2" charset="2"/>
              </a:rPr>
              <a:t>(1</a:t>
            </a:r>
            <a:r>
              <a:rPr lang="ko-KR" altLang="en-US" sz="1400" b="1" dirty="0">
                <a:sym typeface="Wingdings" panose="05000000000000000000" pitchFamily="2" charset="2"/>
              </a:rPr>
              <a:t>시간 간격</a:t>
            </a:r>
            <a:r>
              <a:rPr lang="en-US" altLang="ko-KR" sz="1400" b="1" dirty="0">
                <a:sym typeface="Wingdings" panose="05000000000000000000" pitchFamily="2" charset="2"/>
              </a:rPr>
              <a:t>),</a:t>
            </a:r>
            <a:r>
              <a:rPr lang="ko-KR" altLang="en-US" sz="1400" b="1" dirty="0">
                <a:sym typeface="Wingdings" panose="05000000000000000000" pitchFamily="2" charset="2"/>
              </a:rPr>
              <a:t> </a:t>
            </a:r>
            <a:r>
              <a:rPr lang="en-US" altLang="ko-KR" sz="1400" b="1" dirty="0">
                <a:sym typeface="Wingdings" panose="05000000000000000000" pitchFamily="2" charset="2"/>
              </a:rPr>
              <a:t>6</a:t>
            </a:r>
            <a:r>
              <a:rPr lang="ko-KR" altLang="en-US" sz="1400" b="1" dirty="0">
                <a:sym typeface="Wingdings" panose="05000000000000000000" pitchFamily="2" charset="2"/>
              </a:rPr>
              <a:t>시간</a:t>
            </a:r>
            <a:r>
              <a:rPr lang="en-US" altLang="ko-KR" sz="1400" b="1" dirty="0">
                <a:sym typeface="Wingdings" panose="05000000000000000000" pitchFamily="2" charset="2"/>
              </a:rPr>
              <a:t>(1</a:t>
            </a:r>
            <a:r>
              <a:rPr lang="ko-KR" altLang="en-US" sz="1400" b="1" dirty="0">
                <a:sym typeface="Wingdings" panose="05000000000000000000" pitchFamily="2" charset="2"/>
              </a:rPr>
              <a:t>시간 간격</a:t>
            </a:r>
            <a:r>
              <a:rPr lang="en-US" altLang="ko-KR" sz="1400" b="1" dirty="0">
                <a:sym typeface="Wingdings" panose="05000000000000000000" pitchFamily="2" charset="2"/>
              </a:rPr>
              <a:t>)       </a:t>
            </a:r>
            <a:r>
              <a:rPr lang="ko-KR" altLang="en-US" sz="1400" b="1" dirty="0">
                <a:sym typeface="Wingdings" panose="05000000000000000000" pitchFamily="2" charset="2"/>
              </a:rPr>
              <a:t>  </a:t>
            </a:r>
            <a:endParaRPr lang="en-US" altLang="ko-KR" sz="1400" b="1" dirty="0">
              <a:sym typeface="Wingdings" panose="05000000000000000000" pitchFamily="2" charset="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924D98-DC75-1E89-6914-FE98A3C64280}"/>
              </a:ext>
            </a:extLst>
          </p:cNvPr>
          <p:cNvSpPr txBox="1"/>
          <p:nvPr/>
        </p:nvSpPr>
        <p:spPr>
          <a:xfrm>
            <a:off x="1335906" y="3688811"/>
            <a:ext cx="4354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4-2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E4EE871-C63B-6A77-74D4-96D686ABC83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0217" t="47055" r="40217" b="44603"/>
          <a:stretch>
            <a:fillRect/>
          </a:stretch>
        </p:blipFill>
        <p:spPr>
          <a:xfrm rot="16200000">
            <a:off x="5021180" y="2948612"/>
            <a:ext cx="715468" cy="663186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DBF746A6-0640-EAE7-C4EE-0E5FBE213C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1069" y="2934649"/>
            <a:ext cx="849077" cy="691109"/>
          </a:xfrm>
          <a:prstGeom prst="rect">
            <a:avLst/>
          </a:prstGeom>
        </p:spPr>
      </p:pic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96FFE026-363C-1423-79D0-E11F782CA9A1}"/>
              </a:ext>
            </a:extLst>
          </p:cNvPr>
          <p:cNvCxnSpPr>
            <a:cxnSpLocks/>
            <a:stCxn id="14" idx="3"/>
            <a:endCxn id="11" idx="0"/>
          </p:cNvCxnSpPr>
          <p:nvPr/>
        </p:nvCxnSpPr>
        <p:spPr>
          <a:xfrm>
            <a:off x="4870146" y="3280204"/>
            <a:ext cx="17717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E1D275FE-B32F-0EF7-7B56-139DA9813785}"/>
              </a:ext>
            </a:extLst>
          </p:cNvPr>
          <p:cNvSpPr txBox="1"/>
          <p:nvPr/>
        </p:nvSpPr>
        <p:spPr>
          <a:xfrm>
            <a:off x="1771334" y="3988948"/>
            <a:ext cx="4354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4-3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373F01C0-14F4-AE7E-9DBD-4737739111CF}"/>
              </a:ext>
            </a:extLst>
          </p:cNvPr>
          <p:cNvSpPr/>
          <p:nvPr/>
        </p:nvSpPr>
        <p:spPr>
          <a:xfrm>
            <a:off x="721298" y="4439886"/>
            <a:ext cx="1922219" cy="201905"/>
          </a:xfrm>
          <a:prstGeom prst="roundRect">
            <a:avLst>
              <a:gd name="adj" fmla="val 6984"/>
            </a:avLst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C7ED5CF-395E-F582-CBC0-DFB134292491}"/>
              </a:ext>
            </a:extLst>
          </p:cNvPr>
          <p:cNvSpPr txBox="1"/>
          <p:nvPr/>
        </p:nvSpPr>
        <p:spPr>
          <a:xfrm>
            <a:off x="2660957" y="4510986"/>
            <a:ext cx="4354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4-4</a:t>
            </a:r>
          </a:p>
        </p:txBody>
      </p:sp>
    </p:spTree>
    <p:extLst>
      <p:ext uri="{BB962C8B-B14F-4D97-AF65-F5344CB8AC3E}">
        <p14:creationId xmlns:p14="http://schemas.microsoft.com/office/powerpoint/2010/main" val="5813054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F4F52-6A1A-6DEA-B49A-1377181F7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0137C4C-3756-9819-827D-D7349695D9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57" y="1258388"/>
            <a:ext cx="2640885" cy="5215080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B0F912DA-842A-62CB-0104-84942978FAFE}"/>
              </a:ext>
            </a:extLst>
          </p:cNvPr>
          <p:cNvSpPr/>
          <p:nvPr/>
        </p:nvSpPr>
        <p:spPr>
          <a:xfrm>
            <a:off x="8523798" y="222637"/>
            <a:ext cx="1041621" cy="5883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8AFC0E8-489A-9387-B570-34BA5A57393E}"/>
              </a:ext>
            </a:extLst>
          </p:cNvPr>
          <p:cNvSpPr/>
          <p:nvPr/>
        </p:nvSpPr>
        <p:spPr>
          <a:xfrm>
            <a:off x="8523798" y="222637"/>
            <a:ext cx="1041621" cy="5883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86B7C4D-A0E6-7292-3AA3-41F015A0E48F}"/>
              </a:ext>
            </a:extLst>
          </p:cNvPr>
          <p:cNvSpPr/>
          <p:nvPr/>
        </p:nvSpPr>
        <p:spPr>
          <a:xfrm>
            <a:off x="7036905" y="6577971"/>
            <a:ext cx="2664000" cy="1334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EMPECS Medical Device Co., Ltd. All Rights reserved.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pic>
        <p:nvPicPr>
          <p:cNvPr id="22" name="Picture 2">
            <a:extLst>
              <a:ext uri="{FF2B5EF4-FFF2-40B4-BE49-F238E27FC236}">
                <a16:creationId xmlns:a16="http://schemas.microsoft.com/office/drawing/2014/main" id="{32FF4269-F3DE-C2B1-814B-4590C404C65B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3798" y="157298"/>
            <a:ext cx="998995" cy="65373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FF973EC1-B291-7010-8339-5A1FE4E7885F}"/>
              </a:ext>
            </a:extLst>
          </p:cNvPr>
          <p:cNvSpPr txBox="1"/>
          <p:nvPr/>
        </p:nvSpPr>
        <p:spPr>
          <a:xfrm>
            <a:off x="191459" y="221907"/>
            <a:ext cx="9523081" cy="3738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latin typeface="맑은 고딕"/>
                <a:ea typeface="맑은 고딕"/>
              </a:rPr>
              <a:t>▣ </a:t>
            </a:r>
            <a:r>
              <a:rPr lang="en-US" altLang="ko-KR" sz="1400" b="1" dirty="0">
                <a:latin typeface="맑은 고딕"/>
                <a:ea typeface="맑은 고딕"/>
              </a:rPr>
              <a:t>App</a:t>
            </a:r>
            <a:r>
              <a:rPr lang="ko-KR" altLang="en-US" sz="1400" b="1" dirty="0">
                <a:latin typeface="맑은 고딕"/>
                <a:ea typeface="맑은 고딕"/>
              </a:rPr>
              <a:t> 화면 수정요청</a:t>
            </a:r>
            <a:endParaRPr lang="en-US" altLang="ko-KR" sz="1400" b="1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E6B56F7-F4F2-571D-44D0-1941DFA82ABD}"/>
              </a:ext>
            </a:extLst>
          </p:cNvPr>
          <p:cNvSpPr txBox="1"/>
          <p:nvPr/>
        </p:nvSpPr>
        <p:spPr>
          <a:xfrm>
            <a:off x="191459" y="856742"/>
            <a:ext cx="18822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트렌드 화면</a:t>
            </a:r>
            <a:r>
              <a:rPr lang="en-US" altLang="ko-KR" sz="1600" b="1" dirty="0"/>
              <a:t>(05)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F7A1E271-53EE-6A9B-F8DA-DC5D22E8C36B}"/>
              </a:ext>
            </a:extLst>
          </p:cNvPr>
          <p:cNvSpPr/>
          <p:nvPr/>
        </p:nvSpPr>
        <p:spPr>
          <a:xfrm>
            <a:off x="402859" y="1456246"/>
            <a:ext cx="2738570" cy="3699228"/>
          </a:xfrm>
          <a:prstGeom prst="roundRect">
            <a:avLst>
              <a:gd name="adj" fmla="val 7707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E0A307-373B-75C5-CDBE-37EE03F9362A}"/>
              </a:ext>
            </a:extLst>
          </p:cNvPr>
          <p:cNvSpPr txBox="1"/>
          <p:nvPr/>
        </p:nvSpPr>
        <p:spPr>
          <a:xfrm>
            <a:off x="2259152" y="1567543"/>
            <a:ext cx="4354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5-1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3C96FE-B190-75A7-1300-1D92ADD5606E}"/>
              </a:ext>
            </a:extLst>
          </p:cNvPr>
          <p:cNvSpPr txBox="1"/>
          <p:nvPr/>
        </p:nvSpPr>
        <p:spPr>
          <a:xfrm>
            <a:off x="3520638" y="887146"/>
            <a:ext cx="5888958" cy="16730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5. </a:t>
            </a:r>
            <a:r>
              <a:rPr lang="ko-KR" altLang="en-US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트렌드 화면</a:t>
            </a:r>
            <a:endParaRPr lang="en-US" altLang="ko-KR" sz="1400" b="1" dirty="0">
              <a:highlight>
                <a:srgbClr val="00FF00"/>
              </a:highlight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5-1. </a:t>
            </a:r>
            <a:r>
              <a:rPr lang="ko-KR" altLang="en-US" sz="1400" b="1" dirty="0" err="1">
                <a:highlight>
                  <a:srgbClr val="00FF00"/>
                </a:highlight>
                <a:sym typeface="Wingdings" panose="05000000000000000000" pitchFamily="2" charset="2"/>
              </a:rPr>
              <a:t>드롭메뉴</a:t>
            </a:r>
            <a:r>
              <a:rPr lang="en-US" altLang="ko-KR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(3h,</a:t>
            </a:r>
            <a:r>
              <a:rPr lang="ko-KR" altLang="en-US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 </a:t>
            </a:r>
            <a:r>
              <a:rPr lang="en-US" altLang="ko-KR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6h,</a:t>
            </a:r>
            <a:r>
              <a:rPr lang="ko-KR" altLang="en-US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 </a:t>
            </a:r>
            <a:r>
              <a:rPr lang="en-US" altLang="ko-KR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12h, 24h)</a:t>
            </a:r>
            <a:r>
              <a:rPr lang="ko-KR" altLang="en-US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를  아래처럼 가로배열 터치 메뉴로 변경</a:t>
            </a:r>
            <a:endParaRPr lang="en-US" altLang="ko-KR" sz="1400" b="1" dirty="0">
              <a:highlight>
                <a:srgbClr val="00FF00"/>
              </a:highlight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                                                                                   (</a:t>
            </a:r>
            <a:r>
              <a:rPr lang="ko-KR" altLang="en-US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예시</a:t>
            </a:r>
            <a:r>
              <a:rPr lang="en-US" altLang="ko-KR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5-2. </a:t>
            </a:r>
            <a:r>
              <a:rPr lang="ko-KR" altLang="en-US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그래프관련 수정사항반영 </a:t>
            </a:r>
            <a:r>
              <a:rPr lang="en-US" altLang="ko-KR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(2-1. ~ 2-6.)</a:t>
            </a: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5-3. Trend(TG_01_01) </a:t>
            </a:r>
            <a:r>
              <a:rPr lang="ko-KR" altLang="en-US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그래프의 가로모드 전환 아이콘 추가</a:t>
            </a:r>
            <a:r>
              <a:rPr lang="en-US" altLang="ko-KR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                                                                          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86F9326-CDE5-F28D-6397-098B7C305E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0152" y="1567543"/>
            <a:ext cx="2376112" cy="32433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3EC7D1E-71F1-1AD3-8385-7E0B00A45063}"/>
              </a:ext>
            </a:extLst>
          </p:cNvPr>
          <p:cNvSpPr txBox="1"/>
          <p:nvPr/>
        </p:nvSpPr>
        <p:spPr>
          <a:xfrm>
            <a:off x="812276" y="1646096"/>
            <a:ext cx="4354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5-2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3C5B1EB-CDEE-5724-E8D3-58682207A23E}"/>
              </a:ext>
            </a:extLst>
          </p:cNvPr>
          <p:cNvSpPr txBox="1"/>
          <p:nvPr/>
        </p:nvSpPr>
        <p:spPr>
          <a:xfrm>
            <a:off x="5779838" y="3815938"/>
            <a:ext cx="14744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가로모드 전환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99CD59B0-3A5C-E90A-C123-7F0EB5FF8B1D}"/>
              </a:ext>
            </a:extLst>
          </p:cNvPr>
          <p:cNvSpPr/>
          <p:nvPr/>
        </p:nvSpPr>
        <p:spPr>
          <a:xfrm>
            <a:off x="2331819" y="1872651"/>
            <a:ext cx="362778" cy="217452"/>
          </a:xfrm>
          <a:prstGeom prst="roundRect">
            <a:avLst>
              <a:gd name="adj" fmla="val 6984"/>
            </a:avLst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E16D0E9-174B-5C62-92F3-38571F4FFDAA}"/>
              </a:ext>
            </a:extLst>
          </p:cNvPr>
          <p:cNvSpPr txBox="1"/>
          <p:nvPr/>
        </p:nvSpPr>
        <p:spPr>
          <a:xfrm>
            <a:off x="2331819" y="1872651"/>
            <a:ext cx="4354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5-3</a:t>
            </a: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AA06C59D-3B87-0C4B-ED20-A42F19DB35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7129" y="2563314"/>
            <a:ext cx="1565299" cy="306977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E0A7B399-3265-C242-7F8D-0406C1A710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6045" y="4326123"/>
            <a:ext cx="4654860" cy="2147345"/>
          </a:xfrm>
          <a:prstGeom prst="rect">
            <a:avLst/>
          </a:prstGeo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08F3178-636C-5B01-17C0-71C4E26C5569}"/>
              </a:ext>
            </a:extLst>
          </p:cNvPr>
          <p:cNvSpPr/>
          <p:nvPr/>
        </p:nvSpPr>
        <p:spPr>
          <a:xfrm>
            <a:off x="5172891" y="3017722"/>
            <a:ext cx="242008" cy="266622"/>
          </a:xfrm>
          <a:prstGeom prst="roundRect">
            <a:avLst>
              <a:gd name="adj" fmla="val 6984"/>
            </a:avLst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8" name="화살표: 굽음 17">
            <a:extLst>
              <a:ext uri="{FF2B5EF4-FFF2-40B4-BE49-F238E27FC236}">
                <a16:creationId xmlns:a16="http://schemas.microsoft.com/office/drawing/2014/main" id="{2FD05A6C-B8C4-9C33-569F-B97C4894A05F}"/>
              </a:ext>
            </a:extLst>
          </p:cNvPr>
          <p:cNvSpPr/>
          <p:nvPr/>
        </p:nvSpPr>
        <p:spPr>
          <a:xfrm rot="5400000">
            <a:off x="4912826" y="3668661"/>
            <a:ext cx="1481818" cy="362778"/>
          </a:xfrm>
          <a:prstGeom prst="bentArrow">
            <a:avLst>
              <a:gd name="adj1" fmla="val 25000"/>
              <a:gd name="adj2" fmla="val 31860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5D6C7C5-AEC2-9BB6-5F4D-970371C02E0B}"/>
              </a:ext>
            </a:extLst>
          </p:cNvPr>
          <p:cNvSpPr txBox="1"/>
          <p:nvPr/>
        </p:nvSpPr>
        <p:spPr>
          <a:xfrm>
            <a:off x="6037063" y="2966373"/>
            <a:ext cx="7011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(</a:t>
            </a:r>
            <a:r>
              <a:rPr lang="ko-KR" altLang="en-US" sz="1400" dirty="0"/>
              <a:t>예시</a:t>
            </a:r>
            <a:r>
              <a:rPr lang="en-US" altLang="ko-KR" sz="1400" dirty="0"/>
              <a:t>) 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6019482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F182E-0216-5AC1-6C40-CEB08645D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0FA03492-A938-4A07-4F5E-149C022D70B6}"/>
              </a:ext>
            </a:extLst>
          </p:cNvPr>
          <p:cNvSpPr/>
          <p:nvPr/>
        </p:nvSpPr>
        <p:spPr>
          <a:xfrm>
            <a:off x="8523798" y="222637"/>
            <a:ext cx="1041621" cy="5883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70B52AD-02D3-8D63-76CD-CC4003836D4F}"/>
              </a:ext>
            </a:extLst>
          </p:cNvPr>
          <p:cNvSpPr/>
          <p:nvPr/>
        </p:nvSpPr>
        <p:spPr>
          <a:xfrm>
            <a:off x="8523798" y="222637"/>
            <a:ext cx="1041621" cy="5883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6EA05C5-24FC-0A7B-1B5D-44AEC5BB32BD}"/>
              </a:ext>
            </a:extLst>
          </p:cNvPr>
          <p:cNvSpPr/>
          <p:nvPr/>
        </p:nvSpPr>
        <p:spPr>
          <a:xfrm>
            <a:off x="7036905" y="6577971"/>
            <a:ext cx="2664000" cy="1334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EMPECS Medical Device Co., Ltd. All Rights reserved.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pic>
        <p:nvPicPr>
          <p:cNvPr id="22" name="Picture 2">
            <a:extLst>
              <a:ext uri="{FF2B5EF4-FFF2-40B4-BE49-F238E27FC236}">
                <a16:creationId xmlns:a16="http://schemas.microsoft.com/office/drawing/2014/main" id="{E046C7FD-ECCC-3604-F173-EA576BA4F4C7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3798" y="157298"/>
            <a:ext cx="998995" cy="65373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B7B0EE63-94DD-D36B-319A-DEC782F7DF14}"/>
              </a:ext>
            </a:extLst>
          </p:cNvPr>
          <p:cNvSpPr txBox="1"/>
          <p:nvPr/>
        </p:nvSpPr>
        <p:spPr>
          <a:xfrm>
            <a:off x="191459" y="221907"/>
            <a:ext cx="9523081" cy="3738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latin typeface="맑은 고딕"/>
                <a:ea typeface="맑은 고딕"/>
              </a:rPr>
              <a:t>▣ </a:t>
            </a:r>
            <a:r>
              <a:rPr lang="en-US" altLang="ko-KR" sz="1400" b="1" dirty="0">
                <a:latin typeface="맑은 고딕"/>
                <a:ea typeface="맑은 고딕"/>
              </a:rPr>
              <a:t>App</a:t>
            </a:r>
            <a:r>
              <a:rPr lang="ko-KR" altLang="en-US" sz="1400" b="1" dirty="0">
                <a:latin typeface="맑은 고딕"/>
                <a:ea typeface="맑은 고딕"/>
              </a:rPr>
              <a:t> 화면 수정요청</a:t>
            </a:r>
            <a:endParaRPr lang="en-US" altLang="ko-KR" sz="1400" b="1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AC49F4B-1F55-B7E8-84E1-09D061081761}"/>
              </a:ext>
            </a:extLst>
          </p:cNvPr>
          <p:cNvSpPr txBox="1"/>
          <p:nvPr/>
        </p:nvSpPr>
        <p:spPr>
          <a:xfrm>
            <a:off x="191459" y="856742"/>
            <a:ext cx="18822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트렌드 화면</a:t>
            </a:r>
            <a:r>
              <a:rPr lang="en-US" altLang="ko-KR" sz="1600" b="1" dirty="0"/>
              <a:t>(05)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BB3BCE4-FE6F-BF11-AE48-22BCA968E6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269" y="1456246"/>
            <a:ext cx="2880994" cy="4608206"/>
          </a:xfrm>
          <a:prstGeom prst="rect">
            <a:avLst/>
          </a:prstGeom>
        </p:spPr>
      </p:pic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743FD5E4-0552-6363-DBD8-A721D4719A77}"/>
              </a:ext>
            </a:extLst>
          </p:cNvPr>
          <p:cNvSpPr/>
          <p:nvPr/>
        </p:nvSpPr>
        <p:spPr>
          <a:xfrm>
            <a:off x="431948" y="1540749"/>
            <a:ext cx="2880994" cy="1731091"/>
          </a:xfrm>
          <a:prstGeom prst="roundRect">
            <a:avLst>
              <a:gd name="adj" fmla="val 7707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966A436-D5B9-465D-B5B0-81791E7D5C2B}"/>
              </a:ext>
            </a:extLst>
          </p:cNvPr>
          <p:cNvSpPr txBox="1"/>
          <p:nvPr/>
        </p:nvSpPr>
        <p:spPr>
          <a:xfrm>
            <a:off x="1372216" y="2111535"/>
            <a:ext cx="4354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5-4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71E29-CCE1-F75C-4A62-66942414D2D7}"/>
              </a:ext>
            </a:extLst>
          </p:cNvPr>
          <p:cNvSpPr txBox="1"/>
          <p:nvPr/>
        </p:nvSpPr>
        <p:spPr>
          <a:xfrm>
            <a:off x="3520638" y="887146"/>
            <a:ext cx="5888958" cy="167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>
                <a:sym typeface="Wingdings" panose="05000000000000000000" pitchFamily="2" charset="2"/>
              </a:rPr>
              <a:t>5. </a:t>
            </a:r>
            <a:r>
              <a:rPr lang="ko-KR" altLang="en-US" sz="1400" b="1" dirty="0">
                <a:sym typeface="Wingdings" panose="05000000000000000000" pitchFamily="2" charset="2"/>
              </a:rPr>
              <a:t>트렌드 화면 </a:t>
            </a:r>
            <a:r>
              <a:rPr lang="en-US" altLang="ko-KR" sz="1400" b="1" dirty="0">
                <a:sym typeface="Wingdings" panose="05000000000000000000" pitchFamily="2" charset="2"/>
              </a:rPr>
              <a:t>(</a:t>
            </a:r>
            <a:r>
              <a:rPr lang="ko-KR" altLang="en-US" sz="1400" b="1" dirty="0">
                <a:sym typeface="Wingdings" panose="05000000000000000000" pitchFamily="2" charset="2"/>
              </a:rPr>
              <a:t>계속</a:t>
            </a:r>
            <a:r>
              <a:rPr lang="en-US" altLang="ko-KR" sz="1400" b="1" dirty="0">
                <a:sym typeface="Wingdings" panose="05000000000000000000" pitchFamily="2" charset="2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sym typeface="Wingdings" panose="05000000000000000000" pitchFamily="2" charset="2"/>
              </a:rPr>
              <a:t>5-4. </a:t>
            </a:r>
            <a:r>
              <a:rPr lang="ko-KR" altLang="en-US" sz="1400" b="1" dirty="0">
                <a:sym typeface="Wingdings" panose="05000000000000000000" pitchFamily="2" charset="2"/>
              </a:rPr>
              <a:t>트렌드 화면은 메인 화면의 그래프 속성을 따릅니다</a:t>
            </a:r>
            <a:r>
              <a:rPr lang="en-US" altLang="ko-KR" sz="1400" b="1" dirty="0">
                <a:sym typeface="Wingdings" panose="05000000000000000000" pitchFamily="2" charset="2"/>
              </a:rPr>
              <a:t>. (4-1~4-4)</a:t>
            </a: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sym typeface="Wingdings" panose="05000000000000000000" pitchFamily="2" charset="2"/>
              </a:rPr>
              <a:t>5-5. </a:t>
            </a:r>
            <a:r>
              <a:rPr lang="ko-KR" altLang="en-US" sz="1400" b="1" dirty="0">
                <a:sym typeface="Wingdings" panose="05000000000000000000" pitchFamily="2" charset="2"/>
              </a:rPr>
              <a:t>데이터 주변 터치 시 터치 범위할당 </a:t>
            </a:r>
            <a:r>
              <a:rPr lang="en-US" altLang="ko-KR" sz="1400" b="1" dirty="0">
                <a:sym typeface="Wingdings" panose="05000000000000000000" pitchFamily="2" charset="2"/>
              </a:rPr>
              <a:t>(</a:t>
            </a:r>
            <a:r>
              <a:rPr lang="ko-KR" altLang="en-US" sz="1400" b="1" dirty="0">
                <a:sym typeface="Wingdings" panose="05000000000000000000" pitchFamily="2" charset="2"/>
              </a:rPr>
              <a:t> </a:t>
            </a:r>
            <a:r>
              <a:rPr lang="en-US" altLang="ko-KR" sz="1400" b="1" dirty="0">
                <a:sym typeface="Wingdings" panose="05000000000000000000" pitchFamily="2" charset="2"/>
              </a:rPr>
              <a:t>Y</a:t>
            </a:r>
            <a:r>
              <a:rPr lang="ko-KR" altLang="en-US" sz="1400" b="1" dirty="0">
                <a:sym typeface="Wingdings" panose="05000000000000000000" pitchFamily="2" charset="2"/>
              </a:rPr>
              <a:t>값 상하로 범위적용</a:t>
            </a:r>
            <a:r>
              <a:rPr lang="en-US" altLang="ko-KR" sz="1400" b="1" dirty="0">
                <a:sym typeface="Wingdings" panose="05000000000000000000" pitchFamily="2" charset="2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sym typeface="Wingdings" panose="05000000000000000000" pitchFamily="2" charset="2"/>
              </a:rPr>
              <a:t>        - </a:t>
            </a:r>
            <a:r>
              <a:rPr lang="ko-KR" altLang="en-US" sz="1400" b="1" dirty="0" err="1">
                <a:sym typeface="Wingdings" panose="05000000000000000000" pitchFamily="2" charset="2"/>
              </a:rPr>
              <a:t>홈화면</a:t>
            </a:r>
            <a:r>
              <a:rPr lang="ko-KR" altLang="en-US" sz="1400" b="1" dirty="0">
                <a:sym typeface="Wingdings" panose="05000000000000000000" pitchFamily="2" charset="2"/>
              </a:rPr>
              <a:t> 그래프</a:t>
            </a:r>
            <a:r>
              <a:rPr lang="en-US" altLang="ko-KR" sz="1400" b="1" dirty="0">
                <a:sym typeface="Wingdings" panose="05000000000000000000" pitchFamily="2" charset="2"/>
              </a:rPr>
              <a:t>, </a:t>
            </a:r>
            <a:r>
              <a:rPr lang="ko-KR" altLang="en-US" sz="1400" b="1" dirty="0">
                <a:sym typeface="Wingdings" panose="05000000000000000000" pitchFamily="2" charset="2"/>
              </a:rPr>
              <a:t>가로모드 그래프에도 적용 됨</a:t>
            </a:r>
            <a:endParaRPr lang="en-US" altLang="ko-KR" sz="1400" b="1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endParaRPr lang="en-US" altLang="ko-KR" sz="1400" b="1" dirty="0">
              <a:sym typeface="Wingdings" panose="05000000000000000000" pitchFamily="2" charset="2"/>
            </a:endParaRP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B0D336C6-A74E-8B1C-998F-42CF3747C2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2475" y="2385657"/>
            <a:ext cx="3269603" cy="1452624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24370C3D-B83B-519D-10F7-FC4C23079F64}"/>
              </a:ext>
            </a:extLst>
          </p:cNvPr>
          <p:cNvSpPr txBox="1"/>
          <p:nvPr/>
        </p:nvSpPr>
        <p:spPr>
          <a:xfrm>
            <a:off x="2747911" y="2361708"/>
            <a:ext cx="4354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5-5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DC1C8CAB-9054-24CD-69C4-2AC0EA5CC4FD}"/>
              </a:ext>
            </a:extLst>
          </p:cNvPr>
          <p:cNvSpPr/>
          <p:nvPr/>
        </p:nvSpPr>
        <p:spPr>
          <a:xfrm>
            <a:off x="714103" y="2566951"/>
            <a:ext cx="2394858" cy="185456"/>
          </a:xfrm>
          <a:prstGeom prst="roundRect">
            <a:avLst>
              <a:gd name="adj" fmla="val 6984"/>
            </a:avLst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55128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523B7-6373-1287-FCD9-BABA6C434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38B5912-27BE-BFFA-D93A-45FDA00C45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246155" y="2424820"/>
            <a:ext cx="3043761" cy="4868559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C49F81A8-F31D-46A4-F48C-3A033FB9F49C}"/>
              </a:ext>
            </a:extLst>
          </p:cNvPr>
          <p:cNvSpPr/>
          <p:nvPr/>
        </p:nvSpPr>
        <p:spPr>
          <a:xfrm>
            <a:off x="8523798" y="222637"/>
            <a:ext cx="1041621" cy="5883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BB55E2E-9256-664B-55F9-72C9D2BDA236}"/>
              </a:ext>
            </a:extLst>
          </p:cNvPr>
          <p:cNvSpPr/>
          <p:nvPr/>
        </p:nvSpPr>
        <p:spPr>
          <a:xfrm>
            <a:off x="8523798" y="222637"/>
            <a:ext cx="1041621" cy="5883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22B4624-2B93-757C-68ED-FC352A4B2B5C}"/>
              </a:ext>
            </a:extLst>
          </p:cNvPr>
          <p:cNvSpPr/>
          <p:nvPr/>
        </p:nvSpPr>
        <p:spPr>
          <a:xfrm>
            <a:off x="7036905" y="6577971"/>
            <a:ext cx="2664000" cy="1334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EMPECS Medical Device Co., Ltd. All Rights reserved.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pic>
        <p:nvPicPr>
          <p:cNvPr id="22" name="Picture 2">
            <a:extLst>
              <a:ext uri="{FF2B5EF4-FFF2-40B4-BE49-F238E27FC236}">
                <a16:creationId xmlns:a16="http://schemas.microsoft.com/office/drawing/2014/main" id="{DBCC1C5D-64DF-D05A-484D-CC6D05AEE012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3798" y="157298"/>
            <a:ext cx="998995" cy="65373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AFAD2272-5040-3913-4FA2-5061A5329875}"/>
              </a:ext>
            </a:extLst>
          </p:cNvPr>
          <p:cNvSpPr txBox="1"/>
          <p:nvPr/>
        </p:nvSpPr>
        <p:spPr>
          <a:xfrm>
            <a:off x="191459" y="221907"/>
            <a:ext cx="9523081" cy="3738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latin typeface="맑은 고딕"/>
                <a:ea typeface="맑은 고딕"/>
              </a:rPr>
              <a:t>▣ </a:t>
            </a:r>
            <a:r>
              <a:rPr lang="en-US" altLang="ko-KR" sz="1400" b="1" dirty="0">
                <a:latin typeface="맑은 고딕"/>
                <a:ea typeface="맑은 고딕"/>
              </a:rPr>
              <a:t>App</a:t>
            </a:r>
            <a:r>
              <a:rPr lang="ko-KR" altLang="en-US" sz="1400" b="1" dirty="0">
                <a:latin typeface="맑은 고딕"/>
                <a:ea typeface="맑은 고딕"/>
              </a:rPr>
              <a:t> 화면 수정요청</a:t>
            </a:r>
            <a:endParaRPr lang="en-US" altLang="ko-KR" sz="1400" b="1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BFED1F7-B961-B3CA-D9D0-BDEAED0FC8AB}"/>
              </a:ext>
            </a:extLst>
          </p:cNvPr>
          <p:cNvSpPr txBox="1"/>
          <p:nvPr/>
        </p:nvSpPr>
        <p:spPr>
          <a:xfrm>
            <a:off x="191459" y="856742"/>
            <a:ext cx="18822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트렌드 화면</a:t>
            </a:r>
            <a:r>
              <a:rPr lang="en-US" altLang="ko-KR" sz="1600" b="1" dirty="0"/>
              <a:t>(05)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8F9CBFD4-EB83-9F51-3BE5-7F2F45CF4ADB}"/>
              </a:ext>
            </a:extLst>
          </p:cNvPr>
          <p:cNvSpPr/>
          <p:nvPr/>
        </p:nvSpPr>
        <p:spPr>
          <a:xfrm>
            <a:off x="191460" y="3208231"/>
            <a:ext cx="4673503" cy="3279654"/>
          </a:xfrm>
          <a:prstGeom prst="roundRect">
            <a:avLst>
              <a:gd name="adj" fmla="val 7707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93B180-88C2-56DD-8085-807EA9A467A8}"/>
              </a:ext>
            </a:extLst>
          </p:cNvPr>
          <p:cNvSpPr txBox="1"/>
          <p:nvPr/>
        </p:nvSpPr>
        <p:spPr>
          <a:xfrm>
            <a:off x="3520638" y="887146"/>
            <a:ext cx="5888958" cy="2321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>
                <a:sym typeface="Wingdings" panose="05000000000000000000" pitchFamily="2" charset="2"/>
              </a:rPr>
              <a:t>5. </a:t>
            </a:r>
            <a:r>
              <a:rPr lang="ko-KR" altLang="en-US" sz="1400" b="1" dirty="0">
                <a:sym typeface="Wingdings" panose="05000000000000000000" pitchFamily="2" charset="2"/>
              </a:rPr>
              <a:t>트렌드 화면 </a:t>
            </a:r>
            <a:r>
              <a:rPr lang="en-US" altLang="ko-KR" sz="1400" b="1" dirty="0">
                <a:sym typeface="Wingdings" panose="05000000000000000000" pitchFamily="2" charset="2"/>
              </a:rPr>
              <a:t>(</a:t>
            </a:r>
            <a:r>
              <a:rPr lang="ko-KR" altLang="en-US" sz="1400" b="1" dirty="0">
                <a:sym typeface="Wingdings" panose="05000000000000000000" pitchFamily="2" charset="2"/>
              </a:rPr>
              <a:t>가로모드</a:t>
            </a:r>
            <a:r>
              <a:rPr lang="en-US" altLang="ko-KR" sz="1400" b="1" dirty="0">
                <a:sym typeface="Wingdings" panose="05000000000000000000" pitchFamily="2" charset="2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sym typeface="Wingdings" panose="05000000000000000000" pitchFamily="2" charset="2"/>
              </a:rPr>
              <a:t>5-5. </a:t>
            </a:r>
            <a:r>
              <a:rPr lang="ko-KR" altLang="en-US" sz="1400" b="1" dirty="0">
                <a:sym typeface="Wingdings" panose="05000000000000000000" pitchFamily="2" charset="2"/>
              </a:rPr>
              <a:t>가로모드 화면은 메인 화면의 그래프 속성을 따릅니다</a:t>
            </a:r>
            <a:r>
              <a:rPr lang="en-US" altLang="ko-KR" sz="1400" b="1" dirty="0">
                <a:sym typeface="Wingdings" panose="05000000000000000000" pitchFamily="2" charset="2"/>
              </a:rPr>
              <a:t>.</a:t>
            </a:r>
            <a:r>
              <a:rPr lang="ko-KR" altLang="en-US" sz="1400" b="1" dirty="0">
                <a:sym typeface="Wingdings" panose="05000000000000000000" pitchFamily="2" charset="2"/>
              </a:rPr>
              <a:t> </a:t>
            </a:r>
            <a:r>
              <a:rPr lang="en-US" altLang="ko-KR" sz="1400" b="1" dirty="0">
                <a:sym typeface="Wingdings" panose="05000000000000000000" pitchFamily="2" charset="2"/>
              </a:rPr>
              <a:t>(4-1~4-4)</a:t>
            </a: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sym typeface="Wingdings" panose="05000000000000000000" pitchFamily="2" charset="2"/>
              </a:rPr>
              <a:t>5-6. </a:t>
            </a:r>
            <a:r>
              <a:rPr lang="ko-KR" altLang="en-US" sz="1400" b="1" dirty="0">
                <a:sym typeface="Wingdings" panose="05000000000000000000" pitchFamily="2" charset="2"/>
              </a:rPr>
              <a:t>평균값 표시를 크게 수정 </a:t>
            </a:r>
            <a:r>
              <a:rPr lang="en-US" altLang="ko-KR" sz="1400" b="1" dirty="0">
                <a:sym typeface="Wingdings" panose="05000000000000000000" pitchFamily="2" charset="2"/>
              </a:rPr>
              <a:t>(</a:t>
            </a:r>
            <a:r>
              <a:rPr lang="ko-KR" altLang="en-US" sz="1400" b="1" dirty="0">
                <a:sym typeface="Wingdings" panose="05000000000000000000" pitchFamily="2" charset="2"/>
              </a:rPr>
              <a:t>평균값은  </a:t>
            </a:r>
            <a:r>
              <a:rPr lang="en-US" altLang="ko-KR" sz="1400" b="1" dirty="0">
                <a:sym typeface="Wingdings" panose="05000000000000000000" pitchFamily="2" charset="2"/>
              </a:rPr>
              <a:t>X-</a:t>
            </a:r>
            <a:r>
              <a:rPr lang="ko-KR" altLang="en-US" sz="1400" b="1" dirty="0">
                <a:sym typeface="Wingdings" panose="05000000000000000000" pitchFamily="2" charset="2"/>
              </a:rPr>
              <a:t>축 범위내 계산</a:t>
            </a:r>
            <a:r>
              <a:rPr lang="en-US" altLang="ko-KR" sz="1400" b="1" dirty="0">
                <a:sym typeface="Wingdings" panose="05000000000000000000" pitchFamily="2" charset="2"/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ko-KR" sz="1400" b="1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sym typeface="Wingdings" panose="05000000000000000000" pitchFamily="2" charset="2"/>
              </a:rPr>
              <a:t>                                  (</a:t>
            </a:r>
            <a:r>
              <a:rPr lang="ko-KR" altLang="en-US" sz="1400" b="1" dirty="0">
                <a:sym typeface="Wingdings" panose="05000000000000000000" pitchFamily="2" charset="2"/>
              </a:rPr>
              <a:t>예시</a:t>
            </a:r>
            <a:r>
              <a:rPr lang="en-US" altLang="ko-KR" sz="1400" b="1" dirty="0">
                <a:sym typeface="Wingdings" panose="05000000000000000000" pitchFamily="2" charset="2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sym typeface="Wingdings" panose="05000000000000000000" pitchFamily="2" charset="2"/>
              </a:rPr>
              <a:t>5-7. </a:t>
            </a:r>
            <a:r>
              <a:rPr lang="ko-KR" altLang="en-US" sz="1400" b="1" dirty="0">
                <a:sym typeface="Wingdings" panose="05000000000000000000" pitchFamily="2" charset="2"/>
              </a:rPr>
              <a:t>그래프 밖에 </a:t>
            </a:r>
            <a:r>
              <a:rPr lang="en-US" altLang="ko-KR" sz="1400" b="1" dirty="0">
                <a:sym typeface="Wingdings" panose="05000000000000000000" pitchFamily="2" charset="2"/>
              </a:rPr>
              <a:t>(</a:t>
            </a:r>
            <a:r>
              <a:rPr lang="ko-KR" altLang="en-US" sz="1400" b="1" dirty="0">
                <a:sym typeface="Wingdings" panose="05000000000000000000" pitchFamily="2" charset="2"/>
              </a:rPr>
              <a:t>가로모드 </a:t>
            </a:r>
            <a:r>
              <a:rPr lang="en-US" altLang="ko-KR" sz="1400" b="1" dirty="0">
                <a:sym typeface="Wingdings" panose="05000000000000000000" pitchFamily="2" charset="2"/>
              </a:rPr>
              <a:t> </a:t>
            </a:r>
            <a:r>
              <a:rPr lang="ko-KR" altLang="en-US" sz="1400" b="1" dirty="0">
                <a:sym typeface="Wingdings" panose="05000000000000000000" pitchFamily="2" charset="2"/>
              </a:rPr>
              <a:t>세로모드</a:t>
            </a:r>
            <a:r>
              <a:rPr lang="en-US" altLang="ko-KR" sz="1400" b="1" dirty="0">
                <a:sym typeface="Wingdings" panose="05000000000000000000" pitchFamily="2" charset="2"/>
              </a:rPr>
              <a:t>)</a:t>
            </a:r>
            <a:r>
              <a:rPr lang="ko-KR" altLang="en-US" sz="1400" b="1" dirty="0">
                <a:sym typeface="Wingdings" panose="05000000000000000000" pitchFamily="2" charset="2"/>
              </a:rPr>
              <a:t> 복귀 아이콘 추가 </a:t>
            </a:r>
            <a:r>
              <a:rPr lang="en-US" altLang="ko-KR" sz="1400" b="1" dirty="0">
                <a:sym typeface="Wingdings" panose="05000000000000000000" pitchFamily="2" charset="2"/>
              </a:rPr>
              <a:t>(</a:t>
            </a:r>
            <a:r>
              <a:rPr lang="ko-KR" altLang="en-US" sz="1400" b="1" dirty="0">
                <a:sym typeface="Wingdings" panose="05000000000000000000" pitchFamily="2" charset="2"/>
              </a:rPr>
              <a:t>복귀화면</a:t>
            </a:r>
            <a:r>
              <a:rPr lang="en-US" altLang="ko-KR" sz="1400" b="1" dirty="0">
                <a:sym typeface="Wingdings" panose="05000000000000000000" pitchFamily="2" charset="2"/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ko-KR" sz="1400" b="1" dirty="0">
              <a:sym typeface="Wingdings" panose="05000000000000000000" pitchFamily="2" charset="2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447F54E-4E4A-EC4A-E224-A9A504110C1D}"/>
              </a:ext>
            </a:extLst>
          </p:cNvPr>
          <p:cNvSpPr/>
          <p:nvPr/>
        </p:nvSpPr>
        <p:spPr>
          <a:xfrm>
            <a:off x="469393" y="3331932"/>
            <a:ext cx="327477" cy="236396"/>
          </a:xfrm>
          <a:prstGeom prst="roundRect">
            <a:avLst>
              <a:gd name="adj" fmla="val 6984"/>
            </a:avLst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0A296F-F1ED-3FE0-3B6B-88D52B806B14}"/>
              </a:ext>
            </a:extLst>
          </p:cNvPr>
          <p:cNvSpPr txBox="1"/>
          <p:nvPr/>
        </p:nvSpPr>
        <p:spPr>
          <a:xfrm>
            <a:off x="2332608" y="4586448"/>
            <a:ext cx="4354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5-5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632E2C-45FF-34F2-C583-A1BCBE31C259}"/>
              </a:ext>
            </a:extLst>
          </p:cNvPr>
          <p:cNvSpPr txBox="1"/>
          <p:nvPr/>
        </p:nvSpPr>
        <p:spPr>
          <a:xfrm>
            <a:off x="822525" y="3379473"/>
            <a:ext cx="5045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5-6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D936C0A-7864-D329-0D19-911FCCE12E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6707" y="1866955"/>
            <a:ext cx="657225" cy="714375"/>
          </a:xfrm>
          <a:prstGeom prst="rect">
            <a:avLst/>
          </a:prstGeom>
        </p:spPr>
      </p:pic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2025326F-06BC-D20F-E42F-F56F99648B15}"/>
              </a:ext>
            </a:extLst>
          </p:cNvPr>
          <p:cNvSpPr/>
          <p:nvPr/>
        </p:nvSpPr>
        <p:spPr>
          <a:xfrm>
            <a:off x="464288" y="3683336"/>
            <a:ext cx="327477" cy="236396"/>
          </a:xfrm>
          <a:prstGeom prst="roundRect">
            <a:avLst>
              <a:gd name="adj" fmla="val 6984"/>
            </a:avLst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3431C25-ABD6-37C5-E4C2-4EBB6261294C}"/>
              </a:ext>
            </a:extLst>
          </p:cNvPr>
          <p:cNvSpPr txBox="1"/>
          <p:nvPr/>
        </p:nvSpPr>
        <p:spPr>
          <a:xfrm>
            <a:off x="822525" y="3702639"/>
            <a:ext cx="4354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5-7</a:t>
            </a:r>
          </a:p>
        </p:txBody>
      </p:sp>
    </p:spTree>
    <p:extLst>
      <p:ext uri="{BB962C8B-B14F-4D97-AF65-F5344CB8AC3E}">
        <p14:creationId xmlns:p14="http://schemas.microsoft.com/office/powerpoint/2010/main" val="25316314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FB413-7075-A24D-916B-895BA0BD6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F6CB4AEB-857B-C1FB-328A-4B1D4490E2B9}"/>
              </a:ext>
            </a:extLst>
          </p:cNvPr>
          <p:cNvSpPr/>
          <p:nvPr/>
        </p:nvSpPr>
        <p:spPr>
          <a:xfrm>
            <a:off x="8523798" y="222637"/>
            <a:ext cx="1041621" cy="5883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AFF683B-578A-8849-77CD-71976311B889}"/>
              </a:ext>
            </a:extLst>
          </p:cNvPr>
          <p:cNvSpPr/>
          <p:nvPr/>
        </p:nvSpPr>
        <p:spPr>
          <a:xfrm>
            <a:off x="8523798" y="222637"/>
            <a:ext cx="1041621" cy="5883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BC2D295-843B-64EE-1015-380A94FDE5D0}"/>
              </a:ext>
            </a:extLst>
          </p:cNvPr>
          <p:cNvSpPr/>
          <p:nvPr/>
        </p:nvSpPr>
        <p:spPr>
          <a:xfrm>
            <a:off x="7036905" y="6577971"/>
            <a:ext cx="2664000" cy="1334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EMPECS Medical Device Co., Ltd. All Rights reserved.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pic>
        <p:nvPicPr>
          <p:cNvPr id="22" name="Picture 2">
            <a:extLst>
              <a:ext uri="{FF2B5EF4-FFF2-40B4-BE49-F238E27FC236}">
                <a16:creationId xmlns:a16="http://schemas.microsoft.com/office/drawing/2014/main" id="{886E42CB-206A-F7A0-0E07-0C06A8DEDC78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3798" y="157298"/>
            <a:ext cx="998995" cy="65373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7FAD1DD1-2CAE-A02C-6EE0-1DAEA932C184}"/>
              </a:ext>
            </a:extLst>
          </p:cNvPr>
          <p:cNvSpPr txBox="1"/>
          <p:nvPr/>
        </p:nvSpPr>
        <p:spPr>
          <a:xfrm>
            <a:off x="191459" y="221907"/>
            <a:ext cx="9523081" cy="3738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latin typeface="맑은 고딕"/>
                <a:ea typeface="맑은 고딕"/>
              </a:rPr>
              <a:t>▣ </a:t>
            </a:r>
            <a:r>
              <a:rPr lang="en-US" altLang="ko-KR" sz="1400" b="1" dirty="0">
                <a:latin typeface="맑은 고딕"/>
                <a:ea typeface="맑은 고딕"/>
              </a:rPr>
              <a:t>App</a:t>
            </a:r>
            <a:r>
              <a:rPr lang="ko-KR" altLang="en-US" sz="1400" b="1" dirty="0">
                <a:latin typeface="맑은 고딕"/>
                <a:ea typeface="맑은 고딕"/>
              </a:rPr>
              <a:t> 화면 수정요청</a:t>
            </a:r>
            <a:endParaRPr lang="en-US" altLang="ko-KR" sz="1400" b="1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5BF3C5D-AE72-77C7-D24D-94EF257751F9}"/>
              </a:ext>
            </a:extLst>
          </p:cNvPr>
          <p:cNvSpPr txBox="1"/>
          <p:nvPr/>
        </p:nvSpPr>
        <p:spPr>
          <a:xfrm>
            <a:off x="191459" y="856742"/>
            <a:ext cx="18822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트렌드 화면</a:t>
            </a:r>
            <a:r>
              <a:rPr lang="en-US" altLang="ko-KR" sz="1600" b="1" dirty="0"/>
              <a:t>(06)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0C353CE-38FF-D2BB-9DAC-7A74B01624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475" y="1177971"/>
            <a:ext cx="2482072" cy="5109698"/>
          </a:xfrm>
          <a:prstGeom prst="rect">
            <a:avLst/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3AD00104-A891-44DE-102E-4E3A949402FB}"/>
              </a:ext>
            </a:extLst>
          </p:cNvPr>
          <p:cNvSpPr/>
          <p:nvPr/>
        </p:nvSpPr>
        <p:spPr>
          <a:xfrm>
            <a:off x="332475" y="1667750"/>
            <a:ext cx="2550062" cy="338424"/>
          </a:xfrm>
          <a:prstGeom prst="roundRect">
            <a:avLst>
              <a:gd name="adj" fmla="val 7707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D78388-AF68-6A41-06F6-66C98F71481A}"/>
              </a:ext>
            </a:extLst>
          </p:cNvPr>
          <p:cNvSpPr txBox="1"/>
          <p:nvPr/>
        </p:nvSpPr>
        <p:spPr>
          <a:xfrm>
            <a:off x="2195400" y="1706157"/>
            <a:ext cx="4354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6-1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44B356-8B6A-5A5B-0D02-F5B8AF53FB84}"/>
              </a:ext>
            </a:extLst>
          </p:cNvPr>
          <p:cNvSpPr txBox="1"/>
          <p:nvPr/>
        </p:nvSpPr>
        <p:spPr>
          <a:xfrm>
            <a:off x="3520638" y="887146"/>
            <a:ext cx="5888958" cy="703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>
                <a:sym typeface="Wingdings" panose="05000000000000000000" pitchFamily="2" charset="2"/>
              </a:rPr>
              <a:t>6. </a:t>
            </a:r>
            <a:r>
              <a:rPr lang="ko-KR" altLang="en-US" sz="1400" b="1" dirty="0">
                <a:sym typeface="Wingdings" panose="05000000000000000000" pitchFamily="2" charset="2"/>
              </a:rPr>
              <a:t>트렌드 화면</a:t>
            </a:r>
            <a:endParaRPr lang="en-US" altLang="ko-KR" sz="1400" b="1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sym typeface="Wingdings" panose="05000000000000000000" pitchFamily="2" charset="2"/>
              </a:rPr>
              <a:t>6-1. 3h, 6h, 12h, 24h </a:t>
            </a:r>
            <a:r>
              <a:rPr lang="ko-KR" altLang="en-US" sz="1400" b="1" dirty="0">
                <a:sym typeface="Wingdings" panose="05000000000000000000" pitchFamily="2" charset="2"/>
              </a:rPr>
              <a:t>터치 시 해당 시간만큼 </a:t>
            </a:r>
            <a:r>
              <a:rPr lang="en-US" altLang="ko-KR" sz="1400" b="1" dirty="0">
                <a:sym typeface="Wingdings" panose="05000000000000000000" pitchFamily="2" charset="2"/>
              </a:rPr>
              <a:t>X</a:t>
            </a:r>
            <a:r>
              <a:rPr lang="ko-KR" altLang="en-US" sz="1400" b="1" dirty="0">
                <a:sym typeface="Wingdings" panose="05000000000000000000" pitchFamily="2" charset="2"/>
              </a:rPr>
              <a:t>축 그래프 스케일 자동변경</a:t>
            </a:r>
            <a:endParaRPr lang="en-US" altLang="ko-KR" sz="1400" b="1" dirty="0">
              <a:sym typeface="Wingdings" panose="05000000000000000000" pitchFamily="2" charset="2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94C05B27-9FA2-BEF1-374E-754CB22DBFCE}"/>
              </a:ext>
            </a:extLst>
          </p:cNvPr>
          <p:cNvSpPr/>
          <p:nvPr/>
        </p:nvSpPr>
        <p:spPr>
          <a:xfrm>
            <a:off x="332475" y="3683726"/>
            <a:ext cx="2550061" cy="252548"/>
          </a:xfrm>
          <a:prstGeom prst="roundRect">
            <a:avLst>
              <a:gd name="adj" fmla="val 6984"/>
            </a:avLst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A17D3C-0E27-D166-4A12-5142F8FA02B6}"/>
              </a:ext>
            </a:extLst>
          </p:cNvPr>
          <p:cNvSpPr txBox="1"/>
          <p:nvPr/>
        </p:nvSpPr>
        <p:spPr>
          <a:xfrm>
            <a:off x="2074545" y="3674664"/>
            <a:ext cx="4354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6-1</a:t>
            </a:r>
          </a:p>
        </p:txBody>
      </p:sp>
    </p:spTree>
    <p:extLst>
      <p:ext uri="{BB962C8B-B14F-4D97-AF65-F5344CB8AC3E}">
        <p14:creationId xmlns:p14="http://schemas.microsoft.com/office/powerpoint/2010/main" val="11263093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6F6A7-7126-C1E5-9987-72826CFA4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6726CC20-CFDB-AA6B-6544-6A03B1EBAD9F}"/>
              </a:ext>
            </a:extLst>
          </p:cNvPr>
          <p:cNvSpPr/>
          <p:nvPr/>
        </p:nvSpPr>
        <p:spPr>
          <a:xfrm>
            <a:off x="8523798" y="222637"/>
            <a:ext cx="1041621" cy="5883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7E98F0F-E304-122F-90B5-FCAA0F312E53}"/>
              </a:ext>
            </a:extLst>
          </p:cNvPr>
          <p:cNvSpPr/>
          <p:nvPr/>
        </p:nvSpPr>
        <p:spPr>
          <a:xfrm>
            <a:off x="8523798" y="222637"/>
            <a:ext cx="1041621" cy="5883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BC237A9-C663-A492-8D6A-0844C99A85F2}"/>
              </a:ext>
            </a:extLst>
          </p:cNvPr>
          <p:cNvSpPr/>
          <p:nvPr/>
        </p:nvSpPr>
        <p:spPr>
          <a:xfrm>
            <a:off x="7036905" y="6577971"/>
            <a:ext cx="2664000" cy="1334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EMPECS Medical Device Co., Ltd. All Rights reserved.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pic>
        <p:nvPicPr>
          <p:cNvPr id="22" name="Picture 2">
            <a:extLst>
              <a:ext uri="{FF2B5EF4-FFF2-40B4-BE49-F238E27FC236}">
                <a16:creationId xmlns:a16="http://schemas.microsoft.com/office/drawing/2014/main" id="{77F3A856-1C3F-630A-B7AF-40D56B7D789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3798" y="157298"/>
            <a:ext cx="998995" cy="65373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6933D324-6D98-BA47-DDFF-CE5C45BFBE9E}"/>
              </a:ext>
            </a:extLst>
          </p:cNvPr>
          <p:cNvSpPr txBox="1"/>
          <p:nvPr/>
        </p:nvSpPr>
        <p:spPr>
          <a:xfrm>
            <a:off x="191459" y="221907"/>
            <a:ext cx="9523081" cy="3738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latin typeface="맑은 고딕"/>
                <a:ea typeface="맑은 고딕"/>
              </a:rPr>
              <a:t>▣ </a:t>
            </a:r>
            <a:r>
              <a:rPr lang="en-US" altLang="ko-KR" sz="1400" b="1" dirty="0">
                <a:latin typeface="맑은 고딕"/>
                <a:ea typeface="맑은 고딕"/>
              </a:rPr>
              <a:t>App</a:t>
            </a:r>
            <a:r>
              <a:rPr lang="ko-KR" altLang="en-US" sz="1400" b="1" dirty="0">
                <a:latin typeface="맑은 고딕"/>
                <a:ea typeface="맑은 고딕"/>
              </a:rPr>
              <a:t> 화면 수정요청</a:t>
            </a:r>
            <a:endParaRPr lang="en-US" altLang="ko-KR" sz="1400" b="1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8BFAF38-AAC1-F4CA-1B00-76EDD68403AB}"/>
              </a:ext>
            </a:extLst>
          </p:cNvPr>
          <p:cNvSpPr txBox="1"/>
          <p:nvPr/>
        </p:nvSpPr>
        <p:spPr>
          <a:xfrm>
            <a:off x="191459" y="856742"/>
            <a:ext cx="18822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트렌드 화면</a:t>
            </a:r>
            <a:r>
              <a:rPr lang="en-US" altLang="ko-KR" sz="1600" b="1" dirty="0"/>
              <a:t>(06)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A5A6507-45FF-D205-2143-15A078FDFC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223" y="1200431"/>
            <a:ext cx="3202207" cy="5121992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9716890-620F-969A-DABC-48781B317967}"/>
              </a:ext>
            </a:extLst>
          </p:cNvPr>
          <p:cNvSpPr/>
          <p:nvPr/>
        </p:nvSpPr>
        <p:spPr>
          <a:xfrm>
            <a:off x="487680" y="3910149"/>
            <a:ext cx="3057960" cy="2168434"/>
          </a:xfrm>
          <a:prstGeom prst="roundRect">
            <a:avLst>
              <a:gd name="adj" fmla="val 7707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E3C959-55A7-84BF-4D58-E036CF784D7B}"/>
              </a:ext>
            </a:extLst>
          </p:cNvPr>
          <p:cNvSpPr txBox="1"/>
          <p:nvPr/>
        </p:nvSpPr>
        <p:spPr>
          <a:xfrm>
            <a:off x="2896393" y="4719066"/>
            <a:ext cx="4354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6-2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6522B7-4EBD-F1C3-FB8E-4241262E91DF}"/>
              </a:ext>
            </a:extLst>
          </p:cNvPr>
          <p:cNvSpPr txBox="1"/>
          <p:nvPr/>
        </p:nvSpPr>
        <p:spPr>
          <a:xfrm>
            <a:off x="3520638" y="887146"/>
            <a:ext cx="5888958" cy="36137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>
                <a:sym typeface="Wingdings" panose="05000000000000000000" pitchFamily="2" charset="2"/>
              </a:rPr>
              <a:t>6. </a:t>
            </a:r>
            <a:r>
              <a:rPr lang="ko-KR" altLang="en-US" sz="1400" b="1" dirty="0">
                <a:sym typeface="Wingdings" panose="05000000000000000000" pitchFamily="2" charset="2"/>
              </a:rPr>
              <a:t>트렌드 화면</a:t>
            </a:r>
            <a:r>
              <a:rPr lang="en-US" altLang="ko-KR" sz="1400" b="1" dirty="0">
                <a:sym typeface="Wingdings" panose="05000000000000000000" pitchFamily="2" charset="2"/>
              </a:rPr>
              <a:t>(</a:t>
            </a:r>
            <a:r>
              <a:rPr lang="ko-KR" altLang="en-US" sz="1400" b="1" dirty="0">
                <a:sym typeface="Wingdings" panose="05000000000000000000" pitchFamily="2" charset="2"/>
              </a:rPr>
              <a:t>계속</a:t>
            </a:r>
            <a:r>
              <a:rPr lang="en-US" altLang="ko-KR" sz="1400" b="1" dirty="0">
                <a:sym typeface="Wingdings" panose="05000000000000000000" pitchFamily="2" charset="2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sym typeface="Wingdings" panose="05000000000000000000" pitchFamily="2" charset="2"/>
              </a:rPr>
              <a:t>6-2. Pie</a:t>
            </a:r>
            <a:r>
              <a:rPr lang="ko-KR" altLang="en-US" sz="1400" b="1" dirty="0">
                <a:sym typeface="Wingdings" panose="05000000000000000000" pitchFamily="2" charset="2"/>
              </a:rPr>
              <a:t> </a:t>
            </a:r>
            <a:r>
              <a:rPr lang="en-US" altLang="ko-KR" sz="1400" b="1" dirty="0">
                <a:sym typeface="Wingdings" panose="05000000000000000000" pitchFamily="2" charset="2"/>
              </a:rPr>
              <a:t>Chart</a:t>
            </a:r>
            <a:r>
              <a:rPr lang="ko-KR" altLang="en-US" sz="1400" b="1" dirty="0">
                <a:sym typeface="Wingdings" panose="05000000000000000000" pitchFamily="2" charset="2"/>
              </a:rPr>
              <a:t> 영역에서 </a:t>
            </a:r>
            <a:r>
              <a:rPr lang="en-US" altLang="ko-KR" sz="1400" b="1" dirty="0">
                <a:sym typeface="Wingdings" panose="05000000000000000000" pitchFamily="2" charset="2"/>
              </a:rPr>
              <a:t>Very High</a:t>
            </a:r>
            <a:r>
              <a:rPr lang="ko-KR" altLang="en-US" sz="1400" b="1" dirty="0">
                <a:sym typeface="Wingdings" panose="05000000000000000000" pitchFamily="2" charset="2"/>
              </a:rPr>
              <a:t>는</a:t>
            </a:r>
            <a:r>
              <a:rPr lang="en-US" altLang="ko-KR" sz="1400" b="1" dirty="0">
                <a:sym typeface="Wingdings" panose="05000000000000000000" pitchFamily="2" charset="2"/>
              </a:rPr>
              <a:t> </a:t>
            </a:r>
            <a:r>
              <a:rPr lang="ko-KR" altLang="en-US" sz="1400" b="1" dirty="0">
                <a:sym typeface="Wingdings" panose="05000000000000000000" pitchFamily="2" charset="2"/>
              </a:rPr>
              <a:t>삭제 </a:t>
            </a:r>
            <a:r>
              <a:rPr lang="en-US" altLang="ko-KR" sz="1400" b="1" dirty="0">
                <a:sym typeface="Wingdings" panose="05000000000000000000" pitchFamily="2" charset="2"/>
              </a:rPr>
              <a:t>(</a:t>
            </a:r>
            <a:r>
              <a:rPr lang="ko-KR" altLang="en-US" sz="1400" b="1" dirty="0" err="1">
                <a:sym typeface="Wingdings" panose="05000000000000000000" pitchFamily="2" charset="2"/>
              </a:rPr>
              <a:t>알람설정에</a:t>
            </a:r>
            <a:r>
              <a:rPr lang="ko-KR" altLang="en-US" sz="1400" b="1" dirty="0">
                <a:sym typeface="Wingdings" panose="05000000000000000000" pitchFamily="2" charset="2"/>
              </a:rPr>
              <a:t> </a:t>
            </a:r>
            <a:r>
              <a:rPr lang="ko-KR" altLang="en-US" sz="1400" b="1" dirty="0" err="1">
                <a:sym typeface="Wingdings" panose="05000000000000000000" pitchFamily="2" charset="2"/>
              </a:rPr>
              <a:t>기준값이</a:t>
            </a:r>
            <a:r>
              <a:rPr lang="ko-KR" altLang="en-US" sz="1400" b="1" dirty="0">
                <a:sym typeface="Wingdings" panose="05000000000000000000" pitchFamily="2" charset="2"/>
              </a:rPr>
              <a:t> 없으므로</a:t>
            </a:r>
            <a:r>
              <a:rPr lang="en-US" altLang="ko-KR" sz="1400" b="1" dirty="0">
                <a:sym typeface="Wingdings" panose="05000000000000000000" pitchFamily="2" charset="2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sym typeface="Wingdings" panose="05000000000000000000" pitchFamily="2" charset="2"/>
              </a:rPr>
              <a:t>        - High/</a:t>
            </a:r>
            <a:r>
              <a:rPr lang="ko-KR" altLang="en-US" sz="1400" b="1" dirty="0">
                <a:sym typeface="Wingdings" panose="05000000000000000000" pitchFamily="2" charset="2"/>
              </a:rPr>
              <a:t> </a:t>
            </a:r>
            <a:r>
              <a:rPr lang="en-US" altLang="ko-KR" sz="1400" b="1" dirty="0">
                <a:sym typeface="Wingdings" panose="05000000000000000000" pitchFamily="2" charset="2"/>
              </a:rPr>
              <a:t>In Range / Low / Very Low </a:t>
            </a:r>
            <a:r>
              <a:rPr lang="ko-KR" altLang="en-US" sz="1400" b="1" dirty="0">
                <a:sym typeface="Wingdings" panose="05000000000000000000" pitchFamily="2" charset="2"/>
              </a:rPr>
              <a:t>만 유지</a:t>
            </a:r>
            <a:endParaRPr lang="en-US" altLang="ko-KR" sz="1400" b="1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endParaRPr lang="en-US" altLang="ko-KR" sz="1400" b="1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sym typeface="Wingdings" panose="05000000000000000000" pitchFamily="2" charset="2"/>
              </a:rPr>
              <a:t>6-3. Pie Chart </a:t>
            </a:r>
            <a:r>
              <a:rPr lang="ko-KR" altLang="en-US" sz="1400" b="1" dirty="0">
                <a:sym typeface="Wingdings" panose="05000000000000000000" pitchFamily="2" charset="2"/>
              </a:rPr>
              <a:t>의 분석색상 구분</a:t>
            </a:r>
            <a:endParaRPr lang="en-US" altLang="ko-KR" sz="1400" b="1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endParaRPr lang="en-US" altLang="ko-KR" sz="1400" b="1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endParaRPr lang="en-US" altLang="ko-KR" sz="1400" b="1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sym typeface="Wingdings" panose="05000000000000000000" pitchFamily="2" charset="2"/>
              </a:rPr>
              <a:t>                                                                                  (</a:t>
            </a:r>
            <a:r>
              <a:rPr lang="ko-KR" altLang="en-US" sz="1400" b="1" dirty="0">
                <a:sym typeface="Wingdings" panose="05000000000000000000" pitchFamily="2" charset="2"/>
              </a:rPr>
              <a:t>예시</a:t>
            </a:r>
            <a:r>
              <a:rPr lang="en-US" altLang="ko-KR" sz="1400" b="1" dirty="0">
                <a:sym typeface="Wingdings" panose="05000000000000000000" pitchFamily="2" charset="2"/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ko-KR" sz="1400" b="1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endParaRPr lang="en-US" altLang="ko-KR" sz="1400" b="1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endParaRPr lang="en-US" altLang="ko-KR" sz="1400" b="1" dirty="0">
              <a:sym typeface="Wingdings" panose="05000000000000000000" pitchFamily="2" charset="2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08EC1B28-1463-CDC7-FE78-2ADE1414C4FB}"/>
              </a:ext>
            </a:extLst>
          </p:cNvPr>
          <p:cNvSpPr/>
          <p:nvPr/>
        </p:nvSpPr>
        <p:spPr>
          <a:xfrm>
            <a:off x="2811395" y="4962906"/>
            <a:ext cx="709243" cy="434223"/>
          </a:xfrm>
          <a:prstGeom prst="roundRect">
            <a:avLst>
              <a:gd name="adj" fmla="val 6984"/>
            </a:avLst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D43AABE-864A-BFCF-E5A9-79E7F861D6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7247" y="2694019"/>
            <a:ext cx="2221351" cy="1180718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4CBF7CE-FE64-7C9C-B1F6-1C7C6F1F2CA4}"/>
              </a:ext>
            </a:extLst>
          </p:cNvPr>
          <p:cNvSpPr/>
          <p:nvPr/>
        </p:nvSpPr>
        <p:spPr>
          <a:xfrm>
            <a:off x="1509464" y="4962905"/>
            <a:ext cx="931535" cy="828295"/>
          </a:xfrm>
          <a:prstGeom prst="roundRect">
            <a:avLst>
              <a:gd name="adj" fmla="val 6984"/>
            </a:avLst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E31178-2491-85D4-1BB9-1370B041CC7A}"/>
              </a:ext>
            </a:extLst>
          </p:cNvPr>
          <p:cNvSpPr txBox="1"/>
          <p:nvPr/>
        </p:nvSpPr>
        <p:spPr>
          <a:xfrm>
            <a:off x="1139068" y="5049212"/>
            <a:ext cx="4354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6-3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229C74A5-89C9-7266-802E-E6D620619673}"/>
              </a:ext>
            </a:extLst>
          </p:cNvPr>
          <p:cNvCxnSpPr/>
          <p:nvPr/>
        </p:nvCxnSpPr>
        <p:spPr>
          <a:xfrm>
            <a:off x="4430229" y="3048000"/>
            <a:ext cx="653142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36119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FED68-BC6D-A3CF-9655-8A5B70C2A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C51362F-6E19-F69B-BB81-8F870E3750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088" y="1195296"/>
            <a:ext cx="2322341" cy="5386540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0DB196C9-0C30-BDFC-2C45-8D6D7DE6C390}"/>
              </a:ext>
            </a:extLst>
          </p:cNvPr>
          <p:cNvSpPr/>
          <p:nvPr/>
        </p:nvSpPr>
        <p:spPr>
          <a:xfrm>
            <a:off x="8523798" y="222637"/>
            <a:ext cx="1041621" cy="5883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5B703B0-25B1-26B8-7B07-9202246E5219}"/>
              </a:ext>
            </a:extLst>
          </p:cNvPr>
          <p:cNvSpPr/>
          <p:nvPr/>
        </p:nvSpPr>
        <p:spPr>
          <a:xfrm>
            <a:off x="8523798" y="222637"/>
            <a:ext cx="1041621" cy="5883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3B508FC-AD49-1C2D-2160-344CF85AB878}"/>
              </a:ext>
            </a:extLst>
          </p:cNvPr>
          <p:cNvSpPr/>
          <p:nvPr/>
        </p:nvSpPr>
        <p:spPr>
          <a:xfrm>
            <a:off x="7036905" y="6577971"/>
            <a:ext cx="2664000" cy="1334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EMPECS Medical Device Co., Ltd. All Rights reserved.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pic>
        <p:nvPicPr>
          <p:cNvPr id="22" name="Picture 2">
            <a:extLst>
              <a:ext uri="{FF2B5EF4-FFF2-40B4-BE49-F238E27FC236}">
                <a16:creationId xmlns:a16="http://schemas.microsoft.com/office/drawing/2014/main" id="{410B3130-24C7-B6EA-F147-4B59295F8594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3798" y="157298"/>
            <a:ext cx="998995" cy="65373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F0BF57FD-81B3-875A-D049-BA5CF6DBAECC}"/>
              </a:ext>
            </a:extLst>
          </p:cNvPr>
          <p:cNvSpPr txBox="1"/>
          <p:nvPr/>
        </p:nvSpPr>
        <p:spPr>
          <a:xfrm>
            <a:off x="191459" y="221907"/>
            <a:ext cx="9523081" cy="3738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latin typeface="맑은 고딕"/>
                <a:ea typeface="맑은 고딕"/>
              </a:rPr>
              <a:t>▣ </a:t>
            </a:r>
            <a:r>
              <a:rPr lang="en-US" altLang="ko-KR" sz="1400" b="1" dirty="0">
                <a:latin typeface="맑은 고딕"/>
                <a:ea typeface="맑은 고딕"/>
              </a:rPr>
              <a:t>App</a:t>
            </a:r>
            <a:r>
              <a:rPr lang="ko-KR" altLang="en-US" sz="1400" b="1" dirty="0">
                <a:latin typeface="맑은 고딕"/>
                <a:ea typeface="맑은 고딕"/>
              </a:rPr>
              <a:t> 화면 수정요청</a:t>
            </a:r>
            <a:endParaRPr lang="en-US" altLang="ko-KR" sz="1400" b="1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7C2BC38-E401-BDB1-F29E-8554B0F18F9A}"/>
              </a:ext>
            </a:extLst>
          </p:cNvPr>
          <p:cNvSpPr txBox="1"/>
          <p:nvPr/>
        </p:nvSpPr>
        <p:spPr>
          <a:xfrm>
            <a:off x="191459" y="856742"/>
            <a:ext cx="18822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리포트 화면</a:t>
            </a:r>
            <a:r>
              <a:rPr lang="en-US" altLang="ko-KR" sz="1600" b="1" dirty="0"/>
              <a:t>(07)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43C42F9F-9D84-E1FD-58AC-5FE10FDFEE04}"/>
              </a:ext>
            </a:extLst>
          </p:cNvPr>
          <p:cNvSpPr/>
          <p:nvPr/>
        </p:nvSpPr>
        <p:spPr>
          <a:xfrm>
            <a:off x="301202" y="1358538"/>
            <a:ext cx="2502958" cy="2009420"/>
          </a:xfrm>
          <a:prstGeom prst="roundRect">
            <a:avLst>
              <a:gd name="adj" fmla="val 10030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E376C6-BF00-EF6E-CA55-F224D6A42B6F}"/>
              </a:ext>
            </a:extLst>
          </p:cNvPr>
          <p:cNvSpPr txBox="1"/>
          <p:nvPr/>
        </p:nvSpPr>
        <p:spPr>
          <a:xfrm>
            <a:off x="3134336" y="956763"/>
            <a:ext cx="6367575" cy="4583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>
                <a:sym typeface="Wingdings" panose="05000000000000000000" pitchFamily="2" charset="2"/>
              </a:rPr>
              <a:t>7. </a:t>
            </a:r>
            <a:r>
              <a:rPr lang="ko-KR" altLang="en-US" sz="1400" b="1" dirty="0">
                <a:sym typeface="Wingdings" panose="05000000000000000000" pitchFamily="2" charset="2"/>
              </a:rPr>
              <a:t>리포트 화면</a:t>
            </a:r>
            <a:endParaRPr lang="en-US" altLang="ko-KR" sz="1400" b="1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sym typeface="Wingdings" panose="05000000000000000000" pitchFamily="2" charset="2"/>
              </a:rPr>
              <a:t>7-1. </a:t>
            </a:r>
            <a:r>
              <a:rPr lang="ko-KR" altLang="en-US" sz="1400" b="1" dirty="0" err="1">
                <a:sym typeface="Wingdings" panose="05000000000000000000" pitchFamily="2" charset="2"/>
              </a:rPr>
              <a:t>드롭메뉴</a:t>
            </a:r>
            <a:r>
              <a:rPr lang="en-US" altLang="ko-KR" sz="1400" b="1" dirty="0">
                <a:sym typeface="Wingdings" panose="05000000000000000000" pitchFamily="2" charset="2"/>
              </a:rPr>
              <a:t>(3d, 7d, 14d, 30d)</a:t>
            </a:r>
            <a:r>
              <a:rPr lang="ko-KR" altLang="en-US" sz="1400" b="1" dirty="0">
                <a:sym typeface="Wingdings" panose="05000000000000000000" pitchFamily="2" charset="2"/>
              </a:rPr>
              <a:t>를  아래처럼 가로배열 터치 메뉴로 변경</a:t>
            </a:r>
            <a:endParaRPr lang="en-US" altLang="ko-KR" sz="1400" b="1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sym typeface="Wingdings" panose="05000000000000000000" pitchFamily="2" charset="2"/>
              </a:rPr>
              <a:t>        1Day</a:t>
            </a:r>
            <a:r>
              <a:rPr lang="ko-KR" altLang="en-US" sz="1400" b="1" dirty="0">
                <a:sym typeface="Wingdings" panose="05000000000000000000" pitchFamily="2" charset="2"/>
              </a:rPr>
              <a:t> </a:t>
            </a:r>
            <a:r>
              <a:rPr lang="en-US" altLang="ko-KR" sz="1400" b="1" dirty="0">
                <a:sym typeface="Wingdings" panose="05000000000000000000" pitchFamily="2" charset="2"/>
              </a:rPr>
              <a:t>7Day,</a:t>
            </a:r>
            <a:r>
              <a:rPr lang="ko-KR" altLang="en-US" sz="1400" b="1" dirty="0">
                <a:sym typeface="Wingdings" panose="05000000000000000000" pitchFamily="2" charset="2"/>
              </a:rPr>
              <a:t> </a:t>
            </a:r>
            <a:r>
              <a:rPr lang="en-US" altLang="ko-KR" sz="1400" b="1" dirty="0">
                <a:sym typeface="Wingdings" panose="05000000000000000000" pitchFamily="2" charset="2"/>
              </a:rPr>
              <a:t>14 Day, 30Day, 90Day</a:t>
            </a:r>
            <a:r>
              <a:rPr lang="ko-KR" altLang="en-US" sz="1400" b="1" dirty="0">
                <a:sym typeface="Wingdings" panose="05000000000000000000" pitchFamily="2" charset="2"/>
              </a:rPr>
              <a:t>로 메뉴구성</a:t>
            </a:r>
            <a:endParaRPr lang="en-US" altLang="ko-KR" sz="1400" b="1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sym typeface="Wingdings" panose="05000000000000000000" pitchFamily="2" charset="2"/>
              </a:rPr>
              <a:t>                                                                                (</a:t>
            </a:r>
            <a:r>
              <a:rPr lang="ko-KR" altLang="en-US" sz="1400" b="1" dirty="0">
                <a:sym typeface="Wingdings" panose="05000000000000000000" pitchFamily="2" charset="2"/>
              </a:rPr>
              <a:t>예시</a:t>
            </a:r>
            <a:r>
              <a:rPr lang="en-US" altLang="ko-KR" sz="1400" b="1" dirty="0">
                <a:sym typeface="Wingdings" panose="05000000000000000000" pitchFamily="2" charset="2"/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ko-KR" sz="1400" b="1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sym typeface="Wingdings" panose="05000000000000000000" pitchFamily="2" charset="2"/>
              </a:rPr>
              <a:t>7-2. </a:t>
            </a:r>
            <a:r>
              <a:rPr lang="ko-KR" altLang="en-US" sz="1400" b="1" dirty="0">
                <a:sym typeface="Wingdings" panose="05000000000000000000" pitchFamily="2" charset="2"/>
              </a:rPr>
              <a:t>폰트사이즈 크게 </a:t>
            </a:r>
            <a:r>
              <a:rPr lang="en-US" altLang="ko-KR" sz="1400" b="1" dirty="0">
                <a:sym typeface="Wingdings" panose="05000000000000000000" pitchFamily="2" charset="2"/>
              </a:rPr>
              <a:t>(</a:t>
            </a:r>
            <a:r>
              <a:rPr lang="ko-KR" altLang="en-US" sz="1400" b="1" dirty="0">
                <a:sym typeface="Wingdings" panose="05000000000000000000" pitchFamily="2" charset="2"/>
              </a:rPr>
              <a:t>제목 및 결과값에 </a:t>
            </a:r>
            <a:r>
              <a:rPr lang="en-US" altLang="ko-KR" sz="1400" b="1" dirty="0">
                <a:sym typeface="Wingdings" panose="05000000000000000000" pitchFamily="2" charset="2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sym typeface="Wingdings" panose="05000000000000000000" pitchFamily="2" charset="2"/>
              </a:rPr>
              <a:t>7-3. </a:t>
            </a:r>
            <a:r>
              <a:rPr lang="ko-KR" altLang="en-US" sz="1400" b="1" dirty="0">
                <a:sym typeface="Wingdings" panose="05000000000000000000" pitchFamily="2" charset="2"/>
              </a:rPr>
              <a:t>리포트 해당 영역에 프로파일 일부정보 삽입추가</a:t>
            </a:r>
            <a:endParaRPr lang="en-US" altLang="ko-KR" sz="1400" b="1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endParaRPr lang="en-US" altLang="ko-KR" sz="1400" b="1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endParaRPr lang="en-US" altLang="ko-KR" sz="1400" b="1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endParaRPr lang="en-US" altLang="ko-KR" sz="1400" b="1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sym typeface="Wingdings" panose="05000000000000000000" pitchFamily="2" charset="2"/>
              </a:rPr>
              <a:t>                                                    (</a:t>
            </a:r>
            <a:r>
              <a:rPr lang="ko-KR" altLang="en-US" sz="1400" b="1" dirty="0">
                <a:sym typeface="Wingdings" panose="05000000000000000000" pitchFamily="2" charset="2"/>
              </a:rPr>
              <a:t>예시</a:t>
            </a:r>
            <a:r>
              <a:rPr lang="en-US" altLang="ko-KR" sz="1400" b="1" dirty="0">
                <a:sym typeface="Wingdings" panose="05000000000000000000" pitchFamily="2" charset="2"/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ko-KR" sz="1400" b="1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endParaRPr lang="en-US" altLang="ko-KR" sz="1400" b="1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endParaRPr lang="en-US" altLang="ko-KR" sz="1400" b="1" dirty="0">
              <a:sym typeface="Wingdings" panose="05000000000000000000" pitchFamily="2" charset="2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5755E5C-FD74-D14C-3451-EDA6D214BF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7060" y="2040536"/>
            <a:ext cx="2446707" cy="2804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7E648B8-DF4B-52DF-074E-D52990F9B2EB}"/>
              </a:ext>
            </a:extLst>
          </p:cNvPr>
          <p:cNvSpPr txBox="1"/>
          <p:nvPr/>
        </p:nvSpPr>
        <p:spPr>
          <a:xfrm>
            <a:off x="1855992" y="1403045"/>
            <a:ext cx="4354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7-1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37E46B-8148-5253-A1F0-70422590E283}"/>
              </a:ext>
            </a:extLst>
          </p:cNvPr>
          <p:cNvSpPr txBox="1"/>
          <p:nvPr/>
        </p:nvSpPr>
        <p:spPr>
          <a:xfrm>
            <a:off x="1334967" y="3428999"/>
            <a:ext cx="4354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7-3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58F160B-3938-8DC4-BED3-A14CAE30E705}"/>
              </a:ext>
            </a:extLst>
          </p:cNvPr>
          <p:cNvSpPr txBox="1"/>
          <p:nvPr/>
        </p:nvSpPr>
        <p:spPr>
          <a:xfrm>
            <a:off x="797590" y="2350793"/>
            <a:ext cx="4354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7-2</a:t>
            </a: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4C78AC02-CF13-EC98-C533-F4AC25E8D0E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256" t="20098" r="22777" b="33299"/>
          <a:stretch>
            <a:fillRect/>
          </a:stretch>
        </p:blipFill>
        <p:spPr>
          <a:xfrm>
            <a:off x="3625458" y="3316508"/>
            <a:ext cx="1580338" cy="209614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716EA885-0558-1B67-4F8B-AB58C8E95BF9}"/>
              </a:ext>
            </a:extLst>
          </p:cNvPr>
          <p:cNvSpPr/>
          <p:nvPr/>
        </p:nvSpPr>
        <p:spPr>
          <a:xfrm>
            <a:off x="301202" y="3428999"/>
            <a:ext cx="2502958" cy="229615"/>
          </a:xfrm>
          <a:prstGeom prst="roundRect">
            <a:avLst>
              <a:gd name="adj" fmla="val 10030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066421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91E9F-1BEA-57CE-641D-21F8C9D32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3D2C0FE-873A-7168-0894-0D5D1C4B5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088" y="1195296"/>
            <a:ext cx="2322341" cy="5386540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B0F1880B-DFC0-7B4D-A31D-49F590718D0A}"/>
              </a:ext>
            </a:extLst>
          </p:cNvPr>
          <p:cNvSpPr/>
          <p:nvPr/>
        </p:nvSpPr>
        <p:spPr>
          <a:xfrm>
            <a:off x="8523798" y="222637"/>
            <a:ext cx="1041621" cy="5883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E23F399-4C48-CF25-EFFF-A3BCF1E1FDC5}"/>
              </a:ext>
            </a:extLst>
          </p:cNvPr>
          <p:cNvSpPr/>
          <p:nvPr/>
        </p:nvSpPr>
        <p:spPr>
          <a:xfrm>
            <a:off x="8523798" y="222637"/>
            <a:ext cx="1041621" cy="5883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B146D00-6D9C-B089-C590-67E462726832}"/>
              </a:ext>
            </a:extLst>
          </p:cNvPr>
          <p:cNvSpPr/>
          <p:nvPr/>
        </p:nvSpPr>
        <p:spPr>
          <a:xfrm>
            <a:off x="7036905" y="6577971"/>
            <a:ext cx="2664000" cy="1334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EMPECS Medical Device Co., Ltd. All Rights reserved.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pic>
        <p:nvPicPr>
          <p:cNvPr id="22" name="Picture 2">
            <a:extLst>
              <a:ext uri="{FF2B5EF4-FFF2-40B4-BE49-F238E27FC236}">
                <a16:creationId xmlns:a16="http://schemas.microsoft.com/office/drawing/2014/main" id="{7180FDBB-630F-7156-F4F2-BC74B0789C4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3798" y="157298"/>
            <a:ext cx="998995" cy="65373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84FD1F05-A31E-5655-6D06-69413AC6C89C}"/>
              </a:ext>
            </a:extLst>
          </p:cNvPr>
          <p:cNvSpPr txBox="1"/>
          <p:nvPr/>
        </p:nvSpPr>
        <p:spPr>
          <a:xfrm>
            <a:off x="191459" y="221907"/>
            <a:ext cx="9523081" cy="3738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latin typeface="맑은 고딕"/>
                <a:ea typeface="맑은 고딕"/>
              </a:rPr>
              <a:t>▣ </a:t>
            </a:r>
            <a:r>
              <a:rPr lang="en-US" altLang="ko-KR" sz="1400" b="1" dirty="0">
                <a:latin typeface="맑은 고딕"/>
                <a:ea typeface="맑은 고딕"/>
              </a:rPr>
              <a:t>App</a:t>
            </a:r>
            <a:r>
              <a:rPr lang="ko-KR" altLang="en-US" sz="1400" b="1" dirty="0">
                <a:latin typeface="맑은 고딕"/>
                <a:ea typeface="맑은 고딕"/>
              </a:rPr>
              <a:t> 화면 수정요청</a:t>
            </a:r>
            <a:endParaRPr lang="en-US" altLang="ko-KR" sz="1400" b="1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8D2B802-B13E-1778-72A9-866B0D0AE08C}"/>
              </a:ext>
            </a:extLst>
          </p:cNvPr>
          <p:cNvSpPr txBox="1"/>
          <p:nvPr/>
        </p:nvSpPr>
        <p:spPr>
          <a:xfrm>
            <a:off x="191459" y="856742"/>
            <a:ext cx="18822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리포트 화면</a:t>
            </a:r>
            <a:r>
              <a:rPr lang="en-US" altLang="ko-KR" sz="1600" b="1" dirty="0"/>
              <a:t>(07)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C840F5-CE99-EF46-54D4-B87AB12BEC2B}"/>
              </a:ext>
            </a:extLst>
          </p:cNvPr>
          <p:cNvSpPr txBox="1"/>
          <p:nvPr/>
        </p:nvSpPr>
        <p:spPr>
          <a:xfrm>
            <a:off x="3134336" y="956763"/>
            <a:ext cx="6367575" cy="36137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>
                <a:sym typeface="Wingdings" panose="05000000000000000000" pitchFamily="2" charset="2"/>
              </a:rPr>
              <a:t>7. </a:t>
            </a:r>
            <a:r>
              <a:rPr lang="ko-KR" altLang="en-US" sz="1400" b="1" dirty="0">
                <a:sym typeface="Wingdings" panose="05000000000000000000" pitchFamily="2" charset="2"/>
              </a:rPr>
              <a:t>리포트 화면</a:t>
            </a:r>
            <a:endParaRPr lang="en-US" altLang="ko-KR" sz="1400" b="1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sym typeface="Wingdings" panose="05000000000000000000" pitchFamily="2" charset="2"/>
              </a:rPr>
              <a:t>(</a:t>
            </a:r>
            <a:r>
              <a:rPr lang="ko-KR" altLang="en-US" sz="1400" b="1" dirty="0">
                <a:sym typeface="Wingdings" panose="05000000000000000000" pitchFamily="2" charset="2"/>
              </a:rPr>
              <a:t>이전페이지 연속</a:t>
            </a:r>
            <a:r>
              <a:rPr lang="en-US" altLang="ko-KR" sz="1400" b="1" dirty="0">
                <a:sym typeface="Wingdings" panose="05000000000000000000" pitchFamily="2" charset="2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sym typeface="Wingdings" panose="05000000000000000000" pitchFamily="2" charset="2"/>
              </a:rPr>
              <a:t>7-4. Range Distribution</a:t>
            </a:r>
            <a:r>
              <a:rPr lang="ko-KR" altLang="en-US" sz="1400" b="1" dirty="0">
                <a:sym typeface="Wingdings" panose="05000000000000000000" pitchFamily="2" charset="2"/>
              </a:rPr>
              <a:t>의 그래프형태를 </a:t>
            </a:r>
            <a:r>
              <a:rPr lang="en-US" altLang="ko-KR" sz="1400" b="1" dirty="0">
                <a:sym typeface="Wingdings" panose="05000000000000000000" pitchFamily="2" charset="2"/>
              </a:rPr>
              <a:t>Pie Chart</a:t>
            </a:r>
            <a:r>
              <a:rPr lang="ko-KR" altLang="en-US" sz="1400" b="1" dirty="0">
                <a:sym typeface="Wingdings" panose="05000000000000000000" pitchFamily="2" charset="2"/>
              </a:rPr>
              <a:t>형식으로 변경</a:t>
            </a:r>
            <a:r>
              <a:rPr lang="en-US" altLang="ko-KR" sz="1400" b="1" dirty="0">
                <a:sym typeface="Wingdings" panose="05000000000000000000" pitchFamily="2" charset="2"/>
              </a:rPr>
              <a:t>. </a:t>
            </a:r>
            <a:r>
              <a:rPr lang="ko-KR" altLang="en-US" sz="1400" b="1" dirty="0">
                <a:sym typeface="Wingdings" panose="05000000000000000000" pitchFamily="2" charset="2"/>
              </a:rPr>
              <a:t>퍼센트정보표시</a:t>
            </a:r>
            <a:endParaRPr lang="en-US" altLang="ko-KR" sz="1400" b="1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endParaRPr lang="en-US" altLang="ko-KR" sz="1400" b="1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endParaRPr lang="en-US" altLang="ko-KR" sz="1400" b="1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sym typeface="Wingdings" panose="05000000000000000000" pitchFamily="2" charset="2"/>
              </a:rPr>
              <a:t>                                                                         </a:t>
            </a:r>
          </a:p>
          <a:p>
            <a:pPr>
              <a:lnSpc>
                <a:spcPct val="150000"/>
              </a:lnSpc>
            </a:pPr>
            <a:endParaRPr lang="en-US" altLang="ko-KR" sz="1400" b="1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endParaRPr lang="en-US" altLang="ko-KR" sz="1400" b="1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sym typeface="Wingdings" panose="05000000000000000000" pitchFamily="2" charset="2"/>
              </a:rPr>
              <a:t>        Pie Chart </a:t>
            </a:r>
            <a:r>
              <a:rPr lang="ko-KR" altLang="en-US" sz="1400" b="1" dirty="0">
                <a:sym typeface="Wingdings" panose="05000000000000000000" pitchFamily="2" charset="2"/>
              </a:rPr>
              <a:t>내 </a:t>
            </a:r>
            <a:r>
              <a:rPr lang="en-US" altLang="ko-KR" sz="1400" b="1" u="sng" dirty="0">
                <a:solidFill>
                  <a:srgbClr val="FF0000"/>
                </a:solidFill>
                <a:sym typeface="Wingdings" panose="05000000000000000000" pitchFamily="2" charset="2"/>
              </a:rPr>
              <a:t>Very High</a:t>
            </a:r>
            <a:r>
              <a:rPr lang="ko-KR" altLang="en-US" sz="1400" b="1" dirty="0">
                <a:solidFill>
                  <a:srgbClr val="FF0000"/>
                </a:solidFill>
                <a:sym typeface="Wingdings" panose="05000000000000000000" pitchFamily="2" charset="2"/>
              </a:rPr>
              <a:t>는 삭제</a:t>
            </a:r>
            <a:endParaRPr lang="en-US" altLang="ko-KR" sz="1400" b="1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sym typeface="Wingdings" panose="05000000000000000000" pitchFamily="2" charset="2"/>
              </a:rPr>
              <a:t>            High / In Range / Low / Very Low</a:t>
            </a:r>
            <a:r>
              <a:rPr lang="ko-KR" altLang="en-US" sz="1400" b="1" dirty="0">
                <a:sym typeface="Wingdings" panose="05000000000000000000" pitchFamily="2" charset="2"/>
              </a:rPr>
              <a:t> 유지</a:t>
            </a:r>
            <a:r>
              <a:rPr lang="en-US" altLang="ko-KR" sz="1400" b="1" dirty="0">
                <a:sym typeface="Wingdings" panose="05000000000000000000" pitchFamily="2" charset="2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400" b="1" dirty="0">
              <a:sym typeface="Wingdings" panose="05000000000000000000" pitchFamily="2" charset="2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D382DF-C3BC-72A3-F9AD-BA37EC63C043}"/>
              </a:ext>
            </a:extLst>
          </p:cNvPr>
          <p:cNvSpPr txBox="1"/>
          <p:nvPr/>
        </p:nvSpPr>
        <p:spPr>
          <a:xfrm>
            <a:off x="1977313" y="3943777"/>
            <a:ext cx="4354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7-4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0C6FCB6-ADDF-1774-5C76-0FBA8638AC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4727" y="2328836"/>
            <a:ext cx="2221351" cy="118071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E13A0094-5323-A733-D872-1170EE79F2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8575" y="2190386"/>
            <a:ext cx="2476205" cy="131916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1DFE8226-798C-DC43-917E-A2593BE393CC}"/>
              </a:ext>
            </a:extLst>
          </p:cNvPr>
          <p:cNvSpPr txBox="1"/>
          <p:nvPr/>
        </p:nvSpPr>
        <p:spPr>
          <a:xfrm>
            <a:off x="6424727" y="2141588"/>
            <a:ext cx="23191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Range Distribution(Pie Chart)</a:t>
            </a:r>
            <a:endParaRPr lang="ko-KR" altLang="en-US" sz="1200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A4188AD6-35B2-752E-E012-BA583DF3C9EC}"/>
              </a:ext>
            </a:extLst>
          </p:cNvPr>
          <p:cNvSpPr/>
          <p:nvPr/>
        </p:nvSpPr>
        <p:spPr>
          <a:xfrm>
            <a:off x="301202" y="3509554"/>
            <a:ext cx="2502958" cy="2708365"/>
          </a:xfrm>
          <a:prstGeom prst="roundRect">
            <a:avLst>
              <a:gd name="adj" fmla="val 10030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0E7AF2B1-6DA4-7987-BA87-E0A8C6A73FB8}"/>
              </a:ext>
            </a:extLst>
          </p:cNvPr>
          <p:cNvCxnSpPr/>
          <p:nvPr/>
        </p:nvCxnSpPr>
        <p:spPr>
          <a:xfrm>
            <a:off x="6531429" y="2673531"/>
            <a:ext cx="653142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94BAAAB1-F1F6-E5F1-B6E9-71A94A6F0F51}"/>
              </a:ext>
            </a:extLst>
          </p:cNvPr>
          <p:cNvSpPr/>
          <p:nvPr/>
        </p:nvSpPr>
        <p:spPr>
          <a:xfrm>
            <a:off x="462860" y="3587932"/>
            <a:ext cx="2193253" cy="1219200"/>
          </a:xfrm>
          <a:prstGeom prst="roundRect">
            <a:avLst>
              <a:gd name="adj" fmla="val 6984"/>
            </a:avLst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15288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368B3-5AE1-FABF-392F-C7CE61EFC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6236F3CA-75B0-A835-67BF-930199FC5C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01" y="1243135"/>
            <a:ext cx="2526403" cy="4988846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5A1E566C-6567-C3DB-692B-11F025AC12D8}"/>
              </a:ext>
            </a:extLst>
          </p:cNvPr>
          <p:cNvSpPr/>
          <p:nvPr/>
        </p:nvSpPr>
        <p:spPr>
          <a:xfrm>
            <a:off x="8523798" y="222637"/>
            <a:ext cx="1041621" cy="5883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524BF34-E686-7E0B-E77C-71E31166C6EE}"/>
              </a:ext>
            </a:extLst>
          </p:cNvPr>
          <p:cNvSpPr/>
          <p:nvPr/>
        </p:nvSpPr>
        <p:spPr>
          <a:xfrm>
            <a:off x="8523798" y="222637"/>
            <a:ext cx="1041621" cy="5883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8B8399E-DADB-F7FA-FF7D-350EDDAEC78F}"/>
              </a:ext>
            </a:extLst>
          </p:cNvPr>
          <p:cNvSpPr/>
          <p:nvPr/>
        </p:nvSpPr>
        <p:spPr>
          <a:xfrm>
            <a:off x="7036905" y="6577971"/>
            <a:ext cx="2664000" cy="1334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EMPECS Medical Device Co., Ltd. All Rights reserved.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pic>
        <p:nvPicPr>
          <p:cNvPr id="22" name="Picture 2">
            <a:extLst>
              <a:ext uri="{FF2B5EF4-FFF2-40B4-BE49-F238E27FC236}">
                <a16:creationId xmlns:a16="http://schemas.microsoft.com/office/drawing/2014/main" id="{BA7716F6-04F7-6E4C-DCD3-C34A4EDA4001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3798" y="157298"/>
            <a:ext cx="998995" cy="65373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D675A639-035F-CEC2-82DC-108F7ED47B6C}"/>
              </a:ext>
            </a:extLst>
          </p:cNvPr>
          <p:cNvSpPr txBox="1"/>
          <p:nvPr/>
        </p:nvSpPr>
        <p:spPr>
          <a:xfrm>
            <a:off x="191459" y="221907"/>
            <a:ext cx="9523081" cy="3738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latin typeface="맑은 고딕"/>
                <a:ea typeface="맑은 고딕"/>
              </a:rPr>
              <a:t>▣ </a:t>
            </a:r>
            <a:r>
              <a:rPr lang="en-US" altLang="ko-KR" sz="1400" b="1" dirty="0">
                <a:latin typeface="맑은 고딕"/>
                <a:ea typeface="맑은 고딕"/>
              </a:rPr>
              <a:t>App</a:t>
            </a:r>
            <a:r>
              <a:rPr lang="ko-KR" altLang="en-US" sz="1400" b="1" dirty="0">
                <a:latin typeface="맑은 고딕"/>
                <a:ea typeface="맑은 고딕"/>
              </a:rPr>
              <a:t> 화면 수정요청</a:t>
            </a:r>
            <a:endParaRPr lang="en-US" altLang="ko-KR" sz="1400" b="1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016E82A-CD59-7535-28DE-E3A1806A0F32}"/>
              </a:ext>
            </a:extLst>
          </p:cNvPr>
          <p:cNvSpPr txBox="1"/>
          <p:nvPr/>
        </p:nvSpPr>
        <p:spPr>
          <a:xfrm>
            <a:off x="191459" y="856742"/>
            <a:ext cx="17157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센서 화면</a:t>
            </a:r>
            <a:r>
              <a:rPr lang="en-US" altLang="ko-KR" sz="1600" b="1" dirty="0"/>
              <a:t>(08)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3E39706E-EEB1-1B89-767F-1F58DCBCDED5}"/>
              </a:ext>
            </a:extLst>
          </p:cNvPr>
          <p:cNvSpPr/>
          <p:nvPr/>
        </p:nvSpPr>
        <p:spPr>
          <a:xfrm>
            <a:off x="456879" y="3429000"/>
            <a:ext cx="2326846" cy="481149"/>
          </a:xfrm>
          <a:prstGeom prst="roundRect">
            <a:avLst>
              <a:gd name="adj" fmla="val 10925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2BCC22FC-9059-921E-3D3B-ADBB4D58DB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2374" y="1884995"/>
            <a:ext cx="1714242" cy="352738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FC51ED9B-B231-3F07-DB41-3554B694F00C}"/>
              </a:ext>
            </a:extLst>
          </p:cNvPr>
          <p:cNvSpPr txBox="1"/>
          <p:nvPr/>
        </p:nvSpPr>
        <p:spPr>
          <a:xfrm>
            <a:off x="4952999" y="1243135"/>
            <a:ext cx="4548911" cy="3290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8. </a:t>
            </a:r>
            <a:r>
              <a:rPr lang="ko-KR" altLang="en-US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센서화면</a:t>
            </a:r>
            <a:endParaRPr lang="en-US" altLang="ko-KR" sz="1400" b="1" dirty="0">
              <a:highlight>
                <a:srgbClr val="00FF00"/>
              </a:highlight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8-1. Start Time</a:t>
            </a:r>
            <a:r>
              <a:rPr lang="ko-KR" altLang="en-US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은 시작된 년</a:t>
            </a:r>
            <a:r>
              <a:rPr lang="en-US" altLang="ko-KR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/</a:t>
            </a:r>
            <a:r>
              <a:rPr lang="ko-KR" altLang="en-US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월</a:t>
            </a:r>
            <a:r>
              <a:rPr lang="en-US" altLang="ko-KR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/</a:t>
            </a:r>
            <a:r>
              <a:rPr lang="ko-KR" altLang="en-US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일만 표시</a:t>
            </a:r>
            <a:endParaRPr lang="en-US" altLang="ko-KR" sz="1400" b="1" dirty="0">
              <a:highlight>
                <a:srgbClr val="00FF00"/>
              </a:highlight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8-2. </a:t>
            </a:r>
            <a:r>
              <a:rPr lang="ko-KR" altLang="en-US" sz="1400" b="1" dirty="0" err="1">
                <a:highlight>
                  <a:srgbClr val="00FF00"/>
                </a:highlight>
                <a:sym typeface="Wingdings" panose="05000000000000000000" pitchFamily="2" charset="2"/>
              </a:rPr>
              <a:t>센서스타트시간</a:t>
            </a:r>
            <a:r>
              <a:rPr lang="ko-KR" altLang="en-US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 자동표시 </a:t>
            </a:r>
            <a:r>
              <a:rPr lang="en-US" altLang="ko-KR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(Set to now </a:t>
            </a:r>
            <a:r>
              <a:rPr lang="ko-KR" altLang="en-US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버튼 삭제</a:t>
            </a:r>
            <a:r>
              <a:rPr lang="en-US" altLang="ko-KR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8-3. Warm-up</a:t>
            </a:r>
            <a:r>
              <a:rPr lang="ko-KR" altLang="en-US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시간은 </a:t>
            </a:r>
            <a:r>
              <a:rPr lang="ko-KR" altLang="en-US" sz="1400" b="1" dirty="0" err="1">
                <a:highlight>
                  <a:srgbClr val="00FF00"/>
                </a:highlight>
                <a:sym typeface="Wingdings" panose="05000000000000000000" pitchFamily="2" charset="2"/>
              </a:rPr>
              <a:t>센서스타트</a:t>
            </a:r>
            <a:r>
              <a:rPr lang="ko-KR" altLang="en-US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 후 </a:t>
            </a:r>
            <a:r>
              <a:rPr lang="en-US" altLang="ko-KR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60min </a:t>
            </a:r>
            <a:r>
              <a:rPr lang="ko-KR" altLang="en-US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고정 설정</a:t>
            </a:r>
            <a:endParaRPr lang="en-US" altLang="ko-KR" sz="1400" b="1" dirty="0">
              <a:highlight>
                <a:srgbClr val="00FF00"/>
              </a:highlight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        (30, 45, 60, 90</a:t>
            </a:r>
            <a:r>
              <a:rPr lang="ko-KR" altLang="en-US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분 선택방식 아님</a:t>
            </a:r>
            <a:r>
              <a:rPr lang="en-US" altLang="ko-KR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ko-KR" sz="1400" b="1" dirty="0">
              <a:highlight>
                <a:srgbClr val="00FF00"/>
              </a:highlight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                                                                    </a:t>
            </a:r>
          </a:p>
          <a:p>
            <a:pPr>
              <a:lnSpc>
                <a:spcPct val="150000"/>
              </a:lnSpc>
            </a:pPr>
            <a:endParaRPr lang="en-US" altLang="ko-KR" sz="1400" b="1" dirty="0">
              <a:highlight>
                <a:srgbClr val="00FF00"/>
              </a:highlight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endParaRPr lang="en-US" altLang="ko-KR" sz="1400" b="1" dirty="0">
              <a:highlight>
                <a:srgbClr val="00FF00"/>
              </a:highlight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endParaRPr lang="en-US" altLang="ko-KR" sz="1400" b="1" dirty="0">
              <a:highlight>
                <a:srgbClr val="00FF00"/>
              </a:highlight>
              <a:sym typeface="Wingdings" panose="05000000000000000000" pitchFamily="2" charset="2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8A93DFC-A9CC-B371-17CD-8B5DA0B91CFD}"/>
              </a:ext>
            </a:extLst>
          </p:cNvPr>
          <p:cNvSpPr txBox="1"/>
          <p:nvPr/>
        </p:nvSpPr>
        <p:spPr>
          <a:xfrm>
            <a:off x="3700537" y="2482207"/>
            <a:ext cx="4354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8-2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7975851-ABFD-607C-5EED-7263EA2F1C51}"/>
              </a:ext>
            </a:extLst>
          </p:cNvPr>
          <p:cNvSpPr txBox="1"/>
          <p:nvPr/>
        </p:nvSpPr>
        <p:spPr>
          <a:xfrm>
            <a:off x="4135965" y="3210224"/>
            <a:ext cx="4354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8-3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7739840-D609-93BF-C63F-B89E2B44D24B}"/>
              </a:ext>
            </a:extLst>
          </p:cNvPr>
          <p:cNvSpPr txBox="1"/>
          <p:nvPr/>
        </p:nvSpPr>
        <p:spPr>
          <a:xfrm>
            <a:off x="1620302" y="3648539"/>
            <a:ext cx="4354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8-1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8BEACB8-F5CE-5954-3092-D17FC917313D}"/>
              </a:ext>
            </a:extLst>
          </p:cNvPr>
          <p:cNvSpPr txBox="1"/>
          <p:nvPr/>
        </p:nvSpPr>
        <p:spPr>
          <a:xfrm>
            <a:off x="6269342" y="4153355"/>
            <a:ext cx="1777379" cy="3803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sym typeface="Wingdings" panose="05000000000000000000" pitchFamily="2" charset="2"/>
              </a:rPr>
              <a:t>업데이트 예정</a:t>
            </a:r>
            <a:r>
              <a:rPr lang="en-US" altLang="ko-KR" sz="1400" b="1" dirty="0">
                <a:sym typeface="Wingdings" panose="05000000000000000000" pitchFamily="2" charset="2"/>
              </a:rPr>
              <a:t>                    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6822555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E9776-7FE9-B22C-DB28-772996E58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B41DCA03-A00D-E785-4988-5EC94F5CD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8871" y="1884995"/>
            <a:ext cx="1714243" cy="3527382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C6DD2E4-9F74-F69C-3110-78DC412071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101" y="1243135"/>
            <a:ext cx="2526403" cy="4988846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46EC4AC6-F217-ED33-330C-0107B9AE28FC}"/>
              </a:ext>
            </a:extLst>
          </p:cNvPr>
          <p:cNvSpPr/>
          <p:nvPr/>
        </p:nvSpPr>
        <p:spPr>
          <a:xfrm>
            <a:off x="8523798" y="222637"/>
            <a:ext cx="1041621" cy="5883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BE237BB-E3AC-FD49-E78D-8884EC9602C8}"/>
              </a:ext>
            </a:extLst>
          </p:cNvPr>
          <p:cNvSpPr/>
          <p:nvPr/>
        </p:nvSpPr>
        <p:spPr>
          <a:xfrm>
            <a:off x="8523798" y="222637"/>
            <a:ext cx="1041621" cy="5883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66561F4-6D95-E99A-16A5-06E592930401}"/>
              </a:ext>
            </a:extLst>
          </p:cNvPr>
          <p:cNvSpPr/>
          <p:nvPr/>
        </p:nvSpPr>
        <p:spPr>
          <a:xfrm>
            <a:off x="7036905" y="6577971"/>
            <a:ext cx="2664000" cy="1334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EMPECS Medical Device Co., Ltd. All Rights reserved.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pic>
        <p:nvPicPr>
          <p:cNvPr id="22" name="Picture 2">
            <a:extLst>
              <a:ext uri="{FF2B5EF4-FFF2-40B4-BE49-F238E27FC236}">
                <a16:creationId xmlns:a16="http://schemas.microsoft.com/office/drawing/2014/main" id="{6726A3BE-2637-C49B-55E9-957082B4257E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3798" y="157298"/>
            <a:ext cx="998995" cy="65373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65462FF5-2688-AB6B-6A5A-FFC9C1DFAAC6}"/>
              </a:ext>
            </a:extLst>
          </p:cNvPr>
          <p:cNvSpPr txBox="1"/>
          <p:nvPr/>
        </p:nvSpPr>
        <p:spPr>
          <a:xfrm>
            <a:off x="191459" y="221907"/>
            <a:ext cx="9523081" cy="3738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latin typeface="맑은 고딕"/>
                <a:ea typeface="맑은 고딕"/>
              </a:rPr>
              <a:t>▣ </a:t>
            </a:r>
            <a:r>
              <a:rPr lang="en-US" altLang="ko-KR" sz="1400" b="1" dirty="0">
                <a:latin typeface="맑은 고딕"/>
                <a:ea typeface="맑은 고딕"/>
              </a:rPr>
              <a:t>App</a:t>
            </a:r>
            <a:r>
              <a:rPr lang="ko-KR" altLang="en-US" sz="1400" b="1" dirty="0">
                <a:latin typeface="맑은 고딕"/>
                <a:ea typeface="맑은 고딕"/>
              </a:rPr>
              <a:t> 화면 수정요청</a:t>
            </a:r>
            <a:endParaRPr lang="en-US" altLang="ko-KR" sz="1400" b="1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55F9D7F-6217-6452-A8E3-AB505D47C0B0}"/>
              </a:ext>
            </a:extLst>
          </p:cNvPr>
          <p:cNvSpPr txBox="1"/>
          <p:nvPr/>
        </p:nvSpPr>
        <p:spPr>
          <a:xfrm>
            <a:off x="191459" y="856742"/>
            <a:ext cx="17157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센서 화면</a:t>
            </a:r>
            <a:r>
              <a:rPr lang="en-US" altLang="ko-KR" sz="1600" b="1" dirty="0"/>
              <a:t>(08)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64DA7888-A5A6-08CC-BA33-068694A55652}"/>
              </a:ext>
            </a:extLst>
          </p:cNvPr>
          <p:cNvSpPr/>
          <p:nvPr/>
        </p:nvSpPr>
        <p:spPr>
          <a:xfrm>
            <a:off x="456879" y="4931228"/>
            <a:ext cx="2326846" cy="481149"/>
          </a:xfrm>
          <a:prstGeom prst="roundRect">
            <a:avLst>
              <a:gd name="adj" fmla="val 10925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15A336B-5B90-7FDD-FCAD-F55A50BFFCDA}"/>
              </a:ext>
            </a:extLst>
          </p:cNvPr>
          <p:cNvSpPr txBox="1"/>
          <p:nvPr/>
        </p:nvSpPr>
        <p:spPr>
          <a:xfrm>
            <a:off x="2861272" y="4634383"/>
            <a:ext cx="4354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8-4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0C65DC-8C38-C04D-4BDE-5FCECF012DE7}"/>
              </a:ext>
            </a:extLst>
          </p:cNvPr>
          <p:cNvSpPr txBox="1"/>
          <p:nvPr/>
        </p:nvSpPr>
        <p:spPr>
          <a:xfrm>
            <a:off x="4953000" y="1243135"/>
            <a:ext cx="4548911" cy="26442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>
                <a:highlight>
                  <a:srgbClr val="FFFF00"/>
                </a:highlight>
                <a:sym typeface="Wingdings" panose="05000000000000000000" pitchFamily="2" charset="2"/>
              </a:rPr>
              <a:t>8. </a:t>
            </a:r>
            <a:r>
              <a:rPr lang="ko-KR" altLang="en-US" sz="1400" b="1" dirty="0">
                <a:highlight>
                  <a:srgbClr val="FFFF00"/>
                </a:highlight>
                <a:sym typeface="Wingdings" panose="05000000000000000000" pitchFamily="2" charset="2"/>
              </a:rPr>
              <a:t>센서화면</a:t>
            </a:r>
            <a:endParaRPr lang="en-US" altLang="ko-KR" sz="1400" b="1" dirty="0">
              <a:highlight>
                <a:srgbClr val="FFFF00"/>
              </a:highlight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highlight>
                  <a:srgbClr val="FFFF00"/>
                </a:highlight>
                <a:sym typeface="Wingdings" panose="05000000000000000000" pitchFamily="2" charset="2"/>
              </a:rPr>
              <a:t>(</a:t>
            </a:r>
            <a:r>
              <a:rPr lang="ko-KR" altLang="en-US" sz="1400" b="1" dirty="0">
                <a:highlight>
                  <a:srgbClr val="FFFF00"/>
                </a:highlight>
                <a:sym typeface="Wingdings" panose="05000000000000000000" pitchFamily="2" charset="2"/>
              </a:rPr>
              <a:t>이전페이지 연속</a:t>
            </a:r>
            <a:r>
              <a:rPr lang="en-US" altLang="ko-KR" sz="1400" b="1" dirty="0">
                <a:highlight>
                  <a:srgbClr val="FFFF00"/>
                </a:highlight>
                <a:sym typeface="Wingdings" panose="05000000000000000000" pitchFamily="2" charset="2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highlight>
                  <a:srgbClr val="FFFF00"/>
                </a:highlight>
                <a:sym typeface="Wingdings" panose="05000000000000000000" pitchFamily="2" charset="2"/>
              </a:rPr>
              <a:t>8-4. </a:t>
            </a:r>
            <a:r>
              <a:rPr lang="ko-KR" altLang="en-US" sz="1400" b="1" dirty="0">
                <a:highlight>
                  <a:srgbClr val="FFFF00"/>
                </a:highlight>
                <a:sym typeface="Wingdings" panose="05000000000000000000" pitchFamily="2" charset="2"/>
              </a:rPr>
              <a:t>공유할 데이터가 무엇인지 확인하는 창 추가여부</a:t>
            </a:r>
            <a:endParaRPr lang="en-US" altLang="ko-KR" sz="1400" b="1" dirty="0">
              <a:highlight>
                <a:srgbClr val="FFFF00"/>
              </a:highlight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highlight>
                  <a:srgbClr val="FFFF00"/>
                </a:highlight>
                <a:sym typeface="Wingdings" panose="05000000000000000000" pitchFamily="2" charset="2"/>
              </a:rPr>
              <a:t>        [OK],[Cancel] </a:t>
            </a:r>
            <a:r>
              <a:rPr lang="ko-KR" altLang="en-US" sz="1400" b="1" dirty="0">
                <a:highlight>
                  <a:srgbClr val="FFFF00"/>
                </a:highlight>
                <a:sym typeface="Wingdings" panose="05000000000000000000" pitchFamily="2" charset="2"/>
              </a:rPr>
              <a:t>선택방식</a:t>
            </a:r>
            <a:endParaRPr lang="en-US" altLang="ko-KR" sz="1400" b="1" dirty="0">
              <a:highlight>
                <a:srgbClr val="FFFF00"/>
              </a:highlight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highlight>
                  <a:srgbClr val="FFFF00"/>
                </a:highlight>
                <a:sym typeface="Wingdings" panose="05000000000000000000" pitchFamily="2" charset="2"/>
              </a:rPr>
              <a:t>                                                                    </a:t>
            </a:r>
          </a:p>
          <a:p>
            <a:pPr>
              <a:lnSpc>
                <a:spcPct val="150000"/>
              </a:lnSpc>
            </a:pPr>
            <a:endParaRPr lang="en-US" altLang="ko-KR" sz="1400" b="1" dirty="0">
              <a:highlight>
                <a:srgbClr val="FFFF00"/>
              </a:highlight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endParaRPr lang="en-US" altLang="ko-KR" sz="1400" b="1" dirty="0">
              <a:highlight>
                <a:srgbClr val="FFFF00"/>
              </a:highlight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endParaRPr lang="en-US" altLang="ko-KR" sz="1400" b="1" dirty="0">
              <a:highlight>
                <a:srgbClr val="FFFF00"/>
              </a:highlight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9719700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04BA7-8743-C8C5-AA52-5AD86BC31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0747537-4339-68D0-3420-3E6FEFC224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950" y="1257745"/>
            <a:ext cx="2544580" cy="5018118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354FBA18-38E4-3635-B173-0DCA01445AB5}"/>
              </a:ext>
            </a:extLst>
          </p:cNvPr>
          <p:cNvSpPr/>
          <p:nvPr/>
        </p:nvSpPr>
        <p:spPr>
          <a:xfrm>
            <a:off x="8523798" y="222637"/>
            <a:ext cx="1041621" cy="5883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C0D9D2E-33BA-3D19-47C0-E9EAD2CCD2DF}"/>
              </a:ext>
            </a:extLst>
          </p:cNvPr>
          <p:cNvSpPr/>
          <p:nvPr/>
        </p:nvSpPr>
        <p:spPr>
          <a:xfrm>
            <a:off x="8523798" y="222637"/>
            <a:ext cx="1041621" cy="5883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B48FC1B-EACB-D3EC-1872-300E36643446}"/>
              </a:ext>
            </a:extLst>
          </p:cNvPr>
          <p:cNvSpPr/>
          <p:nvPr/>
        </p:nvSpPr>
        <p:spPr>
          <a:xfrm>
            <a:off x="7036905" y="6577971"/>
            <a:ext cx="2664000" cy="1334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EMPECS Medical Device Co., Ltd. All Rights reserved.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pic>
        <p:nvPicPr>
          <p:cNvPr id="22" name="Picture 2">
            <a:extLst>
              <a:ext uri="{FF2B5EF4-FFF2-40B4-BE49-F238E27FC236}">
                <a16:creationId xmlns:a16="http://schemas.microsoft.com/office/drawing/2014/main" id="{38D04C4B-FA75-37D7-5B7E-E25DE4F8CACF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3798" y="157298"/>
            <a:ext cx="998995" cy="65373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E2B1DB41-04C0-3F8F-C547-1119CA243790}"/>
              </a:ext>
            </a:extLst>
          </p:cNvPr>
          <p:cNvSpPr txBox="1"/>
          <p:nvPr/>
        </p:nvSpPr>
        <p:spPr>
          <a:xfrm>
            <a:off x="191459" y="221907"/>
            <a:ext cx="9523081" cy="3738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latin typeface="맑은 고딕"/>
                <a:ea typeface="맑은 고딕"/>
              </a:rPr>
              <a:t>▣ </a:t>
            </a:r>
            <a:r>
              <a:rPr lang="en-US" altLang="ko-KR" sz="1400" b="1" dirty="0">
                <a:latin typeface="맑은 고딕"/>
                <a:ea typeface="맑은 고딕"/>
              </a:rPr>
              <a:t>App</a:t>
            </a:r>
            <a:r>
              <a:rPr lang="ko-KR" altLang="en-US" sz="1400" b="1" dirty="0">
                <a:latin typeface="맑은 고딕"/>
                <a:ea typeface="맑은 고딕"/>
              </a:rPr>
              <a:t> 화면 수정요청</a:t>
            </a:r>
            <a:endParaRPr lang="en-US" altLang="ko-KR" sz="1400" b="1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5185F65-4094-300E-E3C4-68B29CE81660}"/>
              </a:ext>
            </a:extLst>
          </p:cNvPr>
          <p:cNvSpPr txBox="1"/>
          <p:nvPr/>
        </p:nvSpPr>
        <p:spPr>
          <a:xfrm>
            <a:off x="191459" y="856742"/>
            <a:ext cx="16770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알람 화면</a:t>
            </a:r>
            <a:r>
              <a:rPr lang="en-US" altLang="ko-KR" sz="1600" b="1" dirty="0"/>
              <a:t>(09)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25B9C9-678E-0B4B-FF07-41D4714BDCEE}"/>
              </a:ext>
            </a:extLst>
          </p:cNvPr>
          <p:cNvSpPr txBox="1"/>
          <p:nvPr/>
        </p:nvSpPr>
        <p:spPr>
          <a:xfrm>
            <a:off x="4064309" y="1912127"/>
            <a:ext cx="1777379" cy="3803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sym typeface="Wingdings" panose="05000000000000000000" pitchFamily="2" charset="2"/>
              </a:rPr>
              <a:t>업데이트 예정</a:t>
            </a:r>
            <a:r>
              <a:rPr lang="en-US" altLang="ko-KR" sz="1400" b="1" dirty="0">
                <a:sym typeface="Wingdings" panose="05000000000000000000" pitchFamily="2" charset="2"/>
              </a:rPr>
              <a:t>                    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0349734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49951-9CA1-7E04-3D03-6C35036A9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7C051D90-792D-98D6-E107-2B11068496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207" y="1229385"/>
            <a:ext cx="2407321" cy="4771873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CA60CF3A-F6C8-D026-036F-56A555EE21A8}"/>
              </a:ext>
            </a:extLst>
          </p:cNvPr>
          <p:cNvSpPr/>
          <p:nvPr/>
        </p:nvSpPr>
        <p:spPr>
          <a:xfrm>
            <a:off x="8523798" y="222637"/>
            <a:ext cx="1041621" cy="5883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039877F-6442-1E3C-58BF-1B30B9EF4A0E}"/>
              </a:ext>
            </a:extLst>
          </p:cNvPr>
          <p:cNvSpPr/>
          <p:nvPr/>
        </p:nvSpPr>
        <p:spPr>
          <a:xfrm>
            <a:off x="8523798" y="222637"/>
            <a:ext cx="1041621" cy="5883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4E8719C-6556-9903-03DB-B0B3125E5B6C}"/>
              </a:ext>
            </a:extLst>
          </p:cNvPr>
          <p:cNvSpPr/>
          <p:nvPr/>
        </p:nvSpPr>
        <p:spPr>
          <a:xfrm>
            <a:off x="7036905" y="6577971"/>
            <a:ext cx="2664000" cy="1334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EMPECS Medical Device Co., Ltd. All Rights reserved.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pic>
        <p:nvPicPr>
          <p:cNvPr id="22" name="Picture 2">
            <a:extLst>
              <a:ext uri="{FF2B5EF4-FFF2-40B4-BE49-F238E27FC236}">
                <a16:creationId xmlns:a16="http://schemas.microsoft.com/office/drawing/2014/main" id="{D381DD17-A54C-5842-3A30-D3A76A2E4B0F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3798" y="157298"/>
            <a:ext cx="998995" cy="65373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C1AA9DBC-D841-4876-D238-4311B3B6DF8D}"/>
              </a:ext>
            </a:extLst>
          </p:cNvPr>
          <p:cNvSpPr txBox="1"/>
          <p:nvPr/>
        </p:nvSpPr>
        <p:spPr>
          <a:xfrm>
            <a:off x="191459" y="221907"/>
            <a:ext cx="9523081" cy="3738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latin typeface="맑은 고딕"/>
                <a:ea typeface="맑은 고딕"/>
              </a:rPr>
              <a:t>▣ </a:t>
            </a:r>
            <a:r>
              <a:rPr lang="en-US" altLang="ko-KR" sz="1400" b="1" dirty="0">
                <a:latin typeface="맑은 고딕"/>
                <a:ea typeface="맑은 고딕"/>
              </a:rPr>
              <a:t>App</a:t>
            </a:r>
            <a:r>
              <a:rPr lang="ko-KR" altLang="en-US" sz="1400" b="1" dirty="0">
                <a:latin typeface="맑은 고딕"/>
                <a:ea typeface="맑은 고딕"/>
              </a:rPr>
              <a:t> 화면 수정요청</a:t>
            </a:r>
            <a:endParaRPr lang="en-US" altLang="ko-KR" sz="1400" b="1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A84F5E0-2015-4F46-5D0D-CC3EE67A72D2}"/>
              </a:ext>
            </a:extLst>
          </p:cNvPr>
          <p:cNvSpPr txBox="1"/>
          <p:nvPr/>
        </p:nvSpPr>
        <p:spPr>
          <a:xfrm>
            <a:off x="191459" y="856742"/>
            <a:ext cx="16770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설정 화면</a:t>
            </a:r>
            <a:r>
              <a:rPr lang="en-US" altLang="ko-KR" sz="1600" b="1" dirty="0"/>
              <a:t>(10)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ED63887-7514-6592-EA2F-87A621D7406E}"/>
              </a:ext>
            </a:extLst>
          </p:cNvPr>
          <p:cNvSpPr/>
          <p:nvPr/>
        </p:nvSpPr>
        <p:spPr>
          <a:xfrm>
            <a:off x="367165" y="1415232"/>
            <a:ext cx="2407322" cy="3673842"/>
          </a:xfrm>
          <a:prstGeom prst="roundRect">
            <a:avLst>
              <a:gd name="adj" fmla="val 10279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화살표: 오른쪽 58">
            <a:extLst>
              <a:ext uri="{FF2B5EF4-FFF2-40B4-BE49-F238E27FC236}">
                <a16:creationId xmlns:a16="http://schemas.microsoft.com/office/drawing/2014/main" id="{34B0905D-4ACF-A608-9EDF-3AB37059BFAB}"/>
              </a:ext>
            </a:extLst>
          </p:cNvPr>
          <p:cNvSpPr/>
          <p:nvPr/>
        </p:nvSpPr>
        <p:spPr>
          <a:xfrm>
            <a:off x="2829246" y="2678911"/>
            <a:ext cx="303051" cy="373885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C34603-ECE5-DC99-98D5-D0782AB35FC7}"/>
              </a:ext>
            </a:extLst>
          </p:cNvPr>
          <p:cNvSpPr txBox="1"/>
          <p:nvPr/>
        </p:nvSpPr>
        <p:spPr>
          <a:xfrm>
            <a:off x="5382644" y="1195296"/>
            <a:ext cx="4140150" cy="2321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10. </a:t>
            </a:r>
            <a:r>
              <a:rPr lang="ko-KR" altLang="en-US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설정화면</a:t>
            </a:r>
            <a:endParaRPr lang="en-US" altLang="ko-KR" sz="1400" b="1" dirty="0">
              <a:highlight>
                <a:srgbClr val="00FF00"/>
              </a:highlight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10-1. </a:t>
            </a:r>
            <a:r>
              <a:rPr lang="ko-KR" altLang="en-US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사용자 프로필을 맨 위에 삽입추가</a:t>
            </a:r>
            <a:r>
              <a:rPr lang="en-US" altLang="ko-KR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  </a:t>
            </a: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10-2. </a:t>
            </a:r>
            <a:r>
              <a:rPr lang="ko-KR" altLang="en-US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사용기한 남은 사용일수 표시 삽입추가</a:t>
            </a:r>
            <a:endParaRPr lang="en-US" altLang="ko-KR" sz="1400" b="1" dirty="0">
              <a:highlight>
                <a:srgbClr val="00FF00"/>
              </a:highlight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10-3. </a:t>
            </a:r>
            <a:r>
              <a:rPr lang="ko-KR" altLang="en-US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해당구역에 설정화면 배치</a:t>
            </a:r>
            <a:r>
              <a:rPr lang="en-US" altLang="ko-KR" sz="1400" b="1" dirty="0">
                <a:highlight>
                  <a:srgbClr val="00FF00"/>
                </a:highlight>
                <a:sym typeface="Wingdings" panose="05000000000000000000" pitchFamily="2" charset="2"/>
              </a:rPr>
              <a:t>                                                                 </a:t>
            </a:r>
          </a:p>
          <a:p>
            <a:pPr>
              <a:lnSpc>
                <a:spcPct val="150000"/>
              </a:lnSpc>
            </a:pPr>
            <a:endParaRPr lang="en-US" altLang="ko-KR" sz="1400" b="1" dirty="0">
              <a:highlight>
                <a:srgbClr val="00FF00"/>
              </a:highlight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endParaRPr lang="en-US" altLang="ko-KR" sz="1400" b="1" dirty="0">
              <a:highlight>
                <a:srgbClr val="00FF00"/>
              </a:highlight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endParaRPr lang="en-US" altLang="ko-KR" sz="1400" b="1" dirty="0">
              <a:highlight>
                <a:srgbClr val="00FF00"/>
              </a:highlight>
              <a:sym typeface="Wingdings" panose="05000000000000000000" pitchFamily="2" charset="2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290D019D-A49E-BC48-3E24-50D375FA16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1015" y="1255566"/>
            <a:ext cx="2172910" cy="383350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60F548E-309A-F400-9418-72740D68AA96}"/>
              </a:ext>
            </a:extLst>
          </p:cNvPr>
          <p:cNvSpPr txBox="1"/>
          <p:nvPr/>
        </p:nvSpPr>
        <p:spPr>
          <a:xfrm>
            <a:off x="3598533" y="1506546"/>
            <a:ext cx="4944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10-1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71502F1-301B-004F-A2D6-C2322EDB57A5}"/>
              </a:ext>
            </a:extLst>
          </p:cNvPr>
          <p:cNvSpPr txBox="1"/>
          <p:nvPr/>
        </p:nvSpPr>
        <p:spPr>
          <a:xfrm>
            <a:off x="3854490" y="2066762"/>
            <a:ext cx="4944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10-2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C0562F9-B2A1-49AB-46E8-3090FD97BA75}"/>
              </a:ext>
            </a:extLst>
          </p:cNvPr>
          <p:cNvSpPr txBox="1"/>
          <p:nvPr/>
        </p:nvSpPr>
        <p:spPr>
          <a:xfrm>
            <a:off x="4208627" y="2626978"/>
            <a:ext cx="4944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10-3</a:t>
            </a:r>
          </a:p>
        </p:txBody>
      </p:sp>
    </p:spTree>
    <p:extLst>
      <p:ext uri="{BB962C8B-B14F-4D97-AF65-F5344CB8AC3E}">
        <p14:creationId xmlns:p14="http://schemas.microsoft.com/office/powerpoint/2010/main" val="26132084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3C788-6E81-094A-8A2D-3B61DBF71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C704BD9B-02CC-C331-B804-43FF1EA7A00B}"/>
              </a:ext>
            </a:extLst>
          </p:cNvPr>
          <p:cNvSpPr/>
          <p:nvPr/>
        </p:nvSpPr>
        <p:spPr>
          <a:xfrm>
            <a:off x="8523798" y="222637"/>
            <a:ext cx="1041621" cy="5883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367B785-AA04-C2C1-F68C-B20C8BB98C6B}"/>
              </a:ext>
            </a:extLst>
          </p:cNvPr>
          <p:cNvSpPr/>
          <p:nvPr/>
        </p:nvSpPr>
        <p:spPr>
          <a:xfrm>
            <a:off x="8523798" y="222637"/>
            <a:ext cx="1041621" cy="5883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74AF932-75D1-A6C7-3D32-08F6B31D294E}"/>
              </a:ext>
            </a:extLst>
          </p:cNvPr>
          <p:cNvSpPr/>
          <p:nvPr/>
        </p:nvSpPr>
        <p:spPr>
          <a:xfrm>
            <a:off x="7036905" y="6577971"/>
            <a:ext cx="2664000" cy="1334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EMPECS Medical Device Co., Ltd. All Rights reserved.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pic>
        <p:nvPicPr>
          <p:cNvPr id="22" name="Picture 2">
            <a:extLst>
              <a:ext uri="{FF2B5EF4-FFF2-40B4-BE49-F238E27FC236}">
                <a16:creationId xmlns:a16="http://schemas.microsoft.com/office/drawing/2014/main" id="{DB63B3F2-D23A-1428-2D84-CE89D1F0572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3798" y="157298"/>
            <a:ext cx="998995" cy="65373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B4FDA02B-DBDC-267E-666F-C44C7EF1752E}"/>
              </a:ext>
            </a:extLst>
          </p:cNvPr>
          <p:cNvSpPr txBox="1"/>
          <p:nvPr/>
        </p:nvSpPr>
        <p:spPr>
          <a:xfrm>
            <a:off x="191459" y="221907"/>
            <a:ext cx="9523081" cy="3738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latin typeface="맑은 고딕"/>
                <a:ea typeface="맑은 고딕"/>
              </a:rPr>
              <a:t>▣ </a:t>
            </a:r>
            <a:r>
              <a:rPr lang="en-US" altLang="ko-KR" sz="1400" b="1" dirty="0">
                <a:latin typeface="맑은 고딕"/>
                <a:ea typeface="맑은 고딕"/>
              </a:rPr>
              <a:t>App</a:t>
            </a:r>
            <a:r>
              <a:rPr lang="ko-KR" altLang="en-US" sz="1400" b="1" dirty="0">
                <a:latin typeface="맑은 고딕"/>
                <a:ea typeface="맑은 고딕"/>
              </a:rPr>
              <a:t> 화면 수정요청</a:t>
            </a:r>
            <a:endParaRPr lang="en-US" altLang="ko-KR" sz="1400" b="1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475E008-3D6F-9B86-1226-42F84A892FC3}"/>
              </a:ext>
            </a:extLst>
          </p:cNvPr>
          <p:cNvSpPr txBox="1"/>
          <p:nvPr/>
        </p:nvSpPr>
        <p:spPr>
          <a:xfrm>
            <a:off x="191459" y="856742"/>
            <a:ext cx="49215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어떻게 </a:t>
            </a:r>
            <a:r>
              <a:rPr lang="ko-KR" altLang="en-US" sz="1600" b="1" dirty="0" err="1"/>
              <a:t>어플리케이터를</a:t>
            </a:r>
            <a:r>
              <a:rPr lang="ko-KR" altLang="en-US" sz="1600" b="1" dirty="0"/>
              <a:t> 사용하는지 </a:t>
            </a:r>
            <a:r>
              <a:rPr lang="ko-KR" altLang="en-US" sz="1600" b="1" dirty="0" err="1"/>
              <a:t>삽화삽입예정</a:t>
            </a:r>
            <a:endParaRPr lang="en-US" altLang="ko-KR" sz="16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07F189-2B78-348C-D37E-490D135D1696}"/>
              </a:ext>
            </a:extLst>
          </p:cNvPr>
          <p:cNvSpPr txBox="1"/>
          <p:nvPr/>
        </p:nvSpPr>
        <p:spPr>
          <a:xfrm>
            <a:off x="972849" y="1456246"/>
            <a:ext cx="4140150" cy="705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sym typeface="Wingdings" panose="05000000000000000000" pitchFamily="2" charset="2"/>
              </a:rPr>
              <a:t>내용전달예정</a:t>
            </a:r>
            <a:endParaRPr lang="en-US" altLang="ko-KR" sz="1400" b="1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endParaRPr lang="en-US" altLang="ko-KR" sz="1400" b="1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2225322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EAF6B-27C4-64F9-CF53-C371EDB08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04F2EA16-2134-7173-C3B9-441A1756F743}"/>
              </a:ext>
            </a:extLst>
          </p:cNvPr>
          <p:cNvSpPr/>
          <p:nvPr/>
        </p:nvSpPr>
        <p:spPr>
          <a:xfrm>
            <a:off x="8523798" y="222637"/>
            <a:ext cx="1041621" cy="5883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10BD1EA-4239-D832-86C3-645B5AE3EE14}"/>
              </a:ext>
            </a:extLst>
          </p:cNvPr>
          <p:cNvSpPr/>
          <p:nvPr/>
        </p:nvSpPr>
        <p:spPr>
          <a:xfrm>
            <a:off x="8523798" y="222637"/>
            <a:ext cx="1041621" cy="5883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7DEC881-C953-E4D0-9609-F9BEC2025D95}"/>
              </a:ext>
            </a:extLst>
          </p:cNvPr>
          <p:cNvSpPr/>
          <p:nvPr/>
        </p:nvSpPr>
        <p:spPr>
          <a:xfrm>
            <a:off x="7036905" y="6577971"/>
            <a:ext cx="2664000" cy="1334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EMPECS Medical Device Co., Ltd. All Rights reserved.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pic>
        <p:nvPicPr>
          <p:cNvPr id="22" name="Picture 2">
            <a:extLst>
              <a:ext uri="{FF2B5EF4-FFF2-40B4-BE49-F238E27FC236}">
                <a16:creationId xmlns:a16="http://schemas.microsoft.com/office/drawing/2014/main" id="{8264E713-E469-76B4-3275-91E6BE82A66E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3798" y="157298"/>
            <a:ext cx="998995" cy="65373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682871AD-6AFF-9E2D-9A6B-A43096525679}"/>
              </a:ext>
            </a:extLst>
          </p:cNvPr>
          <p:cNvSpPr txBox="1"/>
          <p:nvPr/>
        </p:nvSpPr>
        <p:spPr>
          <a:xfrm>
            <a:off x="191459" y="221907"/>
            <a:ext cx="9523081" cy="3738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latin typeface="맑은 고딕"/>
                <a:ea typeface="맑은 고딕"/>
              </a:rPr>
              <a:t>▣ </a:t>
            </a:r>
            <a:r>
              <a:rPr lang="en-US" altLang="ko-KR" sz="1400" b="1" dirty="0">
                <a:latin typeface="맑은 고딕"/>
                <a:ea typeface="맑은 고딕"/>
              </a:rPr>
              <a:t>App</a:t>
            </a:r>
            <a:r>
              <a:rPr lang="ko-KR" altLang="en-US" sz="1400" b="1" dirty="0">
                <a:latin typeface="맑은 고딕"/>
                <a:ea typeface="맑은 고딕"/>
              </a:rPr>
              <a:t> 화면 수정요청</a:t>
            </a:r>
            <a:endParaRPr lang="en-US" altLang="ko-KR" sz="1400" b="1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93D1C54-046D-081A-627C-2E9C83C61F33}"/>
              </a:ext>
            </a:extLst>
          </p:cNvPr>
          <p:cNvSpPr txBox="1"/>
          <p:nvPr/>
        </p:nvSpPr>
        <p:spPr>
          <a:xfrm>
            <a:off x="191459" y="856742"/>
            <a:ext cx="70503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>
                <a:highlight>
                  <a:srgbClr val="00FF00"/>
                </a:highlight>
              </a:rPr>
              <a:t>14</a:t>
            </a:r>
            <a:r>
              <a:rPr lang="ko-KR" altLang="en-US" sz="1600" b="1" dirty="0">
                <a:highlight>
                  <a:srgbClr val="00FF00"/>
                </a:highlight>
              </a:rPr>
              <a:t>일 이후 측정이 종료되면 어떻게 센서를 제거하는지 설명용 자동 팝업 창</a:t>
            </a:r>
            <a:endParaRPr lang="en-US" altLang="ko-KR" sz="1600" b="1" dirty="0">
              <a:highlight>
                <a:srgbClr val="00FF00"/>
              </a:highlight>
            </a:endParaRPr>
          </a:p>
          <a:p>
            <a:r>
              <a:rPr lang="ko-KR" altLang="en-US" sz="1600" dirty="0">
                <a:highlight>
                  <a:srgbClr val="00FF00"/>
                </a:highlight>
              </a:rPr>
              <a:t>     </a:t>
            </a:r>
            <a:r>
              <a:rPr lang="ko-KR" altLang="en-US" sz="1400" u="sng" dirty="0">
                <a:highlight>
                  <a:srgbClr val="00FF00"/>
                </a:highlight>
              </a:rPr>
              <a:t>“측정이 완료되었습니다</a:t>
            </a:r>
            <a:r>
              <a:rPr lang="en-US" altLang="ko-KR" sz="1400" u="sng" dirty="0">
                <a:highlight>
                  <a:srgbClr val="00FF00"/>
                </a:highlight>
              </a:rPr>
              <a:t>. </a:t>
            </a:r>
            <a:r>
              <a:rPr lang="ko-KR" altLang="en-US" sz="1400" u="sng" dirty="0">
                <a:highlight>
                  <a:srgbClr val="00FF00"/>
                </a:highlight>
              </a:rPr>
              <a:t>센서 제거 방법은 아래 안내를 참고해 주세요</a:t>
            </a:r>
            <a:r>
              <a:rPr lang="en-US" altLang="ko-KR" sz="1400" u="sng" dirty="0">
                <a:highlight>
                  <a:srgbClr val="00FF00"/>
                </a:highlight>
              </a:rPr>
              <a:t>.”</a:t>
            </a:r>
            <a:endParaRPr lang="en-US" altLang="ko-KR" sz="1600" b="1" u="sng" dirty="0">
              <a:highlight>
                <a:srgbClr val="00FF0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AC73AE-1734-8BCC-EA50-232323AB0189}"/>
              </a:ext>
            </a:extLst>
          </p:cNvPr>
          <p:cNvSpPr txBox="1"/>
          <p:nvPr/>
        </p:nvSpPr>
        <p:spPr>
          <a:xfrm>
            <a:off x="444137" y="1510373"/>
            <a:ext cx="8874034" cy="4998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>
                <a:sym typeface="Wingdings" panose="05000000000000000000" pitchFamily="2" charset="2"/>
              </a:rPr>
              <a:t>How to Remove the Sensor</a:t>
            </a:r>
          </a:p>
          <a:p>
            <a:pPr>
              <a:lnSpc>
                <a:spcPct val="150000"/>
              </a:lnSpc>
            </a:pPr>
            <a:r>
              <a:rPr lang="en-US" altLang="ko-KR" sz="1400" b="1" dirty="0" err="1">
                <a:sym typeface="Wingdings" panose="05000000000000000000" pitchFamily="2" charset="2"/>
              </a:rPr>
              <a:t>Medisign</a:t>
            </a:r>
            <a:r>
              <a:rPr lang="en-US" altLang="ko-KR" sz="1400" b="1" dirty="0">
                <a:sym typeface="Wingdings" panose="05000000000000000000" pitchFamily="2" charset="2"/>
              </a:rPr>
              <a:t> CG01 can be used for up to 14 days.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ym typeface="Wingdings" panose="05000000000000000000" pitchFamily="2" charset="2"/>
              </a:rPr>
              <a:t>   You will receive a notification 72 hours before the sensor expires.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ym typeface="Wingdings" panose="05000000000000000000" pitchFamily="2" charset="2"/>
              </a:rPr>
              <a:t>   When it expires, the sensor will automatically disconnect, and you can then remove it.</a:t>
            </a:r>
          </a:p>
          <a:p>
            <a:pPr>
              <a:lnSpc>
                <a:spcPct val="150000"/>
              </a:lnSpc>
            </a:pPr>
            <a:endParaRPr lang="en-US" altLang="ko-KR" sz="1400" b="1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sym typeface="Wingdings" panose="05000000000000000000" pitchFamily="2" charset="2"/>
              </a:rPr>
              <a:t>Steps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ym typeface="Wingdings" panose="05000000000000000000" pitchFamily="2" charset="2"/>
              </a:rPr>
              <a:t>   1) Remove the sensor from your arm. Gently peel it off from the edge of the adhesive tape.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ym typeface="Wingdings" panose="05000000000000000000" pitchFamily="2" charset="2"/>
              </a:rPr>
              <a:t>   2) If the tape does not come off easily, apply a small amount of baby oil around the edges and rub gently.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ym typeface="Wingdings" panose="05000000000000000000" pitchFamily="2" charset="2"/>
              </a:rPr>
              <a:t>   3) Wash the area and apply moisturizer to care for your skin.</a:t>
            </a:r>
          </a:p>
          <a:p>
            <a:pPr>
              <a:lnSpc>
                <a:spcPct val="150000"/>
              </a:lnSpc>
            </a:pPr>
            <a:endParaRPr lang="en-US" altLang="ko-KR" sz="1400" b="1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sym typeface="Wingdings" panose="05000000000000000000" pitchFamily="2" charset="2"/>
              </a:rPr>
              <a:t>Caution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ym typeface="Wingdings" panose="05000000000000000000" pitchFamily="2" charset="2"/>
              </a:rPr>
              <a:t>If you experience pain, itching, redness, fever, or signs of infection after removing the sensor, consult a healthcare professional, such as a dermatologist.</a:t>
            </a:r>
          </a:p>
          <a:p>
            <a:pPr>
              <a:lnSpc>
                <a:spcPct val="150000"/>
              </a:lnSpc>
            </a:pPr>
            <a:endParaRPr lang="en-US" altLang="ko-KR" sz="1400" b="1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sym typeface="Wingdings" panose="05000000000000000000" pitchFamily="2" charset="2"/>
              </a:rPr>
              <a:t>Removing Before Expiration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ym typeface="Wingdings" panose="05000000000000000000" pitchFamily="2" charset="2"/>
              </a:rPr>
              <a:t>If you want to remove the sensor before it expires, press the Disconnect button in the app.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1B69E4D-8300-5826-D283-C4F6C47F06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6483" y="1204486"/>
            <a:ext cx="3063472" cy="3328216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ED2AD07-230F-B400-6635-7ADF964935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3827" y="1971760"/>
            <a:ext cx="1669971" cy="4075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9558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/>
          <p:cNvSpPr/>
          <p:nvPr/>
        </p:nvSpPr>
        <p:spPr>
          <a:xfrm>
            <a:off x="8523798" y="222637"/>
            <a:ext cx="1041621" cy="5883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/>
          <p:cNvSpPr/>
          <p:nvPr/>
        </p:nvSpPr>
        <p:spPr>
          <a:xfrm>
            <a:off x="8523798" y="222637"/>
            <a:ext cx="1041621" cy="5883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7036905" y="6577971"/>
            <a:ext cx="2664000" cy="1334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EMPECS Medical Device Co., Ltd. All Rights reserved.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pic>
        <p:nvPicPr>
          <p:cNvPr id="22" name="Picture 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3798" y="157298"/>
            <a:ext cx="998995" cy="65373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953D5B2D-142F-6BD6-F42F-9AE608C63CCE}"/>
              </a:ext>
            </a:extLst>
          </p:cNvPr>
          <p:cNvSpPr/>
          <p:nvPr/>
        </p:nvSpPr>
        <p:spPr>
          <a:xfrm>
            <a:off x="314943" y="2447303"/>
            <a:ext cx="9200643" cy="12221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4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  <a:endParaRPr lang="ko-KR" altLang="en-US" sz="4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9995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14406</TotalTime>
  <Words>1745</Words>
  <Application>Microsoft Office PowerPoint</Application>
  <PresentationFormat>A4 용지(210x297mm)</PresentationFormat>
  <Paragraphs>306</Paragraphs>
  <Slides>25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1" baseType="lpstr">
      <vt:lpstr>맑은 고딕</vt:lpstr>
      <vt:lpstr>Arial</vt:lpstr>
      <vt:lpstr>Calibri</vt:lpstr>
      <vt:lpstr>Calibri Light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이종진 부서장님</dc:creator>
  <cp:lastModifiedBy>EMPECS</cp:lastModifiedBy>
  <cp:revision>827</cp:revision>
  <dcterms:created xsi:type="dcterms:W3CDTF">2021-05-18T10:05:10Z</dcterms:created>
  <dcterms:modified xsi:type="dcterms:W3CDTF">2025-10-14T03:26:36Z</dcterms:modified>
</cp:coreProperties>
</file>