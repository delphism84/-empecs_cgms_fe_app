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6"/>
  </p:notesMasterIdLst>
  <p:sldIdLst>
    <p:sldId id="799" r:id="rId2"/>
    <p:sldId id="801" r:id="rId3"/>
    <p:sldId id="791" r:id="rId4"/>
    <p:sldId id="794" r:id="rId5"/>
    <p:sldId id="795" r:id="rId6"/>
    <p:sldId id="784" r:id="rId7"/>
    <p:sldId id="786" r:id="rId8"/>
    <p:sldId id="787" r:id="rId9"/>
    <p:sldId id="788" r:id="rId10"/>
    <p:sldId id="789" r:id="rId11"/>
    <p:sldId id="790" r:id="rId12"/>
    <p:sldId id="797" r:id="rId13"/>
    <p:sldId id="798" r:id="rId14"/>
    <p:sldId id="766" r:id="rId1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pos="21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CDE4C3-82B3-0936-42A9-5B8476A18E64}" name="기창 이" initials="기이" userId="09d6807f10be336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배상길 차장님" initials="배차" lastIdx="1" clrIdx="0">
    <p:extLst>
      <p:ext uri="{19B8F6BF-5375-455C-9EA6-DF929625EA0E}">
        <p15:presenceInfo xmlns:p15="http://schemas.microsoft.com/office/powerpoint/2012/main" userId="배상길 차장님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F4D"/>
    <a:srgbClr val="87AF7B"/>
    <a:srgbClr val="0000FF"/>
    <a:srgbClr val="FF9900"/>
    <a:srgbClr val="FFFF99"/>
    <a:srgbClr val="8F9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86416" autoAdjust="0"/>
  </p:normalViewPr>
  <p:slideViewPr>
    <p:cSldViewPr snapToGrid="0">
      <p:cViewPr varScale="1">
        <p:scale>
          <a:sx n="110" d="100"/>
          <a:sy n="110" d="100"/>
        </p:scale>
        <p:origin x="1476" y="114"/>
      </p:cViewPr>
      <p:guideLst>
        <p:guide orient="horz" pos="1593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52B00-7B92-412B-8BCF-8378C3C57EB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3F9C9-2E79-4CB6-A54F-6C8D5F50D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00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94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7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62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58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0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49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34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1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31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322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D:\infopiaexception\한주현 작업\2.BI Project\이미지\PPT 서식\PPT-C\PPT-C6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905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85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62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8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E26D-EF29-2008-0F2F-0EBB1066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8E48EA1-4F45-E60B-9173-E5F7FCCE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008" y="1261199"/>
            <a:ext cx="1672266" cy="362211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C49F7E-4F14-3584-F2AB-D8C6A46C600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D50C55-A3A1-2A51-3882-5C31FB8AD63C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466350-F92F-D74C-8ECF-7A6CEB67A4FB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6037D145-2D00-EA7F-2D12-168CB039D7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D0A7FEB-52E4-39A1-421E-02C697548299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FD6B52-47C6-A702-46E2-E707F19E0662}"/>
              </a:ext>
            </a:extLst>
          </p:cNvPr>
          <p:cNvSpPr txBox="1"/>
          <p:nvPr/>
        </p:nvSpPr>
        <p:spPr>
          <a:xfrm>
            <a:off x="191459" y="856742"/>
            <a:ext cx="937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QR Scan </a:t>
            </a:r>
            <a:r>
              <a:rPr lang="en-US" altLang="ko-KR" sz="1600" b="1" dirty="0">
                <a:sym typeface="Wingdings" panose="05000000000000000000" pitchFamily="2" charset="2"/>
              </a:rPr>
              <a:t></a:t>
            </a:r>
            <a:r>
              <a:rPr lang="en-US" altLang="ko-KR" sz="1600" b="1" dirty="0"/>
              <a:t> Warm-Up S</a:t>
            </a:r>
            <a:r>
              <a:rPr lang="en-US" altLang="ko-KR" b="1" dirty="0"/>
              <a:t>creen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0AFF55-0104-CF4D-B319-EC2481370495}"/>
              </a:ext>
            </a:extLst>
          </p:cNvPr>
          <p:cNvSpPr txBox="1"/>
          <p:nvPr/>
        </p:nvSpPr>
        <p:spPr>
          <a:xfrm>
            <a:off x="326945" y="5079576"/>
            <a:ext cx="9373960" cy="1399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100" b="1" dirty="0"/>
              <a:t>Display attachment guide instructions upon touching “QR Scan.“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100" b="1" dirty="0"/>
              <a:t>After scrolling through the guide, touch the [Sensor Connect] button.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100" b="1" dirty="0"/>
              <a:t>Subsequently, the camera screen is displayed, the sensor connects, and a countdown pop-up appears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100" b="1" dirty="0"/>
              <a:t>The countdown runs from 30 minutes down to 0 minutes; once 0 minutes is reached, the pop-up disappears, and the first measurement value is displayed</a:t>
            </a:r>
          </a:p>
        </p:txBody>
      </p:sp>
      <p:pic>
        <p:nvPicPr>
          <p:cNvPr id="1026" name="Picture 2" descr="How do I set up my Dexcom ONE+ system? | Dexcom">
            <a:extLst>
              <a:ext uri="{FF2B5EF4-FFF2-40B4-BE49-F238E27FC236}">
                <a16:creationId xmlns:a16="http://schemas.microsoft.com/office/drawing/2014/main" id="{BDB44C30-2DF4-844C-DC0F-20A0B00E93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41"/>
          <a:stretch>
            <a:fillRect/>
          </a:stretch>
        </p:blipFill>
        <p:spPr bwMode="auto">
          <a:xfrm>
            <a:off x="8331447" y="2629149"/>
            <a:ext cx="1266375" cy="81719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7EBF870-FB0C-26A9-B765-4041A7FC5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03" y="1690414"/>
            <a:ext cx="1482504" cy="3211090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9E1B07A5-B6E0-E7C0-BB24-66BD4992998E}"/>
              </a:ext>
            </a:extLst>
          </p:cNvPr>
          <p:cNvSpPr/>
          <p:nvPr/>
        </p:nvSpPr>
        <p:spPr>
          <a:xfrm>
            <a:off x="1760145" y="3018662"/>
            <a:ext cx="382223" cy="2040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38BFEB0D-A0F1-1371-07AB-B15984320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8281" y="1405870"/>
            <a:ext cx="762524" cy="7687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7B4416F-6D1C-FC77-7806-8BEAE37637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8281" y="2165957"/>
            <a:ext cx="762524" cy="76877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5C1C0A7-771D-5BA4-E02A-36D3ACEA5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8281" y="2924949"/>
            <a:ext cx="762524" cy="76877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88B8B62-2B9C-E5FC-1249-8AF8A52D0F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8281" y="3678137"/>
            <a:ext cx="762524" cy="76877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670984C-3456-C91C-64BD-8E6A7FDC6E4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99"/>
          <a:stretch>
            <a:fillRect/>
          </a:stretch>
        </p:blipFill>
        <p:spPr>
          <a:xfrm>
            <a:off x="4225100" y="1283761"/>
            <a:ext cx="762524" cy="53968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EA8C69B-52DC-4C8E-00F6-3C8A03D37B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5099" y="1825163"/>
            <a:ext cx="762524" cy="76877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ABA91EAA-F22A-6E18-DE48-CC2A9215A4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5099" y="2572137"/>
            <a:ext cx="762524" cy="76877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9488EB6-9F6C-95B1-324E-4A6D461660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3492" y="3329233"/>
            <a:ext cx="762524" cy="76877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29DF04E-4E20-D420-CA7C-DA94CCCDB2E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59944" b="31529"/>
          <a:stretch>
            <a:fillRect/>
          </a:stretch>
        </p:blipFill>
        <p:spPr>
          <a:xfrm>
            <a:off x="3843111" y="4297558"/>
            <a:ext cx="1617470" cy="298706"/>
          </a:xfrm>
          <a:prstGeom prst="rect">
            <a:avLst/>
          </a:prstGeom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3CE88A85-BBF9-5128-6701-7F7C9AC5F281}"/>
              </a:ext>
            </a:extLst>
          </p:cNvPr>
          <p:cNvSpPr/>
          <p:nvPr/>
        </p:nvSpPr>
        <p:spPr>
          <a:xfrm>
            <a:off x="3843111" y="1290527"/>
            <a:ext cx="1617470" cy="3622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AC04279-6155-FD8F-9B39-3D87AC3F271B}"/>
              </a:ext>
            </a:extLst>
          </p:cNvPr>
          <p:cNvSpPr/>
          <p:nvPr/>
        </p:nvSpPr>
        <p:spPr>
          <a:xfrm>
            <a:off x="2234926" y="1290527"/>
            <a:ext cx="1529234" cy="3610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4B32B58E-9094-9E96-32D0-FF3698201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40558"/>
          <a:stretch>
            <a:fillRect/>
          </a:stretch>
        </p:blipFill>
        <p:spPr>
          <a:xfrm>
            <a:off x="2618281" y="4426670"/>
            <a:ext cx="762524" cy="456975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6D889B43-29D6-ED3F-097F-B52F9CCE0FEC}"/>
              </a:ext>
            </a:extLst>
          </p:cNvPr>
          <p:cNvSpPr/>
          <p:nvPr/>
        </p:nvSpPr>
        <p:spPr>
          <a:xfrm>
            <a:off x="4409638" y="4381681"/>
            <a:ext cx="578599" cy="130459"/>
          </a:xfrm>
          <a:prstGeom prst="rect">
            <a:avLst/>
          </a:prstGeom>
          <a:solidFill>
            <a:srgbClr val="87AF7B"/>
          </a:solidFill>
          <a:ln>
            <a:solidFill>
              <a:srgbClr val="87AF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Sensor Connect</a:t>
            </a:r>
            <a:endParaRPr lang="ko-KR" altLang="en-US" sz="6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06F5E2A-A097-D777-3587-529770E26A40}"/>
              </a:ext>
            </a:extLst>
          </p:cNvPr>
          <p:cNvSpPr/>
          <p:nvPr/>
        </p:nvSpPr>
        <p:spPr>
          <a:xfrm>
            <a:off x="227402" y="2491926"/>
            <a:ext cx="1439986" cy="224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7054818-6C59-22A8-0560-0A3F079BAE68}"/>
              </a:ext>
            </a:extLst>
          </p:cNvPr>
          <p:cNvSpPr/>
          <p:nvPr/>
        </p:nvSpPr>
        <p:spPr>
          <a:xfrm>
            <a:off x="5514009" y="3023278"/>
            <a:ext cx="382223" cy="2040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62B8CB-007E-86A7-5676-A55ADD5166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21521" y="1283761"/>
            <a:ext cx="1661848" cy="3599549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9362011-535D-3D60-721C-EEDF7E7DA260}"/>
              </a:ext>
            </a:extLst>
          </p:cNvPr>
          <p:cNvSpPr/>
          <p:nvPr/>
        </p:nvSpPr>
        <p:spPr>
          <a:xfrm>
            <a:off x="7679923" y="2992444"/>
            <a:ext cx="382223" cy="2040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FC4A8F-BDE4-63A1-909B-A7CDA7FD3FA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5" t="13714" r="14031" b="13905"/>
          <a:stretch>
            <a:fillRect/>
          </a:stretch>
        </p:blipFill>
        <p:spPr>
          <a:xfrm>
            <a:off x="6311610" y="2135442"/>
            <a:ext cx="881670" cy="88322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89476F-2F6A-DEE1-D92E-07CF0C3C54DB}"/>
              </a:ext>
            </a:extLst>
          </p:cNvPr>
          <p:cNvSpPr/>
          <p:nvPr/>
        </p:nvSpPr>
        <p:spPr>
          <a:xfrm>
            <a:off x="3879845" y="4264946"/>
            <a:ext cx="1546138" cy="3772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1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6384-4ED6-A90F-E5C2-C4D868B5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181F48A2-836E-3C1C-66BE-4D23DE6263FF}"/>
              </a:ext>
            </a:extLst>
          </p:cNvPr>
          <p:cNvSpPr/>
          <p:nvPr/>
        </p:nvSpPr>
        <p:spPr>
          <a:xfrm>
            <a:off x="3007056" y="4093039"/>
            <a:ext cx="1520237" cy="2231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094219-ABA0-87FE-D064-42A8DB0CC9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1286"/>
          <a:stretch>
            <a:fillRect/>
          </a:stretch>
        </p:blipFill>
        <p:spPr>
          <a:xfrm>
            <a:off x="3194011" y="4650358"/>
            <a:ext cx="1250892" cy="138428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05D28C-F213-F35C-240C-A997DB068205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0A1446-3208-67EE-0C19-F8A663B0BE07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FE2098-55A7-44A2-936B-3865C0748E42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73BD38FB-8967-A36A-6F35-C42F5DBA5F3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09823D9-A406-A1CA-1F2C-BA046A34A7A0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949B98-BD85-0FE3-DA3C-41D6992B5E35}"/>
              </a:ext>
            </a:extLst>
          </p:cNvPr>
          <p:cNvSpPr txBox="1"/>
          <p:nvPr/>
        </p:nvSpPr>
        <p:spPr>
          <a:xfrm>
            <a:off x="191459" y="856742"/>
            <a:ext cx="937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Previous data view screen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13138D-82D0-B0D3-3102-73C763699E51}"/>
              </a:ext>
            </a:extLst>
          </p:cNvPr>
          <p:cNvSpPr txBox="1"/>
          <p:nvPr/>
        </p:nvSpPr>
        <p:spPr>
          <a:xfrm>
            <a:off x="4913400" y="811033"/>
            <a:ext cx="4913142" cy="527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dirty="0"/>
              <a:t>Touching the button at the bottom right of the main screen adds a pop-up for the "View Previous Data" function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Touch the bottom right button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Display the "View Previous Data" pop-up</a:t>
            </a:r>
            <a:endParaRPr lang="en-US" altLang="ko-KR" sz="1000" b="1" dirty="0"/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Refresh upon touching the button from step 1.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Download previous records stored on the server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The downloaded information is saved on the device and can be viewed even without an internet connection.</a:t>
            </a:r>
            <a:endParaRPr lang="en-US" altLang="ko-KR" sz="1000" b="1" dirty="0"/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dirty="0"/>
              <a:t>Selecting the button from step 2 loads the graph information recorded during the corresponding period</a:t>
            </a:r>
            <a:endParaRPr lang="en-US" altLang="ko-KR" sz="1000" b="1" dirty="0"/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The period corresponding to step 2 is data per sensor</a:t>
            </a:r>
            <a:endParaRPr lang="en-US" altLang="ko-KR" sz="1000" b="1" dirty="0"/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2025.09.25~2025.10.08</a:t>
            </a:r>
            <a:r>
              <a:rPr lang="en-US" altLang="ko-KR" sz="1000" b="1" dirty="0">
                <a:sym typeface="Wingdings" panose="05000000000000000000" pitchFamily="2" charset="2"/>
              </a:rPr>
              <a:t>  Data for C21ZS00102 (Sensor2)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2025.09.15~2025.09.24 </a:t>
            </a:r>
            <a:r>
              <a:rPr lang="en-US" altLang="ko-KR" sz="1000" b="1" dirty="0">
                <a:sym typeface="Wingdings" panose="05000000000000000000" pitchFamily="2" charset="2"/>
              </a:rPr>
              <a:t> Data for C21ZS00101 (Sensor1)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The data is ordered with the most recent sensor stacked at the top</a:t>
            </a:r>
            <a:endParaRPr lang="en-US" altLang="ko-KR" sz="1000" b="1" dirty="0">
              <a:sym typeface="Wingdings" panose="05000000000000000000" pitchFamily="2" charset="2"/>
            </a:endParaRP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The graph shows the continuous data from the start date to the end date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 dirty="0" err="1">
                <a:latin typeface="Arial" panose="020B0604020202020204" pitchFamily="34" charset="0"/>
              </a:rPr>
              <a:t>Touching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the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[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X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]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button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returns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to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the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previous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main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screen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>
                <a:latin typeface="Arial" panose="020B0604020202020204" pitchFamily="34" charset="0"/>
                <a:ea typeface="Google Sans Text"/>
              </a:rPr>
              <a:t>$\</a:t>
            </a:r>
            <a:r>
              <a:rPr lang="ko-KR" altLang="ko-KR" sz="1000" dirty="0" err="1">
                <a:latin typeface="Arial" panose="020B0604020202020204" pitchFamily="34" charset="0"/>
                <a:ea typeface="Google Sans Text"/>
              </a:rPr>
              <a:t>rightarrow</a:t>
            </a:r>
            <a:r>
              <a:rPr lang="en-US" altLang="ko-KR" sz="10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ea typeface="Google Sans Text"/>
                <a:sym typeface="Wingdings" panose="05000000000000000000" pitchFamily="2" charset="2"/>
              </a:rPr>
              <a:t>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navigates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to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the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current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sensor's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measurement</a:t>
            </a:r>
            <a:r>
              <a:rPr lang="ko-KR" altLang="ko-KR" sz="1000" dirty="0">
                <a:latin typeface="Arial" panose="020B0604020202020204" pitchFamily="34" charset="0"/>
              </a:rPr>
              <a:t> </a:t>
            </a:r>
            <a:r>
              <a:rPr lang="ko-KR" altLang="ko-KR" sz="1000" dirty="0" err="1">
                <a:latin typeface="Arial" panose="020B0604020202020204" pitchFamily="34" charset="0"/>
              </a:rPr>
              <a:t>screen</a:t>
            </a:r>
            <a:endParaRPr lang="ko-KR" altLang="ko-KR" sz="1000" dirty="0"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13B71F-57E1-122E-FB4B-E6D1CF4B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20" y="1264001"/>
            <a:ext cx="1471993" cy="31883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9DBF195-75F7-1C38-298F-5A202A8145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54" t="30125" r="92727" b="65845"/>
          <a:stretch>
            <a:fillRect/>
          </a:stretch>
        </p:blipFill>
        <p:spPr>
          <a:xfrm>
            <a:off x="1105592" y="3768953"/>
            <a:ext cx="186997" cy="18150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42607F4-A5A1-84DA-F23C-D932C6098922}"/>
              </a:ext>
            </a:extLst>
          </p:cNvPr>
          <p:cNvSpPr/>
          <p:nvPr/>
        </p:nvSpPr>
        <p:spPr>
          <a:xfrm>
            <a:off x="1109582" y="3756600"/>
            <a:ext cx="234985" cy="2290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436A689-A33E-B36F-AEFC-E556C83F3B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51" r="20669" b="60075"/>
          <a:stretch>
            <a:fillRect/>
          </a:stretch>
        </p:blipFill>
        <p:spPr>
          <a:xfrm>
            <a:off x="156202" y="4981517"/>
            <a:ext cx="1814441" cy="165457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48E5E3-421E-8F74-512B-5CE03480BE44}"/>
              </a:ext>
            </a:extLst>
          </p:cNvPr>
          <p:cNvSpPr/>
          <p:nvPr/>
        </p:nvSpPr>
        <p:spPr>
          <a:xfrm>
            <a:off x="1581583" y="5009491"/>
            <a:ext cx="302212" cy="261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9571125-B551-E58F-5613-B8CF87030BB7}"/>
              </a:ext>
            </a:extLst>
          </p:cNvPr>
          <p:cNvSpPr/>
          <p:nvPr/>
        </p:nvSpPr>
        <p:spPr>
          <a:xfrm>
            <a:off x="1587704" y="4684613"/>
            <a:ext cx="296091" cy="27306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6F649CA-5EB1-F17E-AB93-4D7ED5B83D62}"/>
              </a:ext>
            </a:extLst>
          </p:cNvPr>
          <p:cNvSpPr/>
          <p:nvPr/>
        </p:nvSpPr>
        <p:spPr>
          <a:xfrm>
            <a:off x="131604" y="5213180"/>
            <a:ext cx="296091" cy="27306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28265E6-BDCD-6367-E122-C88FC71D18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095" b="74857"/>
          <a:stretch>
            <a:fillRect/>
          </a:stretch>
        </p:blipFill>
        <p:spPr>
          <a:xfrm>
            <a:off x="3083316" y="4197514"/>
            <a:ext cx="1401081" cy="580216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87E014-C721-0645-10E8-5A8C1367B65E}"/>
              </a:ext>
            </a:extLst>
          </p:cNvPr>
          <p:cNvSpPr/>
          <p:nvPr/>
        </p:nvSpPr>
        <p:spPr>
          <a:xfrm>
            <a:off x="3309062" y="4199164"/>
            <a:ext cx="899572" cy="200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7717DD8-883C-5484-CED6-58C8E095A028}"/>
              </a:ext>
            </a:extLst>
          </p:cNvPr>
          <p:cNvSpPr/>
          <p:nvPr/>
        </p:nvSpPr>
        <p:spPr>
          <a:xfrm>
            <a:off x="3127592" y="4563311"/>
            <a:ext cx="587960" cy="13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7E6D46C-E6B9-0AC4-0CC0-36B7EC699D87}"/>
              </a:ext>
            </a:extLst>
          </p:cNvPr>
          <p:cNvSpPr/>
          <p:nvPr/>
        </p:nvSpPr>
        <p:spPr>
          <a:xfrm>
            <a:off x="4321507" y="4199950"/>
            <a:ext cx="123396" cy="200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728DD45-F3B5-C9AA-73DE-4A0E6F9E343C}"/>
              </a:ext>
            </a:extLst>
          </p:cNvPr>
          <p:cNvCxnSpPr>
            <a:cxnSpLocks/>
          </p:cNvCxnSpPr>
          <p:nvPr/>
        </p:nvCxnSpPr>
        <p:spPr>
          <a:xfrm>
            <a:off x="3191566" y="4696331"/>
            <a:ext cx="0" cy="2289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BD5D0D5-FCDA-6B0A-9506-C39F8B2D32DD}"/>
              </a:ext>
            </a:extLst>
          </p:cNvPr>
          <p:cNvCxnSpPr>
            <a:cxnSpLocks/>
          </p:cNvCxnSpPr>
          <p:nvPr/>
        </p:nvCxnSpPr>
        <p:spPr>
          <a:xfrm flipV="1">
            <a:off x="4444903" y="4291662"/>
            <a:ext cx="183168" cy="7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1538E01-0F0C-08B9-CE58-7EF2E29D1A1B}"/>
              </a:ext>
            </a:extLst>
          </p:cNvPr>
          <p:cNvSpPr txBox="1"/>
          <p:nvPr/>
        </p:nvSpPr>
        <p:spPr>
          <a:xfrm>
            <a:off x="1881383" y="4194635"/>
            <a:ext cx="1090506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Measurement period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10A7EB-EAAC-D16B-8FFF-8E865A5F5D7A}"/>
              </a:ext>
            </a:extLst>
          </p:cNvPr>
          <p:cNvSpPr txBox="1"/>
          <p:nvPr/>
        </p:nvSpPr>
        <p:spPr>
          <a:xfrm>
            <a:off x="2120348" y="4873762"/>
            <a:ext cx="12278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</a:rPr>
              <a:t>sensor serial number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5EF839-263F-BA11-5E66-7E7A640EF821}"/>
              </a:ext>
            </a:extLst>
          </p:cNvPr>
          <p:cNvSpPr txBox="1"/>
          <p:nvPr/>
        </p:nvSpPr>
        <p:spPr>
          <a:xfrm>
            <a:off x="4575816" y="4191247"/>
            <a:ext cx="1022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Previous screen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E37B9-CD87-4C49-DE7D-CCC444CEE35E}"/>
              </a:ext>
            </a:extLst>
          </p:cNvPr>
          <p:cNvSpPr/>
          <p:nvPr/>
        </p:nvSpPr>
        <p:spPr>
          <a:xfrm>
            <a:off x="4237797" y="4536778"/>
            <a:ext cx="259621" cy="20042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24584-7B48-AF38-BC5E-7B77AF524EF6}"/>
              </a:ext>
            </a:extLst>
          </p:cNvPr>
          <p:cNvSpPr txBox="1"/>
          <p:nvPr/>
        </p:nvSpPr>
        <p:spPr>
          <a:xfrm>
            <a:off x="1681950" y="2200528"/>
            <a:ext cx="276295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Return to the main screen upon touching the previous screen.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654A377-55D0-973E-CC92-F80E231CBE3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227075" y="3985618"/>
            <a:ext cx="0" cy="10208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1CDD573-29C9-3148-1437-1D1B5F9A8AA8}"/>
              </a:ext>
            </a:extLst>
          </p:cNvPr>
          <p:cNvCxnSpPr>
            <a:cxnSpLocks/>
          </p:cNvCxnSpPr>
          <p:nvPr/>
        </p:nvCxnSpPr>
        <p:spPr>
          <a:xfrm flipH="1">
            <a:off x="2878917" y="4299378"/>
            <a:ext cx="4112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5974DC3-1CC0-7917-B4E6-D86E01EE60DE}"/>
              </a:ext>
            </a:extLst>
          </p:cNvPr>
          <p:cNvCxnSpPr>
            <a:cxnSpLocks/>
          </p:cNvCxnSpPr>
          <p:nvPr/>
        </p:nvCxnSpPr>
        <p:spPr>
          <a:xfrm>
            <a:off x="1938614" y="5652463"/>
            <a:ext cx="103574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DD1FCFB7-4314-B5EB-AFB4-28064B5CC522}"/>
              </a:ext>
            </a:extLst>
          </p:cNvPr>
          <p:cNvCxnSpPr>
            <a:cxnSpLocks/>
          </p:cNvCxnSpPr>
          <p:nvPr/>
        </p:nvCxnSpPr>
        <p:spPr>
          <a:xfrm rot="10800000">
            <a:off x="1581583" y="2429895"/>
            <a:ext cx="2785546" cy="1761404"/>
          </a:xfrm>
          <a:prstGeom prst="bentConnector3">
            <a:avLst>
              <a:gd name="adj1" fmla="val -26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39F974C-26DB-B972-9FF6-DD0833B0A816}"/>
              </a:ext>
            </a:extLst>
          </p:cNvPr>
          <p:cNvSpPr txBox="1"/>
          <p:nvPr/>
        </p:nvSpPr>
        <p:spPr>
          <a:xfrm>
            <a:off x="4748621" y="6046967"/>
            <a:ext cx="5077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View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Previous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Data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</a:rPr>
              <a:t>button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en-US" altLang="ko-KR" sz="1000" b="1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Select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Period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en-US" altLang="ko-KR" sz="1000" b="1" dirty="0">
                <a:latin typeface="Arial" panose="020B0604020202020204" pitchFamily="34" charset="0"/>
                <a:ea typeface="Google Sans Text"/>
                <a:sym typeface="Wingdings" panose="05000000000000000000" pitchFamily="2" charset="2"/>
              </a:rPr>
              <a:t>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View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Previous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Records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en-US" altLang="ko-KR" sz="1000" b="1" dirty="0">
                <a:latin typeface="Arial" panose="020B0604020202020204" pitchFamily="34" charset="0"/>
                <a:ea typeface="Google Sans Text"/>
                <a:sym typeface="Wingdings" panose="05000000000000000000" pitchFamily="2" charset="2"/>
              </a:rPr>
              <a:t> </a:t>
            </a:r>
            <a:r>
              <a:rPr lang="ko-KR" altLang="ko-KR" sz="1000" b="1" dirty="0" err="1">
                <a:latin typeface="Arial" panose="020B0604020202020204" pitchFamily="34" charset="0"/>
              </a:rPr>
              <a:t>Touch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[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X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]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</a:rPr>
              <a:t>button</a:t>
            </a:r>
            <a:r>
              <a:rPr lang="ko-KR" altLang="ko-KR" sz="1000" b="1" dirty="0">
                <a:latin typeface="Arial" panose="020B0604020202020204" pitchFamily="34" charset="0"/>
              </a:rPr>
              <a:t> </a:t>
            </a:r>
            <a:r>
              <a:rPr lang="en-US" altLang="ko-KR" sz="1000" b="1" dirty="0">
                <a:latin typeface="Arial" panose="020B0604020202020204" pitchFamily="34" charset="0"/>
                <a:ea typeface="Google Sans Text"/>
                <a:sym typeface="Wingdings" panose="05000000000000000000" pitchFamily="2" charset="2"/>
              </a:rPr>
              <a:t>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Return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to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Main</a:t>
            </a:r>
            <a:r>
              <a:rPr lang="ko-KR" altLang="ko-KR" sz="1000" b="1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ko-KR" altLang="ko-KR" sz="1000" b="1" dirty="0" err="1">
                <a:latin typeface="Arial" panose="020B0604020202020204" pitchFamily="34" charset="0"/>
                <a:ea typeface="Google Sans Text"/>
              </a:rPr>
              <a:t>Screen</a:t>
            </a:r>
            <a:endParaRPr lang="ko-KR" altLang="ko-KR" sz="1000" b="1" dirty="0">
              <a:latin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9FD5FF-7D62-CD07-E4A4-B080072F07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" t="18284" r="20487" b="77491"/>
          <a:stretch>
            <a:fillRect/>
          </a:stretch>
        </p:blipFill>
        <p:spPr>
          <a:xfrm>
            <a:off x="156202" y="5982401"/>
            <a:ext cx="1814441" cy="21006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B3E3E9-B948-FE00-036F-EB4CB42C52A6}"/>
              </a:ext>
            </a:extLst>
          </p:cNvPr>
          <p:cNvSpPr/>
          <p:nvPr/>
        </p:nvSpPr>
        <p:spPr>
          <a:xfrm>
            <a:off x="279650" y="5790079"/>
            <a:ext cx="1567543" cy="189088"/>
          </a:xfrm>
          <a:prstGeom prst="rect">
            <a:avLst/>
          </a:prstGeom>
          <a:solidFill>
            <a:srgbClr val="353F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2025. 9. 25 - 2025. 10. 8</a:t>
            </a:r>
            <a:endParaRPr lang="ko-KR" altLang="en-US" sz="9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DFC884-DFBB-3A35-6BB3-2295577B8ABC}"/>
              </a:ext>
            </a:extLst>
          </p:cNvPr>
          <p:cNvSpPr/>
          <p:nvPr/>
        </p:nvSpPr>
        <p:spPr>
          <a:xfrm>
            <a:off x="271238" y="5577154"/>
            <a:ext cx="1567543" cy="189088"/>
          </a:xfrm>
          <a:prstGeom prst="rect">
            <a:avLst/>
          </a:prstGeom>
          <a:solidFill>
            <a:srgbClr val="353F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2025. 10. 9 - 2025. 10. 23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762E7-3730-93EB-F429-CBC4C7F33E11}"/>
              </a:ext>
            </a:extLst>
          </p:cNvPr>
          <p:cNvSpPr txBox="1"/>
          <p:nvPr/>
        </p:nvSpPr>
        <p:spPr>
          <a:xfrm>
            <a:off x="325292" y="3757337"/>
            <a:ext cx="9672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Touch the icon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3DEDB7-2A76-4047-E34E-2DE2A6ECD42F}"/>
              </a:ext>
            </a:extLst>
          </p:cNvPr>
          <p:cNvSpPr/>
          <p:nvPr/>
        </p:nvSpPr>
        <p:spPr>
          <a:xfrm>
            <a:off x="271237" y="6214560"/>
            <a:ext cx="1567543" cy="189088"/>
          </a:xfrm>
          <a:prstGeom prst="rect">
            <a:avLst/>
          </a:prstGeom>
          <a:solidFill>
            <a:srgbClr val="353F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" dirty="0"/>
              <a:t>●</a:t>
            </a:r>
            <a:endParaRPr lang="en-US" altLang="ko-KR" sz="300" dirty="0"/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●</a:t>
            </a:r>
            <a:endParaRPr lang="en-US" altLang="ko-KR" sz="300" dirty="0"/>
          </a:p>
          <a:p>
            <a:pPr algn="ctr"/>
            <a:endParaRPr lang="en-US" altLang="ko-KR" sz="300" dirty="0"/>
          </a:p>
          <a:p>
            <a:pPr algn="ctr"/>
            <a:r>
              <a:rPr lang="ko-KR" altLang="en-US" sz="300" dirty="0"/>
              <a:t>●</a:t>
            </a:r>
            <a:endParaRPr lang="en-US" altLang="ko-KR" sz="300" dirty="0"/>
          </a:p>
          <a:p>
            <a:pPr algn="ctr"/>
            <a:endParaRPr lang="ko-KR" altLang="en-US" sz="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CCC77C-22A8-C5DD-BA51-7810AA52FF17}"/>
              </a:ext>
            </a:extLst>
          </p:cNvPr>
          <p:cNvSpPr txBox="1"/>
          <p:nvPr/>
        </p:nvSpPr>
        <p:spPr>
          <a:xfrm>
            <a:off x="1847822" y="5687786"/>
            <a:ext cx="13019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Upon touching the period 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72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4197-593B-096D-7F9F-A8AB6B1F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B9EF4F-FDC2-D9DA-130C-077EE7C4985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27DE5B-4B8F-26BB-CC40-89F515663146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A47137-29C1-DF29-3BF9-B000AB5460A0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FAA590A0-0858-2C4C-FD12-0B24AC2D24B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2000875-E8A3-98F3-5052-3B04A8D02801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575D8E-FED4-07C5-78EB-C278B201527D}"/>
              </a:ext>
            </a:extLst>
          </p:cNvPr>
          <p:cNvSpPr txBox="1"/>
          <p:nvPr/>
        </p:nvSpPr>
        <p:spPr>
          <a:xfrm>
            <a:off x="191459" y="856742"/>
            <a:ext cx="9373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Sensor Screen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– SC_03_01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Connection Status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F943F7-BB9F-03C0-3456-360B2FFBB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9" y="1871150"/>
            <a:ext cx="1828262" cy="396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A4D4FE-B459-512C-596C-9E4C7E129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515" y="1871150"/>
            <a:ext cx="1828262" cy="396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2DA97FB-FB3B-E682-410D-92EB1467B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871150"/>
            <a:ext cx="1828262" cy="3960000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C354FE-5E47-0517-C7C7-41E9BE3EFAC1}"/>
              </a:ext>
            </a:extLst>
          </p:cNvPr>
          <p:cNvSpPr/>
          <p:nvPr/>
        </p:nvSpPr>
        <p:spPr>
          <a:xfrm>
            <a:off x="4953000" y="3591382"/>
            <a:ext cx="1828261" cy="20047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7B3C93-95DE-8A28-C6BA-327DA2E8A2AD}"/>
              </a:ext>
            </a:extLst>
          </p:cNvPr>
          <p:cNvSpPr/>
          <p:nvPr/>
        </p:nvSpPr>
        <p:spPr>
          <a:xfrm>
            <a:off x="4980411" y="2394403"/>
            <a:ext cx="1828261" cy="1691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2FFE356-3D4D-2419-79B4-092001029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99" b="51155"/>
          <a:stretch>
            <a:fillRect/>
          </a:stretch>
        </p:blipFill>
        <p:spPr>
          <a:xfrm>
            <a:off x="5007821" y="2579618"/>
            <a:ext cx="1810843" cy="93639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835CB18-FAE1-005B-FCEA-6BC917CB7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99" r="78822" b="67226"/>
          <a:stretch>
            <a:fillRect/>
          </a:stretch>
        </p:blipFill>
        <p:spPr>
          <a:xfrm>
            <a:off x="4996543" y="2352615"/>
            <a:ext cx="387192" cy="29998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26C070D-9741-B19C-A6B4-F7882FC6EDF7}"/>
              </a:ext>
            </a:extLst>
          </p:cNvPr>
          <p:cNvSpPr txBox="1"/>
          <p:nvPr/>
        </p:nvSpPr>
        <p:spPr>
          <a:xfrm>
            <a:off x="5294065" y="2436205"/>
            <a:ext cx="1487196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Connecting / No sensor connected</a:t>
            </a:r>
            <a:endParaRPr lang="ko-KR" altLang="en-US" sz="5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DF0BCD-EECD-9084-ACAB-56292DB8107A}"/>
              </a:ext>
            </a:extLst>
          </p:cNvPr>
          <p:cNvSpPr/>
          <p:nvPr/>
        </p:nvSpPr>
        <p:spPr>
          <a:xfrm>
            <a:off x="4980411" y="2394403"/>
            <a:ext cx="1800850" cy="2581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120B47EF-179A-76E8-091E-8B74169DE2B6}"/>
              </a:ext>
            </a:extLst>
          </p:cNvPr>
          <p:cNvSpPr/>
          <p:nvPr/>
        </p:nvSpPr>
        <p:spPr>
          <a:xfrm>
            <a:off x="4421978" y="3386472"/>
            <a:ext cx="464819" cy="1295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F4371E-DF72-466C-A6AB-924CE317C692}"/>
              </a:ext>
            </a:extLst>
          </p:cNvPr>
          <p:cNvSpPr txBox="1"/>
          <p:nvPr/>
        </p:nvSpPr>
        <p:spPr>
          <a:xfrm>
            <a:off x="6624792" y="3275685"/>
            <a:ext cx="3488225" cy="66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Display only the sensor connection status information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Connecting/Disconnected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BDDF1D-34D9-19CA-329D-E095280A6645}"/>
              </a:ext>
            </a:extLst>
          </p:cNvPr>
          <p:cNvSpPr txBox="1"/>
          <p:nvPr/>
        </p:nvSpPr>
        <p:spPr>
          <a:xfrm>
            <a:off x="1925377" y="1547211"/>
            <a:ext cx="1094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Before change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F9CC7E-4DF8-16FB-517D-B04E295FA014}"/>
              </a:ext>
            </a:extLst>
          </p:cNvPr>
          <p:cNvSpPr txBox="1"/>
          <p:nvPr/>
        </p:nvSpPr>
        <p:spPr>
          <a:xfrm>
            <a:off x="5368760" y="1547212"/>
            <a:ext cx="996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After change</a:t>
            </a:r>
          </a:p>
        </p:txBody>
      </p:sp>
    </p:spTree>
    <p:extLst>
      <p:ext uri="{BB962C8B-B14F-4D97-AF65-F5344CB8AC3E}">
        <p14:creationId xmlns:p14="http://schemas.microsoft.com/office/powerpoint/2010/main" val="35881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3A87-7E54-4099-852E-8A8A2BE8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4029D2-3105-2711-D5DF-35FCFF0DEFD1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69B28A-1CDE-9C55-D0BC-6CD8C2DEAC4A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F8824F-DC9C-F981-2EFE-14B234CE90B3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8AE36DCB-2D95-758D-9620-2DE8262CF78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F6B6B56-0F4F-2825-6A84-8457BEEDE0CB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D385B9-97A7-EBF7-59BF-60BA2BCB26EE}"/>
              </a:ext>
            </a:extLst>
          </p:cNvPr>
          <p:cNvSpPr txBox="1"/>
          <p:nvPr/>
        </p:nvSpPr>
        <p:spPr>
          <a:xfrm>
            <a:off x="191459" y="856742"/>
            <a:ext cx="9373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Sensor Screen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– SC_05_01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Start Time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6F88A3-B563-9693-B970-5374CB00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46" y="1655804"/>
            <a:ext cx="2185572" cy="47339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426E19-FD63-E6CE-1F90-4F75A1501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010" y="1655803"/>
            <a:ext cx="2185572" cy="473393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D63C27-F8CF-1A5C-7A47-A5D99944F347}"/>
              </a:ext>
            </a:extLst>
          </p:cNvPr>
          <p:cNvSpPr/>
          <p:nvPr/>
        </p:nvSpPr>
        <p:spPr>
          <a:xfrm>
            <a:off x="3199011" y="3048759"/>
            <a:ext cx="2185572" cy="1871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2DA18-5640-6E1A-FE0F-EBCB306D9855}"/>
              </a:ext>
            </a:extLst>
          </p:cNvPr>
          <p:cNvSpPr txBox="1"/>
          <p:nvPr/>
        </p:nvSpPr>
        <p:spPr>
          <a:xfrm>
            <a:off x="5614205" y="3080658"/>
            <a:ext cx="3979470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Start Time automatically updates to match the start date and time. 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Delete Warm-Up Time section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Check only the sensor start date and time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Change the screen layout to match the configuration shown after the right-side modification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DA1FDC-BBC6-0377-BF86-461A5A34F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647" b="31530"/>
          <a:stretch>
            <a:fillRect/>
          </a:stretch>
        </p:blipFill>
        <p:spPr>
          <a:xfrm>
            <a:off x="3199010" y="3025458"/>
            <a:ext cx="2185572" cy="1175099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4388DE7-6D0D-A552-96FB-5FB7FDF24B7A}"/>
              </a:ext>
            </a:extLst>
          </p:cNvPr>
          <p:cNvSpPr/>
          <p:nvPr/>
        </p:nvSpPr>
        <p:spPr>
          <a:xfrm>
            <a:off x="2623762" y="3588035"/>
            <a:ext cx="636004" cy="216483"/>
          </a:xfrm>
          <a:prstGeom prst="rightArrow">
            <a:avLst>
              <a:gd name="adj1" fmla="val 50000"/>
              <a:gd name="adj2" fmla="val 9827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F6AA62-1F52-B50C-7C3B-77E5D867E345}"/>
              </a:ext>
            </a:extLst>
          </p:cNvPr>
          <p:cNvSpPr/>
          <p:nvPr/>
        </p:nvSpPr>
        <p:spPr>
          <a:xfrm>
            <a:off x="3835986" y="3900848"/>
            <a:ext cx="911620" cy="243840"/>
          </a:xfrm>
          <a:prstGeom prst="rect">
            <a:avLst/>
          </a:prstGeom>
          <a:solidFill>
            <a:srgbClr val="87AF7B"/>
          </a:solidFill>
          <a:ln>
            <a:solidFill>
              <a:srgbClr val="87AF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OK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DD55A-E858-4A77-745E-626DBBA228BC}"/>
              </a:ext>
            </a:extLst>
          </p:cNvPr>
          <p:cNvSpPr txBox="1"/>
          <p:nvPr/>
        </p:nvSpPr>
        <p:spPr>
          <a:xfrm>
            <a:off x="1044774" y="1320097"/>
            <a:ext cx="1093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Before change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DF33A-6473-F4D3-7761-4495A6D23CA5}"/>
              </a:ext>
            </a:extLst>
          </p:cNvPr>
          <p:cNvSpPr txBox="1"/>
          <p:nvPr/>
        </p:nvSpPr>
        <p:spPr>
          <a:xfrm>
            <a:off x="3785880" y="1320097"/>
            <a:ext cx="1011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After change</a:t>
            </a:r>
          </a:p>
        </p:txBody>
      </p:sp>
    </p:spTree>
    <p:extLst>
      <p:ext uri="{BB962C8B-B14F-4D97-AF65-F5344CB8AC3E}">
        <p14:creationId xmlns:p14="http://schemas.microsoft.com/office/powerpoint/2010/main" val="206803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C33A-56AE-5F90-520C-0B31A3A7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585007-0C7D-C4A6-54F2-01EFF024875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F33BC3-3E2D-B678-AB45-74ADF4A4632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BEDF85-B219-4DA0-C95D-274271420140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AC276ED8-DA07-420C-551C-DFC5019A62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6240FD2-44E3-4263-0D23-D63EEC24C25B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A5FA8D-88A6-E1F3-F48B-AB23856A1E59}"/>
              </a:ext>
            </a:extLst>
          </p:cNvPr>
          <p:cNvSpPr txBox="1"/>
          <p:nvPr/>
        </p:nvSpPr>
        <p:spPr>
          <a:xfrm>
            <a:off x="191459" y="856742"/>
            <a:ext cx="9373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Sensor Screen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– SC_07_01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Data Share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B9F64C-D01A-BB4A-681E-4B12EF5E2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5" y="1177971"/>
            <a:ext cx="2493084" cy="540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146634B-2E20-5EBE-DB68-6C2A482F0E65}"/>
              </a:ext>
            </a:extLst>
          </p:cNvPr>
          <p:cNvSpPr/>
          <p:nvPr/>
        </p:nvSpPr>
        <p:spPr>
          <a:xfrm>
            <a:off x="205096" y="3169920"/>
            <a:ext cx="2493084" cy="2831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6E7610-C7E6-1297-9C73-8E6142E2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52" b="13098"/>
          <a:stretch>
            <a:fillRect/>
          </a:stretch>
        </p:blipFill>
        <p:spPr>
          <a:xfrm>
            <a:off x="205095" y="3619313"/>
            <a:ext cx="2493084" cy="26703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E1D687B-BE05-0D09-5499-17004D987FB0}"/>
              </a:ext>
            </a:extLst>
          </p:cNvPr>
          <p:cNvSpPr/>
          <p:nvPr/>
        </p:nvSpPr>
        <p:spPr>
          <a:xfrm>
            <a:off x="170258" y="2870677"/>
            <a:ext cx="2493085" cy="7377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CBBA7A-3443-AC43-0630-FE5C65EC2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305" t="43127" r="11750" b="52357"/>
          <a:stretch>
            <a:fillRect/>
          </a:stretch>
        </p:blipFill>
        <p:spPr>
          <a:xfrm>
            <a:off x="2038350" y="3337374"/>
            <a:ext cx="347662" cy="2438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1FE2AA-86F5-C3BA-93A7-DC55C7ACF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305" t="43127" r="11750" b="52357"/>
          <a:stretch>
            <a:fillRect/>
          </a:stretch>
        </p:blipFill>
        <p:spPr>
          <a:xfrm>
            <a:off x="2038350" y="3055435"/>
            <a:ext cx="347662" cy="2438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59042F-5A2A-FCD2-7643-A38A3A452932}"/>
              </a:ext>
            </a:extLst>
          </p:cNvPr>
          <p:cNvSpPr txBox="1"/>
          <p:nvPr/>
        </p:nvSpPr>
        <p:spPr>
          <a:xfrm>
            <a:off x="363171" y="3119858"/>
            <a:ext cx="86872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Glucose data</a:t>
            </a:r>
            <a:endParaRPr lang="ko-KR" altLang="en-US" sz="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798FB-FC6C-834B-E677-1A7C079BB7BD}"/>
              </a:ext>
            </a:extLst>
          </p:cNvPr>
          <p:cNvSpPr txBox="1"/>
          <p:nvPr/>
        </p:nvSpPr>
        <p:spPr>
          <a:xfrm>
            <a:off x="363170" y="3366961"/>
            <a:ext cx="72884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User</a:t>
            </a:r>
            <a:r>
              <a:rPr lang="ko-KR" altLang="en-US" sz="800" b="1" dirty="0"/>
              <a:t> </a:t>
            </a:r>
            <a:r>
              <a:rPr lang="en-US" altLang="ko-KR" sz="800" b="1" dirty="0"/>
              <a:t>Profile</a:t>
            </a:r>
            <a:endParaRPr lang="ko-KR" altLang="en-US" sz="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3B091-E046-EE84-DA3E-8C955A3DEE3B}"/>
              </a:ext>
            </a:extLst>
          </p:cNvPr>
          <p:cNvSpPr txBox="1"/>
          <p:nvPr/>
        </p:nvSpPr>
        <p:spPr>
          <a:xfrm>
            <a:off x="223290" y="2934217"/>
            <a:ext cx="86872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Sharing settings</a:t>
            </a:r>
            <a:endParaRPr lang="ko-KR" altLang="en-US" sz="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05A11-4B45-EB05-5E18-B012F2B04C47}"/>
              </a:ext>
            </a:extLst>
          </p:cNvPr>
          <p:cNvSpPr txBox="1"/>
          <p:nvPr/>
        </p:nvSpPr>
        <p:spPr>
          <a:xfrm>
            <a:off x="4878439" y="2007298"/>
            <a:ext cx="5027561" cy="3741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Select the date you want to share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Select a custom date instead of the 1, 7, or 30-day options.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Ex) If only 1 day is selected, one day's worth of information is shared. If 1 to 6 days are selected, the information for the specified days is shared. 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item in sharing range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Glucose data: Summary, Range Distribution, and Glucose Graph in the Report.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User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Profile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sharing method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Share via methods such as Email and SMS (.CSV, PDF)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Revocable anytime Delete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This section reconfirms consent for information sharing, similar to a pop-up notification before sharing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C59847-4CEB-CC7E-1CE4-6DB21717228D}"/>
              </a:ext>
            </a:extLst>
          </p:cNvPr>
          <p:cNvSpPr/>
          <p:nvPr/>
        </p:nvSpPr>
        <p:spPr>
          <a:xfrm>
            <a:off x="223290" y="4914900"/>
            <a:ext cx="2474889" cy="876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A3BCB0-254D-5373-D86D-B11FE4D2516C}"/>
              </a:ext>
            </a:extLst>
          </p:cNvPr>
          <p:cNvSpPr/>
          <p:nvPr/>
        </p:nvSpPr>
        <p:spPr>
          <a:xfrm>
            <a:off x="1967049" y="2604952"/>
            <a:ext cx="427672" cy="229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72074B0-1671-8B38-B531-A761003B7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605" y="1456246"/>
            <a:ext cx="1287068" cy="2255513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B381264-B753-DD05-D7EF-E57D352F6A7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394721" y="2719854"/>
            <a:ext cx="936308" cy="76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01B73FD-B518-5235-E35A-FAA52166937E}"/>
              </a:ext>
            </a:extLst>
          </p:cNvPr>
          <p:cNvSpPr/>
          <p:nvPr/>
        </p:nvSpPr>
        <p:spPr>
          <a:xfrm>
            <a:off x="3910964" y="2277699"/>
            <a:ext cx="670560" cy="121920"/>
          </a:xfrm>
          <a:prstGeom prst="roundRect">
            <a:avLst>
              <a:gd name="adj" fmla="val 4401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C28EF82-2A50-F902-CCAE-A1ABA36BD8BB}"/>
              </a:ext>
            </a:extLst>
          </p:cNvPr>
          <p:cNvSpPr/>
          <p:nvPr/>
        </p:nvSpPr>
        <p:spPr>
          <a:xfrm>
            <a:off x="3420426" y="2454939"/>
            <a:ext cx="470536" cy="121920"/>
          </a:xfrm>
          <a:prstGeom prst="roundRect">
            <a:avLst>
              <a:gd name="adj" fmla="val 4401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650FB3-6792-D102-6658-10E5E765326D}"/>
              </a:ext>
            </a:extLst>
          </p:cNvPr>
          <p:cNvSpPr txBox="1"/>
          <p:nvPr/>
        </p:nvSpPr>
        <p:spPr>
          <a:xfrm>
            <a:off x="3450233" y="1218049"/>
            <a:ext cx="1103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solidFill>
                  <a:srgbClr val="FF0000"/>
                </a:solidFill>
              </a:rPr>
              <a:t>Modification request</a:t>
            </a:r>
          </a:p>
        </p:txBody>
      </p:sp>
    </p:spTree>
    <p:extLst>
      <p:ext uri="{BB962C8B-B14F-4D97-AF65-F5344CB8AC3E}">
        <p14:creationId xmlns:p14="http://schemas.microsoft.com/office/powerpoint/2010/main" val="270799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1463-8296-563A-C7B2-2CF14FC4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1B0DE27-DD34-DDE6-108F-ECFBE3A36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389" y="1693449"/>
            <a:ext cx="2126624" cy="460624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CB6111B-F924-FB9C-FECF-B6F1078B6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338" y="1755036"/>
            <a:ext cx="2175594" cy="446999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947733-675E-1127-D80D-96F3258E297A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463B61-C18B-C132-20C6-1991ABCA290D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733793-D6AB-80E6-1B94-FC4E19D93272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8CDDF335-DB1F-629A-3662-D500D8E7DC8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11DB65B-122B-9A3D-9E79-745E3D9B9C37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D9F2FE-8418-E49A-D7A2-232C9454003C}"/>
              </a:ext>
            </a:extLst>
          </p:cNvPr>
          <p:cNvSpPr txBox="1"/>
          <p:nvPr/>
        </p:nvSpPr>
        <p:spPr>
          <a:xfrm>
            <a:off x="191459" y="856742"/>
            <a:ext cx="9373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Alarm Screen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– AR_01_02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Very Low Glucose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725E5E-F6B8-2B89-5D97-07D22E7A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87" y="1693449"/>
            <a:ext cx="2126623" cy="4606246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5B41A1E-F99B-1FA4-92DE-CA017464604E}"/>
              </a:ext>
            </a:extLst>
          </p:cNvPr>
          <p:cNvSpPr/>
          <p:nvPr/>
        </p:nvSpPr>
        <p:spPr>
          <a:xfrm>
            <a:off x="4736748" y="2060878"/>
            <a:ext cx="1946164" cy="56143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966EF-1396-4C73-34E1-5D1B728C1BA9}"/>
              </a:ext>
            </a:extLst>
          </p:cNvPr>
          <p:cNvSpPr txBox="1"/>
          <p:nvPr/>
        </p:nvSpPr>
        <p:spPr>
          <a:xfrm>
            <a:off x="4698578" y="1490374"/>
            <a:ext cx="201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Display banner upon alarm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968FAA-B2AD-9E67-0F31-58BFAFE62B17}"/>
              </a:ext>
            </a:extLst>
          </p:cNvPr>
          <p:cNvSpPr/>
          <p:nvPr/>
        </p:nvSpPr>
        <p:spPr>
          <a:xfrm>
            <a:off x="2475641" y="4661325"/>
            <a:ext cx="2125054" cy="1358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A82AC9F-3659-F99E-516A-C8D1F22662A6}"/>
              </a:ext>
            </a:extLst>
          </p:cNvPr>
          <p:cNvSpPr/>
          <p:nvPr/>
        </p:nvSpPr>
        <p:spPr>
          <a:xfrm>
            <a:off x="2105874" y="3610907"/>
            <a:ext cx="484345" cy="22964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F5CC323-A245-4B1C-5ABF-CEA551D6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34" b="9308"/>
          <a:stretch>
            <a:fillRect/>
          </a:stretch>
        </p:blipFill>
        <p:spPr>
          <a:xfrm>
            <a:off x="2425182" y="4700917"/>
            <a:ext cx="2236136" cy="4581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E5292C-3ECC-3C58-3A4F-2D574CA1C319}"/>
              </a:ext>
            </a:extLst>
          </p:cNvPr>
          <p:cNvSpPr txBox="1"/>
          <p:nvPr/>
        </p:nvSpPr>
        <p:spPr>
          <a:xfrm>
            <a:off x="2565950" y="4811514"/>
            <a:ext cx="88582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600" b="1" dirty="0"/>
              <a:t>방해 금지모드 무시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4D1D0E6-B017-00E5-EE0C-BEC19E11F4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5433" b="11000"/>
          <a:stretch>
            <a:fillRect/>
          </a:stretch>
        </p:blipFill>
        <p:spPr>
          <a:xfrm>
            <a:off x="2542531" y="5090083"/>
            <a:ext cx="2058164" cy="6043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DDE1602-8EF6-4F1C-C72D-49EC7528C2A2}"/>
              </a:ext>
            </a:extLst>
          </p:cNvPr>
          <p:cNvSpPr txBox="1"/>
          <p:nvPr/>
        </p:nvSpPr>
        <p:spPr>
          <a:xfrm>
            <a:off x="6738236" y="1393391"/>
            <a:ext cx="3167764" cy="466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Alarm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On/Off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very low glucose range.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Sound/Vibration Mode.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only if 'Sound Only' is selected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Vibration only if 'Vibration Only' is selected. 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+ Vibration if both are selected.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Select notification sound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Display banner upon notification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Override Do Not Disturb Mode feature On/Off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On: Alarm/Alert even when the phone is in Do Not Disturb Mode.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Off: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Alarm/Alert Off when in Do Not Disturb Mode.</a:t>
            </a:r>
          </a:p>
          <a:p>
            <a:pPr lvl="1">
              <a:lnSpc>
                <a:spcPct val="200000"/>
              </a:lnSpc>
            </a:pPr>
            <a:r>
              <a:rPr lang="en-US" altLang="ko-KR" sz="1000" b="1" dirty="0">
                <a:sym typeface="Wingdings" panose="05000000000000000000" pitchFamily="2" charset="2"/>
              </a:rPr>
              <a:t> </a:t>
            </a:r>
            <a:r>
              <a:rPr lang="en-US" altLang="ko-KR" sz="1000" b="1" dirty="0"/>
              <a:t>This section only applies the very low glucose alert.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F4EC5C-564E-B723-08B8-E827C2E46A93}"/>
              </a:ext>
            </a:extLst>
          </p:cNvPr>
          <p:cNvSpPr txBox="1"/>
          <p:nvPr/>
        </p:nvSpPr>
        <p:spPr>
          <a:xfrm>
            <a:off x="5031867" y="2144140"/>
            <a:ext cx="102058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600" b="1" dirty="0"/>
              <a:t>Very Low  glucose alert</a:t>
            </a:r>
            <a:endParaRPr lang="ko-KR" altLang="en-US" sz="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B428C-267D-C793-46FE-FD4DF833F7CF}"/>
              </a:ext>
            </a:extLst>
          </p:cNvPr>
          <p:cNvSpPr txBox="1"/>
          <p:nvPr/>
        </p:nvSpPr>
        <p:spPr>
          <a:xfrm>
            <a:off x="707812" y="1320097"/>
            <a:ext cx="1093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Before change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C583C-D015-F6E6-8FB1-BD1393DA7950}"/>
              </a:ext>
            </a:extLst>
          </p:cNvPr>
          <p:cNvSpPr txBox="1"/>
          <p:nvPr/>
        </p:nvSpPr>
        <p:spPr>
          <a:xfrm>
            <a:off x="3032252" y="1337815"/>
            <a:ext cx="1011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After change</a:t>
            </a:r>
          </a:p>
        </p:txBody>
      </p:sp>
    </p:spTree>
    <p:extLst>
      <p:ext uri="{BB962C8B-B14F-4D97-AF65-F5344CB8AC3E}">
        <p14:creationId xmlns:p14="http://schemas.microsoft.com/office/powerpoint/2010/main" val="236435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2E27-B923-A745-B796-136C8DB7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97F469BD-071E-9986-3566-502F7E6C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16" y="1867262"/>
            <a:ext cx="1829544" cy="37589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9DD829-4E86-9C79-000F-4FAC795C7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00" y="1797594"/>
            <a:ext cx="1766939" cy="38244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50175D2-FF8E-4CBD-405E-9798C67EA3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679" y="1867262"/>
            <a:ext cx="1732996" cy="37548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3DBAFA-A95A-E385-4644-E8016471085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953B23-1656-9E9E-E505-1976F6E3A857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BD460A-C8D0-695B-2FD4-AA509989FA0E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E16CD9C1-6620-B9FD-7121-3566955D886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5F9DAD9-59DE-B129-A8F4-10B16D7AEC6B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E6296D-ABAF-DA0A-CEFE-7375391FC484}"/>
              </a:ext>
            </a:extLst>
          </p:cNvPr>
          <p:cNvSpPr txBox="1"/>
          <p:nvPr/>
        </p:nvSpPr>
        <p:spPr>
          <a:xfrm>
            <a:off x="191459" y="856742"/>
            <a:ext cx="3818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Alarm Screen – AR_01_03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High Glucose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EDBD9AD-1B3E-FC3A-FC52-B358684F18BC}"/>
              </a:ext>
            </a:extLst>
          </p:cNvPr>
          <p:cNvSpPr/>
          <p:nvPr/>
        </p:nvSpPr>
        <p:spPr>
          <a:xfrm>
            <a:off x="695316" y="2443490"/>
            <a:ext cx="1637212" cy="5936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36D8FB5A-874E-1D87-FFA7-1A95E90AD257}"/>
              </a:ext>
            </a:extLst>
          </p:cNvPr>
          <p:cNvCxnSpPr>
            <a:cxnSpLocks/>
          </p:cNvCxnSpPr>
          <p:nvPr/>
        </p:nvCxnSpPr>
        <p:spPr>
          <a:xfrm>
            <a:off x="2332528" y="2832468"/>
            <a:ext cx="613068" cy="59362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C5F3F4-063F-47A3-4AF5-0FBE64F3436A}"/>
              </a:ext>
            </a:extLst>
          </p:cNvPr>
          <p:cNvSpPr/>
          <p:nvPr/>
        </p:nvSpPr>
        <p:spPr>
          <a:xfrm>
            <a:off x="4639415" y="2081349"/>
            <a:ext cx="1829545" cy="5486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6A5589-0E4B-6FAB-F699-D8548B34DC36}"/>
              </a:ext>
            </a:extLst>
          </p:cNvPr>
          <p:cNvSpPr txBox="1"/>
          <p:nvPr/>
        </p:nvSpPr>
        <p:spPr>
          <a:xfrm>
            <a:off x="4970911" y="2165028"/>
            <a:ext cx="102058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600" b="1" dirty="0"/>
              <a:t>High glucose alert</a:t>
            </a:r>
            <a:endParaRPr lang="ko-KR" altLang="en-US" sz="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45AF15A-E5CB-D995-F59D-4AAFE3405A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5433" b="7815"/>
          <a:stretch>
            <a:fillRect/>
          </a:stretch>
        </p:blipFill>
        <p:spPr>
          <a:xfrm>
            <a:off x="613500" y="4743183"/>
            <a:ext cx="1765572" cy="640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9DEA3-7A8E-6E13-5C86-9B5ECE1F6E11}"/>
              </a:ext>
            </a:extLst>
          </p:cNvPr>
          <p:cNvSpPr txBox="1"/>
          <p:nvPr/>
        </p:nvSpPr>
        <p:spPr>
          <a:xfrm>
            <a:off x="6602435" y="2419030"/>
            <a:ext cx="3303565" cy="281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Alarm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On/Off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high glucose range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Graph line changes according to the set value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Sound/Vibration Mode.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only if 'Sound Only' is selected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Vibration only if 'Vibration Only' is selected. 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+ Vibration if both are selected.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Select notification sound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Display banner upon alarm</a:t>
            </a:r>
            <a:endParaRPr lang="ko-KR" altLang="en-US" sz="1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C1ACB-BC58-241C-E6A3-0C2557870028}"/>
              </a:ext>
            </a:extLst>
          </p:cNvPr>
          <p:cNvSpPr txBox="1"/>
          <p:nvPr/>
        </p:nvSpPr>
        <p:spPr>
          <a:xfrm>
            <a:off x="990370" y="1520595"/>
            <a:ext cx="1011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After change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92928A-4449-E2ED-193F-C48981313ADB}"/>
              </a:ext>
            </a:extLst>
          </p:cNvPr>
          <p:cNvSpPr txBox="1"/>
          <p:nvPr/>
        </p:nvSpPr>
        <p:spPr>
          <a:xfrm>
            <a:off x="4544630" y="1520595"/>
            <a:ext cx="201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Display banner upon alarm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13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FC88-CC7C-A348-A1FC-3047B457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EB47375C-1FB5-837C-4303-5FB4E065AE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220" y="1800821"/>
            <a:ext cx="1760381" cy="3814159"/>
          </a:xfrm>
          <a:prstGeom prst="rect">
            <a:avLst/>
          </a:prstGeom>
        </p:spPr>
      </p:pic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F1C4FD9-DD53-233A-774A-36EDC0B33B33}"/>
              </a:ext>
            </a:extLst>
          </p:cNvPr>
          <p:cNvCxnSpPr>
            <a:cxnSpLocks/>
          </p:cNvCxnSpPr>
          <p:nvPr/>
        </p:nvCxnSpPr>
        <p:spPr>
          <a:xfrm>
            <a:off x="2001291" y="2870079"/>
            <a:ext cx="1025326" cy="970798"/>
          </a:xfrm>
          <a:prstGeom prst="bentConnector3">
            <a:avLst>
              <a:gd name="adj1" fmla="val 6868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7882FEB-65F7-3D6D-658B-7F71C8B25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74" y="1800821"/>
            <a:ext cx="1754228" cy="379698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3BFAE3-7E14-E956-5108-E2D646BC4AA7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F5EE67-3496-91F6-6C16-43CC798E575A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F627B9-4FBC-51FD-F9EE-BF00BAE2C1BB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07B74B08-D274-CFF8-8D3F-C288253EBC2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F77132C-808A-097A-002E-CE857B81CD5F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5BDF88-45B9-2528-58DA-960FF09AFC56}"/>
              </a:ext>
            </a:extLst>
          </p:cNvPr>
          <p:cNvSpPr txBox="1"/>
          <p:nvPr/>
        </p:nvSpPr>
        <p:spPr>
          <a:xfrm>
            <a:off x="191459" y="856742"/>
            <a:ext cx="3779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Alarm Screen – AR_01_04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Low Glucose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9710F4D-7FE4-E62E-453F-C45668AFD835}"/>
              </a:ext>
            </a:extLst>
          </p:cNvPr>
          <p:cNvSpPr/>
          <p:nvPr/>
        </p:nvSpPr>
        <p:spPr>
          <a:xfrm>
            <a:off x="617498" y="2475814"/>
            <a:ext cx="1765572" cy="5989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40ADB56-FE00-9076-FD23-42D46337A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306" y="1800821"/>
            <a:ext cx="1856393" cy="3814159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554EFF-C91A-5937-553A-B0A31156E9E2}"/>
              </a:ext>
            </a:extLst>
          </p:cNvPr>
          <p:cNvSpPr/>
          <p:nvPr/>
        </p:nvSpPr>
        <p:spPr>
          <a:xfrm>
            <a:off x="4620306" y="2041937"/>
            <a:ext cx="1856393" cy="526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A01030-BE76-2876-30EA-A66158B6A6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5433" b="7815"/>
          <a:stretch>
            <a:fillRect/>
          </a:stretch>
        </p:blipFill>
        <p:spPr>
          <a:xfrm>
            <a:off x="617498" y="4772951"/>
            <a:ext cx="1765572" cy="6401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F851F9-714B-15B4-B883-8DC214C104A7}"/>
              </a:ext>
            </a:extLst>
          </p:cNvPr>
          <p:cNvSpPr txBox="1"/>
          <p:nvPr/>
        </p:nvSpPr>
        <p:spPr>
          <a:xfrm>
            <a:off x="4934665" y="2120629"/>
            <a:ext cx="102058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600" b="1" dirty="0"/>
              <a:t>Low  glucose alert</a:t>
            </a:r>
            <a:endParaRPr lang="ko-KR" altLang="en-US" sz="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BE8A9A-A134-5133-B3D3-C5473272F5E7}"/>
              </a:ext>
            </a:extLst>
          </p:cNvPr>
          <p:cNvSpPr txBox="1"/>
          <p:nvPr/>
        </p:nvSpPr>
        <p:spPr>
          <a:xfrm>
            <a:off x="1012116" y="1498707"/>
            <a:ext cx="1011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After change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6BCED-C43B-164A-B516-A389D76D1D43}"/>
              </a:ext>
            </a:extLst>
          </p:cNvPr>
          <p:cNvSpPr txBox="1"/>
          <p:nvPr/>
        </p:nvSpPr>
        <p:spPr>
          <a:xfrm>
            <a:off x="4522362" y="1498233"/>
            <a:ext cx="201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Display banner upon alarm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D405B-AD08-ADB1-1094-DA3CC3482498}"/>
              </a:ext>
            </a:extLst>
          </p:cNvPr>
          <p:cNvSpPr txBox="1"/>
          <p:nvPr/>
        </p:nvSpPr>
        <p:spPr>
          <a:xfrm>
            <a:off x="6602435" y="2419030"/>
            <a:ext cx="3303565" cy="281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Alarm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On/Off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Low glucose range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Graph line changes according to the set value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Sound/Vibration Mode.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only if 'Sound Only' is selected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Vibration only if 'Vibration Only' is selected. 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+ Vibration if both are selected.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Select notification sound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Display banner upon alarm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30525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B9BB-BB0F-A021-167A-853FF0DE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11813F9-E77B-AE31-CE80-9CB57C12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06" y="1517206"/>
            <a:ext cx="2179179" cy="471677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F52300-E501-F787-DA28-7EB7083D90C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DAA48D-1A28-E259-54D5-9494DD5C1595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A53062-14F5-4EAB-46D6-27098EA6EBEA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2572AC87-B7B0-9285-4865-D50F004BC95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9033482-4150-364C-9189-78C2A151009F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31D9B3-B1EA-4855-0F98-270E58C82882}"/>
              </a:ext>
            </a:extLst>
          </p:cNvPr>
          <p:cNvSpPr txBox="1"/>
          <p:nvPr/>
        </p:nvSpPr>
        <p:spPr>
          <a:xfrm>
            <a:off x="191459" y="856742"/>
            <a:ext cx="3875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Alarm Screen – AR_01_05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Rapid Change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BFB62C-8892-061C-E394-DB3359836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264" y="1517206"/>
            <a:ext cx="2403364" cy="493797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4D963D-9F48-F358-1F3D-F0C8F0341BBB}"/>
              </a:ext>
            </a:extLst>
          </p:cNvPr>
          <p:cNvSpPr/>
          <p:nvPr/>
        </p:nvSpPr>
        <p:spPr>
          <a:xfrm>
            <a:off x="3926660" y="1870031"/>
            <a:ext cx="2195466" cy="5588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8F4C4-DD63-ED9F-09E9-134A7E7E3B23}"/>
              </a:ext>
            </a:extLst>
          </p:cNvPr>
          <p:cNvSpPr txBox="1"/>
          <p:nvPr/>
        </p:nvSpPr>
        <p:spPr>
          <a:xfrm>
            <a:off x="4259074" y="1948350"/>
            <a:ext cx="108798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Rapid Change Alarm</a:t>
            </a:r>
            <a:endParaRPr lang="ko-KR" altLang="en-US" sz="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BCA3F-FFDF-EA6C-F810-6D26051A1918}"/>
              </a:ext>
            </a:extLst>
          </p:cNvPr>
          <p:cNvSpPr txBox="1"/>
          <p:nvPr/>
        </p:nvSpPr>
        <p:spPr>
          <a:xfrm>
            <a:off x="4135146" y="2134681"/>
            <a:ext cx="924534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600" b="1" dirty="0"/>
              <a:t>[</a:t>
            </a:r>
            <a:r>
              <a:rPr lang="en-US" altLang="ko-KR" sz="700" b="1" dirty="0"/>
              <a:t>Rapid </a:t>
            </a:r>
            <a:r>
              <a:rPr lang="en-US" altLang="ko-KR" sz="600" b="1" dirty="0"/>
              <a:t>Change Range]</a:t>
            </a:r>
            <a:endParaRPr lang="ko-KR" altLang="en-US" sz="600" b="1" dirty="0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09219AD5-907B-4351-5BBA-5B7780F752CC}"/>
              </a:ext>
            </a:extLst>
          </p:cNvPr>
          <p:cNvSpPr/>
          <p:nvPr/>
        </p:nvSpPr>
        <p:spPr>
          <a:xfrm>
            <a:off x="3483887" y="3560168"/>
            <a:ext cx="276606" cy="18466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5DBFC-2410-37BC-3EDB-48876556B9A5}"/>
              </a:ext>
            </a:extLst>
          </p:cNvPr>
          <p:cNvSpPr txBox="1"/>
          <p:nvPr/>
        </p:nvSpPr>
        <p:spPr>
          <a:xfrm>
            <a:off x="6541475" y="2396772"/>
            <a:ext cx="3303565" cy="251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Alarm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On/Off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Rapid Change range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Select Sound/Vibration Mode.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only if 'Sound Only' is selected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Vibration only if 'Vibration Only' is selected. 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+ Vibration if both are selected.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Select notification sound</a:t>
            </a:r>
          </a:p>
          <a:p>
            <a:pPr marL="228600" indent="-228600">
              <a:lnSpc>
                <a:spcPct val="200000"/>
              </a:lnSpc>
              <a:buFontTx/>
              <a:buAutoNum type="arabicPeriod"/>
            </a:pPr>
            <a:r>
              <a:rPr lang="en-US" altLang="ko-KR" sz="1000" b="1" dirty="0"/>
              <a:t>Display banner upon alarm</a:t>
            </a:r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1F4F7-6E5B-020A-82B7-026E4AAD6FFE}"/>
              </a:ext>
            </a:extLst>
          </p:cNvPr>
          <p:cNvSpPr txBox="1"/>
          <p:nvPr/>
        </p:nvSpPr>
        <p:spPr>
          <a:xfrm>
            <a:off x="4050123" y="1258476"/>
            <a:ext cx="201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Display banner upon alarm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547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92AE-F968-7EEE-E2E1-9CE0ED62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0C3121-18A9-5B97-3610-C8239B2A89B7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A5D196-EC9A-86E8-7884-0233C7939411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72301F-9AD3-A6F8-6711-5AF93C826A21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CBD64D5-E248-3728-373E-B9FA4E3ADB2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86C96C-A1D4-11E7-EEFD-9DE30602E99B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A4B9C4-81BA-EAAA-1455-6D09362E0C71}"/>
              </a:ext>
            </a:extLst>
          </p:cNvPr>
          <p:cNvSpPr txBox="1"/>
          <p:nvPr/>
        </p:nvSpPr>
        <p:spPr>
          <a:xfrm>
            <a:off x="191459" y="856742"/>
            <a:ext cx="3625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Alarm Screen – AR_01_06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Signal Loss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FB6AB6-88FE-D9A7-1BB9-E6E65A68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11" y="1762820"/>
            <a:ext cx="2073254" cy="44875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B8BC70-E678-5056-BBC4-718A392CC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69" y="1786463"/>
            <a:ext cx="2073253" cy="4487502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E77808E-4C39-7FE4-60DE-CAD4520E5D0D}"/>
              </a:ext>
            </a:extLst>
          </p:cNvPr>
          <p:cNvSpPr/>
          <p:nvPr/>
        </p:nvSpPr>
        <p:spPr>
          <a:xfrm>
            <a:off x="3295976" y="3528745"/>
            <a:ext cx="362019" cy="1895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83DB9-7660-D1D6-E9F0-CD9A3336E414}"/>
              </a:ext>
            </a:extLst>
          </p:cNvPr>
          <p:cNvSpPr txBox="1"/>
          <p:nvPr/>
        </p:nvSpPr>
        <p:spPr>
          <a:xfrm>
            <a:off x="5900031" y="2888569"/>
            <a:ext cx="3898018" cy="1586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Since this section is not for user configuration, revise it to match the post-modification version.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Delete the item(s) in the displayed section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Items in the alarm method can be selected.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Sound + Vibration if both are selected.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66FF33-5DF0-4FE3-3E26-8D76067B2A34}"/>
              </a:ext>
            </a:extLst>
          </p:cNvPr>
          <p:cNvSpPr/>
          <p:nvPr/>
        </p:nvSpPr>
        <p:spPr>
          <a:xfrm>
            <a:off x="3655868" y="2818240"/>
            <a:ext cx="1886893" cy="1610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EBCAD64-A098-2BEB-849D-E344F0CAD4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665" b="26143"/>
          <a:stretch>
            <a:fillRect/>
          </a:stretch>
        </p:blipFill>
        <p:spPr>
          <a:xfrm>
            <a:off x="3655870" y="2848062"/>
            <a:ext cx="2047334" cy="1027728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83D83A-11B3-B3D3-2BBE-A738694C1B99}"/>
              </a:ext>
            </a:extLst>
          </p:cNvPr>
          <p:cNvSpPr/>
          <p:nvPr/>
        </p:nvSpPr>
        <p:spPr>
          <a:xfrm>
            <a:off x="1154411" y="2848062"/>
            <a:ext cx="2073254" cy="1682571"/>
          </a:xfrm>
          <a:prstGeom prst="roundRect">
            <a:avLst>
              <a:gd name="adj" fmla="val 487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A91CF-9ECD-E914-C3A2-055CE4BFB194}"/>
              </a:ext>
            </a:extLst>
          </p:cNvPr>
          <p:cNvSpPr txBox="1"/>
          <p:nvPr/>
        </p:nvSpPr>
        <p:spPr>
          <a:xfrm>
            <a:off x="1639629" y="1449289"/>
            <a:ext cx="1093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Before change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546D7-72B2-266B-802D-5728F139CA68}"/>
              </a:ext>
            </a:extLst>
          </p:cNvPr>
          <p:cNvSpPr txBox="1"/>
          <p:nvPr/>
        </p:nvSpPr>
        <p:spPr>
          <a:xfrm>
            <a:off x="4093398" y="1449289"/>
            <a:ext cx="1011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After change</a:t>
            </a:r>
          </a:p>
        </p:txBody>
      </p:sp>
    </p:spTree>
    <p:extLst>
      <p:ext uri="{BB962C8B-B14F-4D97-AF65-F5344CB8AC3E}">
        <p14:creationId xmlns:p14="http://schemas.microsoft.com/office/powerpoint/2010/main" val="262150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CED1-1F1D-E774-3443-B09EBDB6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C70461-C4CE-3E52-6CF3-E37D2DF1AFA2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B40F8A-7F20-128B-E1A0-AF3D214872F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3D5FB9-7407-549A-5E75-0937A4F2CB21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089EB469-D0BF-5818-CE5F-AEBADB5770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EA31491-2CCC-3386-1B23-34BBFD1007D3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DFF397-E18F-177D-680E-34A0AE9FDE8B}"/>
              </a:ext>
            </a:extLst>
          </p:cNvPr>
          <p:cNvSpPr txBox="1"/>
          <p:nvPr/>
        </p:nvSpPr>
        <p:spPr>
          <a:xfrm>
            <a:off x="191459" y="856742"/>
            <a:ext cx="41122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Alarm Screen AR_01_08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Lock Screen Alerts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176C10-C442-D680-D6F6-1D564118D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80" y="1826383"/>
            <a:ext cx="1684796" cy="364669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EE20EB1-EF18-F629-62F7-7FD8E7B76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14858" r="32445" b="14528"/>
          <a:stretch>
            <a:fillRect/>
          </a:stretch>
        </p:blipFill>
        <p:spPr bwMode="auto">
          <a:xfrm>
            <a:off x="2723587" y="1826383"/>
            <a:ext cx="1839500" cy="372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44888B1-F88A-6A27-2E07-D0681319F8F5}"/>
              </a:ext>
            </a:extLst>
          </p:cNvPr>
          <p:cNvSpPr/>
          <p:nvPr/>
        </p:nvSpPr>
        <p:spPr>
          <a:xfrm>
            <a:off x="478398" y="2290233"/>
            <a:ext cx="1707009" cy="48392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07DE3F0D-7CE8-0066-66B4-0EF6205BEF21}"/>
              </a:ext>
            </a:extLst>
          </p:cNvPr>
          <p:cNvCxnSpPr>
            <a:cxnSpLocks/>
          </p:cNvCxnSpPr>
          <p:nvPr/>
        </p:nvCxnSpPr>
        <p:spPr>
          <a:xfrm>
            <a:off x="2176490" y="2554524"/>
            <a:ext cx="621394" cy="55959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E13E55C2-213D-C4D2-1C3A-9B9908E2C3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23" t="14427" r="32524" b="14787"/>
          <a:stretch>
            <a:fillRect/>
          </a:stretch>
        </p:blipFill>
        <p:spPr bwMode="auto">
          <a:xfrm>
            <a:off x="4587667" y="1826382"/>
            <a:ext cx="1837218" cy="372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00287C0-C99E-1ACC-5069-8D12E43C28C5}"/>
              </a:ext>
            </a:extLst>
          </p:cNvPr>
          <p:cNvSpPr/>
          <p:nvPr/>
        </p:nvSpPr>
        <p:spPr>
          <a:xfrm>
            <a:off x="4752130" y="3939670"/>
            <a:ext cx="806495" cy="75051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C458E3-01E2-E9E9-4E1D-C3A03E6AB9A7}"/>
              </a:ext>
            </a:extLst>
          </p:cNvPr>
          <p:cNvSpPr txBox="1"/>
          <p:nvPr/>
        </p:nvSpPr>
        <p:spPr>
          <a:xfrm>
            <a:off x="2771816" y="1539695"/>
            <a:ext cx="1684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Lock Screen (Example 1)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93AFA1-DEA6-12DF-8B23-3E1B661DFDEE}"/>
              </a:ext>
            </a:extLst>
          </p:cNvPr>
          <p:cNvSpPr txBox="1"/>
          <p:nvPr/>
        </p:nvSpPr>
        <p:spPr>
          <a:xfrm>
            <a:off x="4638925" y="1539694"/>
            <a:ext cx="1734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Main Screen (Example 2)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0703CD17-DB94-616D-2A17-3D5A7471A1F5}"/>
              </a:ext>
            </a:extLst>
          </p:cNvPr>
          <p:cNvCxnSpPr>
            <a:cxnSpLocks/>
          </p:cNvCxnSpPr>
          <p:nvPr/>
        </p:nvCxnSpPr>
        <p:spPr>
          <a:xfrm>
            <a:off x="2203383" y="2554524"/>
            <a:ext cx="2543157" cy="1731726"/>
          </a:xfrm>
          <a:prstGeom prst="bentConnector3">
            <a:avLst>
              <a:gd name="adj1" fmla="val 1129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752B7B9-A271-2ADE-C230-3CB42F0CCFFF}"/>
              </a:ext>
            </a:extLst>
          </p:cNvPr>
          <p:cNvSpPr txBox="1"/>
          <p:nvPr/>
        </p:nvSpPr>
        <p:spPr>
          <a:xfrm>
            <a:off x="6411043" y="2130997"/>
            <a:ext cx="3507794" cy="3127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Display Activate item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Banner notification on the Lock Screen.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Always display banner on the Lock Screen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Display the latest glucose value and trend arrow.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Adding a widget to the Main Screen also adds an item to the Main Screen.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Add widget to the Main Screen.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Display graph, latest glucose value, and trend arrow.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These parts update with regular refreshes</a:t>
            </a:r>
          </a:p>
        </p:txBody>
      </p:sp>
      <p:pic>
        <p:nvPicPr>
          <p:cNvPr id="11" name="Picture 4" descr="Screenshot_20230223-150142">
            <a:extLst>
              <a:ext uri="{FF2B5EF4-FFF2-40B4-BE49-F238E27FC236}">
                <a16:creationId xmlns:a16="http://schemas.microsoft.com/office/drawing/2014/main" id="{DC5C1EA0-B8B6-8EA3-AFB9-1295C3A446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" t="32261" r="13066" b="57330"/>
          <a:stretch>
            <a:fillRect/>
          </a:stretch>
        </p:blipFill>
        <p:spPr bwMode="auto">
          <a:xfrm>
            <a:off x="2845461" y="2846782"/>
            <a:ext cx="1583189" cy="428294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5697BF-255D-72FD-872C-D998BE2381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144" t="16969" r="15739" b="14678"/>
          <a:stretch>
            <a:fillRect/>
          </a:stretch>
        </p:blipFill>
        <p:spPr>
          <a:xfrm>
            <a:off x="3118305" y="2963115"/>
            <a:ext cx="230981" cy="23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7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93C4-05AC-7A54-7D25-24F7E882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F2F9E4-142A-6A5D-5AE8-10FDD43AFC8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FA5A8F-C16E-76AA-3473-2E379C39F5C4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3ADD24-49BC-CB23-E1F7-38DCEE07C7DB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6A7485CC-5B04-C547-D42E-9D8F057416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4FAB5EF-8F2D-1726-DFD4-290E394E556E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8E5FEA-C015-C4DE-09B6-7577D64E0087}"/>
              </a:ext>
            </a:extLst>
          </p:cNvPr>
          <p:cNvSpPr txBox="1"/>
          <p:nvPr/>
        </p:nvSpPr>
        <p:spPr>
          <a:xfrm>
            <a:off x="191459" y="856742"/>
            <a:ext cx="9373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Setting Screen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– ST_01_01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User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Screen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1788A5-1CB3-0A81-D1D4-C13AACDB1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9" y="1177971"/>
            <a:ext cx="2493084" cy="54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E06DA4-CD32-D49F-3BC0-0014AEC6F7A5}"/>
              </a:ext>
            </a:extLst>
          </p:cNvPr>
          <p:cNvSpPr txBox="1"/>
          <p:nvPr/>
        </p:nvSpPr>
        <p:spPr>
          <a:xfrm>
            <a:off x="4904197" y="1852801"/>
            <a:ext cx="4953000" cy="4050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Feature to modify personal information upon selecting the User section.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Name and email address cannot be changed, as they are displayed as login information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Gender, date of birth, phone number, and type of diabetes can be modified when editing member information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Automatically select Region.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Automatically select by recognizing the country of login.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Automatic language matching based on the country selected in Region.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Language matching based on the selected country </a:t>
            </a:r>
            <a:r>
              <a:rPr lang="en-US" altLang="ko-KR" sz="1000" b="1" dirty="0">
                <a:sym typeface="Wingdings" panose="05000000000000000000" pitchFamily="2" charset="2"/>
              </a:rPr>
              <a:t> </a:t>
            </a:r>
            <a:r>
              <a:rPr lang="en-US" altLang="ko-KR" sz="1000" b="1" dirty="0"/>
              <a:t>if no match is found, the default language is English.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Apply the time display change feature upon selecting Time Format.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24h: 24-hour format.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12h: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12-hour format (AM/PM distinction for morning/afternoon)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0B0A82-BDF2-1FE6-3DDC-90E833E43241}"/>
              </a:ext>
            </a:extLst>
          </p:cNvPr>
          <p:cNvSpPr/>
          <p:nvPr/>
        </p:nvSpPr>
        <p:spPr>
          <a:xfrm>
            <a:off x="371201" y="1456246"/>
            <a:ext cx="2133600" cy="4702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8296382-4A2A-C893-71E8-BF7B070027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58" b="6822"/>
          <a:stretch>
            <a:fillRect/>
          </a:stretch>
        </p:blipFill>
        <p:spPr>
          <a:xfrm>
            <a:off x="2869985" y="1195296"/>
            <a:ext cx="1990738" cy="373597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DB73539-5C09-954D-E8B5-1A68931C72F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504801" y="1691378"/>
            <a:ext cx="35948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D5BA60-95FD-21F0-8569-2561742A8BC4}"/>
              </a:ext>
            </a:extLst>
          </p:cNvPr>
          <p:cNvSpPr/>
          <p:nvPr/>
        </p:nvSpPr>
        <p:spPr>
          <a:xfrm>
            <a:off x="2869986" y="1208205"/>
            <a:ext cx="1990738" cy="37230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A22B7B-2D2A-D977-2D58-99EC98DE30CD}"/>
              </a:ext>
            </a:extLst>
          </p:cNvPr>
          <p:cNvSpPr/>
          <p:nvPr/>
        </p:nvSpPr>
        <p:spPr>
          <a:xfrm>
            <a:off x="3503948" y="2350293"/>
            <a:ext cx="717996" cy="142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E-mail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17B253-690C-032B-B35A-EC456C601134}"/>
              </a:ext>
            </a:extLst>
          </p:cNvPr>
          <p:cNvSpPr/>
          <p:nvPr/>
        </p:nvSpPr>
        <p:spPr>
          <a:xfrm>
            <a:off x="3656348" y="2207776"/>
            <a:ext cx="418012" cy="142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name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40821E-5D59-EAF1-0E19-2583A5372B0C}"/>
              </a:ext>
            </a:extLst>
          </p:cNvPr>
          <p:cNvSpPr/>
          <p:nvPr/>
        </p:nvSpPr>
        <p:spPr>
          <a:xfrm>
            <a:off x="4221944" y="2425160"/>
            <a:ext cx="540543" cy="406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78ECF-7402-B037-468F-B494B201A95E}"/>
              </a:ext>
            </a:extLst>
          </p:cNvPr>
          <p:cNvSpPr txBox="1"/>
          <p:nvPr/>
        </p:nvSpPr>
        <p:spPr>
          <a:xfrm>
            <a:off x="2411113" y="1882943"/>
            <a:ext cx="546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Touch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2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67D6-99DC-8442-6507-B227E166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DA517B-6ADB-1658-D4A0-327C9D6666D6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014729-6D2F-93E3-0AC5-C578B6AA95B6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8EE099-E442-B5EC-6BEF-BA21FE8EED3C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0D79C03A-BF44-5177-B15E-B322DFB72C3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68A785D-620A-0C37-EB5B-7D8833B14DB3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구성 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61C05C-D4A2-B8CA-EBF5-D530F6CBFDC7}"/>
              </a:ext>
            </a:extLst>
          </p:cNvPr>
          <p:cNvSpPr txBox="1"/>
          <p:nvPr/>
        </p:nvSpPr>
        <p:spPr>
          <a:xfrm>
            <a:off x="191459" y="856742"/>
            <a:ext cx="9373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Setting Screen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– ST_01_01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User Screen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14D72-8A7F-13A8-BA11-F01986DD4468}"/>
              </a:ext>
            </a:extLst>
          </p:cNvPr>
          <p:cNvSpPr txBox="1"/>
          <p:nvPr/>
        </p:nvSpPr>
        <p:spPr>
          <a:xfrm>
            <a:off x="3709850" y="3759955"/>
            <a:ext cx="6196149" cy="281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Addition of the Inquiry section</a:t>
            </a: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en-US" altLang="ko-KR" sz="1000" b="1" dirty="0"/>
              <a:t>Function of log data transmission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If the user encounters an issue that they suspect is caused by a sensor defect during use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Select the [Log Data Transmission] section.</a:t>
            </a:r>
          </a:p>
          <a:p>
            <a:pPr marL="1143000" lvl="2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Information being transmitted: Data for troubleshooting, such as communication history between the sensor and the device</a:t>
            </a:r>
          </a:p>
          <a:p>
            <a:pPr marL="1143000" lvl="2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Ex) Log transmission of information necessary to check/resolve issues such as sensor/device disconnection, sudden connection loss, or premature battery drain due to a sensor anomaly.</a:t>
            </a:r>
          </a:p>
          <a:p>
            <a:pPr marL="685800" lvl="1" indent="-2286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Feature for transmitting log data from the sensor to our company.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C0FC2C-C457-A8D3-EAEE-6F45B93F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13" y="1722121"/>
            <a:ext cx="2040452" cy="441959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A3B338A-7BDA-4AB3-51F2-B7CC6B127B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695" b="58645"/>
          <a:stretch>
            <a:fillRect/>
          </a:stretch>
        </p:blipFill>
        <p:spPr>
          <a:xfrm>
            <a:off x="299045" y="4597572"/>
            <a:ext cx="1903187" cy="31696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7A07F60-4C90-C0D7-8D11-3ECCA14C26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123"/>
          <a:stretch>
            <a:fillRect/>
          </a:stretch>
        </p:blipFill>
        <p:spPr>
          <a:xfrm>
            <a:off x="2872340" y="1173193"/>
            <a:ext cx="1370344" cy="2618132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A47C9429-09C5-B191-D98F-B3310F72AEDD}"/>
              </a:ext>
            </a:extLst>
          </p:cNvPr>
          <p:cNvSpPr/>
          <p:nvPr/>
        </p:nvSpPr>
        <p:spPr>
          <a:xfrm>
            <a:off x="3118282" y="3576521"/>
            <a:ext cx="912761" cy="158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764CDEB-0FB1-A30F-C3E0-829FB2141621}"/>
              </a:ext>
            </a:extLst>
          </p:cNvPr>
          <p:cNvSpPr/>
          <p:nvPr/>
        </p:nvSpPr>
        <p:spPr>
          <a:xfrm>
            <a:off x="299045" y="4549676"/>
            <a:ext cx="1858479" cy="3169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802FED7C-5917-BD02-E9AA-2AD7ED544068}"/>
              </a:ext>
            </a:extLst>
          </p:cNvPr>
          <p:cNvCxnSpPr>
            <a:cxnSpLocks/>
            <a:stCxn id="24" idx="3"/>
            <a:endCxn id="26" idx="2"/>
          </p:cNvCxnSpPr>
          <p:nvPr/>
        </p:nvCxnSpPr>
        <p:spPr>
          <a:xfrm flipV="1">
            <a:off x="2202232" y="3791325"/>
            <a:ext cx="1355280" cy="96473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0BC3008-2EC7-FA62-6AB0-1945C361A5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123"/>
          <a:stretch>
            <a:fillRect/>
          </a:stretch>
        </p:blipFill>
        <p:spPr>
          <a:xfrm>
            <a:off x="4670400" y="1141824"/>
            <a:ext cx="1370344" cy="2618132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3A9B906-978A-27DF-7D96-4DB231E9F202}"/>
              </a:ext>
            </a:extLst>
          </p:cNvPr>
          <p:cNvCxnSpPr>
            <a:cxnSpLocks/>
          </p:cNvCxnSpPr>
          <p:nvPr/>
        </p:nvCxnSpPr>
        <p:spPr>
          <a:xfrm>
            <a:off x="4310916" y="1856841"/>
            <a:ext cx="35948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56EED9-2548-FB33-3B18-E7D50212F2C8}"/>
              </a:ext>
            </a:extLst>
          </p:cNvPr>
          <p:cNvSpPr/>
          <p:nvPr/>
        </p:nvSpPr>
        <p:spPr>
          <a:xfrm>
            <a:off x="4703796" y="1779537"/>
            <a:ext cx="1302111" cy="37148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2025.12.01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Transmission Completed.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6532F-3FBA-7E8B-8A78-6CD1BC1F5FDE}"/>
              </a:ext>
            </a:extLst>
          </p:cNvPr>
          <p:cNvSpPr txBox="1"/>
          <p:nvPr/>
        </p:nvSpPr>
        <p:spPr>
          <a:xfrm>
            <a:off x="6040744" y="1779537"/>
            <a:ext cx="3251302" cy="66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/>
              <a:t>Upon tapping Log Data Transmission, display the transmission date and Transmission Completed.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EA2EE5-4105-9229-6197-16D978FE9E2A}"/>
              </a:ext>
            </a:extLst>
          </p:cNvPr>
          <p:cNvSpPr/>
          <p:nvPr/>
        </p:nvSpPr>
        <p:spPr>
          <a:xfrm>
            <a:off x="2887404" y="1173192"/>
            <a:ext cx="1355280" cy="261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553537-C9AC-CC39-0F19-6ED1D8AEEF3A}"/>
              </a:ext>
            </a:extLst>
          </p:cNvPr>
          <p:cNvSpPr/>
          <p:nvPr/>
        </p:nvSpPr>
        <p:spPr>
          <a:xfrm>
            <a:off x="4670400" y="1141823"/>
            <a:ext cx="1370344" cy="2593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2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53D5B2D-142F-6BD6-F42F-9AE608C63CCE}"/>
              </a:ext>
            </a:extLst>
          </p:cNvPr>
          <p:cNvSpPr/>
          <p:nvPr/>
        </p:nvSpPr>
        <p:spPr>
          <a:xfrm>
            <a:off x="314943" y="2447303"/>
            <a:ext cx="9200643" cy="1222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99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15410</TotalTime>
  <Words>1469</Words>
  <Application>Microsoft Office PowerPoint</Application>
  <PresentationFormat>A4 용지(210x297mm)</PresentationFormat>
  <Paragraphs>195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이종진 부서장님</dc:creator>
  <cp:lastModifiedBy>기창 이</cp:lastModifiedBy>
  <cp:revision>776</cp:revision>
  <dcterms:created xsi:type="dcterms:W3CDTF">2021-05-18T10:05:10Z</dcterms:created>
  <dcterms:modified xsi:type="dcterms:W3CDTF">2025-12-03T05:34:08Z</dcterms:modified>
</cp:coreProperties>
</file>