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79" r:id="rId4"/>
    <p:sldId id="280" r:id="rId5"/>
    <p:sldId id="272" r:id="rId6"/>
    <p:sldId id="274" r:id="rId7"/>
    <p:sldId id="262" r:id="rId8"/>
    <p:sldId id="275" r:id="rId9"/>
    <p:sldId id="278" r:id="rId10"/>
    <p:sldId id="277" r:id="rId11"/>
    <p:sldId id="271" r:id="rId12"/>
    <p:sldId id="259" r:id="rId13"/>
    <p:sldId id="276" r:id="rId14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9E0D3-EB83-4823-A7F8-E76DD9CBB93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38A2D-625D-4835-AD15-348426E840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38A2D-625D-4835-AD15-348426E840E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70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7ABD6-86B9-DA14-DDE8-3F3A6D25A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5B4FE5-F6FB-A5D2-809A-4B48F2D5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BFFE8-0809-46CB-2859-ED06EC51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26792-A6FC-A2F8-7ECD-9958D43F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E1608-172C-FD9A-1789-D69A399A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74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0EE23-0F55-A73A-D259-64A24644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05D004-9945-4ABC-A0C5-B4EBACF0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63991-17EE-322E-7EA2-0256F528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8FCBE-A5C4-2F34-08C0-EF4733C5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E91E2-A214-1B0E-2AFA-EFE03A35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41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B2525-3BF6-8ABE-1597-2AE4A45C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C9958-D103-AE34-EF67-FC2B01F00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6426D-B751-5537-B76C-228554CF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2EE3C-E6B3-C462-CBB5-C7F26F17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DC967-E54A-E1CB-04D2-86658D34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42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3A7C9-B50C-C4BC-E8D1-B292ADEF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FCD03-5FE5-7563-F032-A4FD86127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719155-C2AB-5EE2-E702-420D75B2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BABFE7-810D-2FCD-D813-FC2602EF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E07D0D-29E5-D985-1600-B583FAB7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D4D61-A2FA-C61C-D1A5-0481B90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85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110EC-58A8-92D8-2287-AF6E22FF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DF270-9112-7F04-D6AA-58DAE4EB6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F433F5-3A81-C509-AA50-23E773C9C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00D0DB-948D-0FC1-15CC-4C01EB9AB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49EE57-1CCA-85ED-8627-C377E03F4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1D4AE-4FE6-8B5D-36BB-1D683E13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C69628-D7A7-44FC-ADB9-B48940AC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AEFB4E-35B9-AE47-F06E-AE71D695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BF3D4-B794-6E34-01DC-3CA7AF34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643D8C-9950-A1EB-F159-9B005110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D3B0CD-E436-88B8-DB84-46FB6A13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E00B6-6853-3020-67D9-015BC7AD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49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81D3C5-795B-4934-FEED-C263E7D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FAF741-BC95-8E61-439F-982282D6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6F047-672A-7591-0537-32E786BF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97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39764-D990-533B-BAD9-D06948AD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C413E-CD15-9937-C331-D7D5DA438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D5E4DB-890E-E59D-C7A5-02C2F8EC8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52C13-A530-9FBC-E324-306D966E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EF5B0-DAB2-F85E-E185-37616E3E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F75E3-B8C2-3DA1-7AB7-8C39619C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000EE-BE0F-3EB0-290A-C6221189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784660-E0E4-2E72-0115-B94182663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C96135-5178-2F50-1E21-354ABF5A5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D8B96-2A82-3BDB-F72F-577FC9CF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171CB1-5F60-53F9-55F8-36B58527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3BEB32-D483-16AF-449A-433CF206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92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D1833-5C46-AB2D-4DA0-98FBA473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FFDD2C-0E86-B9ED-0356-9BE273A79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6D0EF-F464-6C52-556C-18D05DBC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D464-76F6-55C9-F01B-CF02B71D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8FC67-E981-6185-E2BE-53CA9AC2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6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3AF4CA-CF71-A4CC-6955-A46AD2FCE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8F3A8C-BC26-A465-CA58-0FE80CB1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37EDE-D889-64A2-619E-0D84A199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FA614-D181-9495-7084-8A7433DC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C9D1F-7754-4711-E178-4944238C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2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0A1B23-C206-FC02-977C-2AC5A6B9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F7C92-A806-87C2-153D-C22C233B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A5B28-8431-1C1B-3947-6967096B5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473B7-078F-4544-BB3A-A28450A2629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BE239-5908-8C07-E81D-0A2466BCD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E0245-FC68-5B17-DF43-8B923516E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1D607-A749-4879-8BBF-8F12E0B6F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66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6BE5C48-3291-65CB-D8D7-76A4A9A3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54" y="1950849"/>
            <a:ext cx="1747059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348AA3-27B8-6953-E7A5-20483D844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04" y="1950849"/>
            <a:ext cx="1747059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F9A36-A95C-B746-E1C2-33F2ADBC0C92}"/>
              </a:ext>
            </a:extLst>
          </p:cNvPr>
          <p:cNvSpPr txBox="1"/>
          <p:nvPr/>
        </p:nvSpPr>
        <p:spPr>
          <a:xfrm>
            <a:off x="5813912" y="5951039"/>
            <a:ext cx="2168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스크롤화면 이미지 맨 아래에만</a:t>
            </a:r>
            <a:endParaRPr lang="en-US" altLang="ko-KR" sz="1100" b="1" dirty="0"/>
          </a:p>
          <a:p>
            <a:r>
              <a:rPr lang="ko-KR" altLang="en-US" sz="1100" b="1" dirty="0"/>
              <a:t> </a:t>
            </a:r>
            <a:r>
              <a:rPr lang="en-US" altLang="ko-KR" sz="1100" b="1" dirty="0"/>
              <a:t>Sensor Connect </a:t>
            </a:r>
            <a:r>
              <a:rPr lang="ko-KR" altLang="en-US" sz="1100" b="1" dirty="0"/>
              <a:t>버튼 위치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35E3A0F-D11C-3D91-0F4E-1DFB199CDF6E}"/>
              </a:ext>
            </a:extLst>
          </p:cNvPr>
          <p:cNvSpPr/>
          <p:nvPr/>
        </p:nvSpPr>
        <p:spPr>
          <a:xfrm>
            <a:off x="1969541" y="3306272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DB7FF4-BEFB-F691-3C4E-B939375921B8}"/>
              </a:ext>
            </a:extLst>
          </p:cNvPr>
          <p:cNvSpPr/>
          <p:nvPr/>
        </p:nvSpPr>
        <p:spPr>
          <a:xfrm>
            <a:off x="228976" y="3251340"/>
            <a:ext cx="1703443" cy="371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D8C41B-CF68-3C14-9E27-21C517A256A7}"/>
              </a:ext>
            </a:extLst>
          </p:cNvPr>
          <p:cNvSpPr/>
          <p:nvPr/>
        </p:nvSpPr>
        <p:spPr>
          <a:xfrm>
            <a:off x="2219833" y="2742920"/>
            <a:ext cx="1661977" cy="2616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D3A27-12C5-568E-B9E4-E123B555A05E}"/>
              </a:ext>
            </a:extLst>
          </p:cNvPr>
          <p:cNvSpPr txBox="1"/>
          <p:nvPr/>
        </p:nvSpPr>
        <p:spPr>
          <a:xfrm>
            <a:off x="309710" y="280384"/>
            <a:ext cx="360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개선 완료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0DDA574B-9190-3832-9968-B6E3A4909CC1}"/>
              </a:ext>
            </a:extLst>
          </p:cNvPr>
          <p:cNvSpPr/>
          <p:nvPr/>
        </p:nvSpPr>
        <p:spPr>
          <a:xfrm>
            <a:off x="3914930" y="2742921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A0DEE8-3440-A47D-4FE8-31F580356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254" y="1950849"/>
            <a:ext cx="1747059" cy="360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4679CD6-D288-9C2B-F798-A28AEA041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438" y="1950849"/>
            <a:ext cx="1747059" cy="3600000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28BB1AE4-7FE8-F5AC-ACEA-4C8519A484C6}"/>
              </a:ext>
            </a:extLst>
          </p:cNvPr>
          <p:cNvSpPr/>
          <p:nvPr/>
        </p:nvSpPr>
        <p:spPr>
          <a:xfrm>
            <a:off x="7757497" y="3293983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1BD3C-F203-EF7C-1EB6-D26485B9A0C0}"/>
              </a:ext>
            </a:extLst>
          </p:cNvPr>
          <p:cNvSpPr txBox="1"/>
          <p:nvPr/>
        </p:nvSpPr>
        <p:spPr>
          <a:xfrm>
            <a:off x="631850" y="1225701"/>
            <a:ext cx="8556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블루투스 연결방식 </a:t>
            </a:r>
            <a:r>
              <a:rPr lang="en-US" altLang="ko-KR" sz="1200" b="1" dirty="0"/>
              <a:t>2</a:t>
            </a:r>
            <a:r>
              <a:rPr lang="ko-KR" altLang="en-US" sz="1200" b="1" dirty="0"/>
              <a:t>가지 방식으로 진행됩니다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수동접속 방식</a:t>
            </a:r>
            <a:r>
              <a:rPr lang="en-US" altLang="ko-KR" sz="1200" b="1" dirty="0"/>
              <a:t>, QR </a:t>
            </a:r>
            <a:r>
              <a:rPr lang="ko-KR" altLang="en-US" sz="1200" b="1" dirty="0"/>
              <a:t>스캔으로 자동 접속 방식입니다</a:t>
            </a:r>
            <a:r>
              <a:rPr lang="en-US" altLang="ko-KR" sz="1200" b="1" dirty="0"/>
              <a:t>. </a:t>
            </a:r>
            <a:endParaRPr lang="ko-KR" altLang="en-US" sz="1200" b="1" dirty="0"/>
          </a:p>
        </p:txBody>
      </p: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2647E6E7-AD3A-4F26-5854-E9AA780AA372}"/>
              </a:ext>
            </a:extLst>
          </p:cNvPr>
          <p:cNvSpPr/>
          <p:nvPr/>
        </p:nvSpPr>
        <p:spPr>
          <a:xfrm>
            <a:off x="4373417" y="5001376"/>
            <a:ext cx="1262028" cy="321865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E31DA1-5EE5-9028-2B05-59A4FDB7396B}"/>
              </a:ext>
            </a:extLst>
          </p:cNvPr>
          <p:cNvCxnSpPr>
            <a:cxnSpLocks/>
          </p:cNvCxnSpPr>
          <p:nvPr/>
        </p:nvCxnSpPr>
        <p:spPr>
          <a:xfrm flipV="1">
            <a:off x="6928025" y="5162308"/>
            <a:ext cx="0" cy="7887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32474B-9DD0-B991-08BD-0FB23F94C616}"/>
              </a:ext>
            </a:extLst>
          </p:cNvPr>
          <p:cNvSpPr txBox="1"/>
          <p:nvPr/>
        </p:nvSpPr>
        <p:spPr>
          <a:xfrm>
            <a:off x="2317579" y="5710853"/>
            <a:ext cx="13290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디바이스 검색 후 해당 기기 선택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F7EE090-C947-C7CF-1C23-5965DB5F6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183" y="1950849"/>
            <a:ext cx="1747059" cy="36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A5C1B4D-1C80-1353-7EAC-CD4736DF1D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5731" y="1950849"/>
            <a:ext cx="1747059" cy="3600000"/>
          </a:xfrm>
          <a:prstGeom prst="rect">
            <a:avLst/>
          </a:prstGeom>
        </p:spPr>
      </p:pic>
      <p:sp>
        <p:nvSpPr>
          <p:cNvPr id="19" name="곱하기 기호 18">
            <a:extLst>
              <a:ext uri="{FF2B5EF4-FFF2-40B4-BE49-F238E27FC236}">
                <a16:creationId xmlns:a16="http://schemas.microsoft.com/office/drawing/2014/main" id="{22B903DD-A906-8DD3-00C9-C9253701D79D}"/>
              </a:ext>
            </a:extLst>
          </p:cNvPr>
          <p:cNvSpPr/>
          <p:nvPr/>
        </p:nvSpPr>
        <p:spPr>
          <a:xfrm>
            <a:off x="10009672" y="3198400"/>
            <a:ext cx="1262028" cy="321865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51B8E9-32F5-599A-BAD4-488F8A063434}"/>
              </a:ext>
            </a:extLst>
          </p:cNvPr>
          <p:cNvSpPr txBox="1"/>
          <p:nvPr/>
        </p:nvSpPr>
        <p:spPr>
          <a:xfrm>
            <a:off x="10094620" y="3855715"/>
            <a:ext cx="11770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Continue </a:t>
            </a:r>
            <a:r>
              <a:rPr lang="ko-KR" altLang="en-US" sz="1100" b="1" dirty="0"/>
              <a:t>버튼 확인 없이 </a:t>
            </a:r>
            <a:endParaRPr lang="en-US" altLang="ko-KR" sz="1100" b="1" dirty="0"/>
          </a:p>
          <a:p>
            <a:r>
              <a:rPr lang="ko-KR" altLang="en-US" sz="1100" b="1" dirty="0" err="1"/>
              <a:t>메인화면</a:t>
            </a:r>
            <a:r>
              <a:rPr lang="ko-KR" altLang="en-US" sz="1100" b="1" dirty="0"/>
              <a:t> 전환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DEA799B-296C-0695-6471-FCD0A8EEDC97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10683160" y="3463136"/>
            <a:ext cx="0" cy="392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49380D7F-DD5B-D33F-DBCB-06F309F07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8938" y="4537276"/>
            <a:ext cx="1106952" cy="2280991"/>
          </a:xfrm>
          <a:prstGeom prst="rect">
            <a:avLst/>
          </a:prstGeom>
        </p:spPr>
      </p:pic>
      <p:sp>
        <p:nvSpPr>
          <p:cNvPr id="32" name="화살표: 위로 굽음 31">
            <a:extLst>
              <a:ext uri="{FF2B5EF4-FFF2-40B4-BE49-F238E27FC236}">
                <a16:creationId xmlns:a16="http://schemas.microsoft.com/office/drawing/2014/main" id="{8E735F84-C206-4357-DA43-9B63DDD9F924}"/>
              </a:ext>
            </a:extLst>
          </p:cNvPr>
          <p:cNvSpPr/>
          <p:nvPr/>
        </p:nvSpPr>
        <p:spPr>
          <a:xfrm rot="10800000" flipH="1">
            <a:off x="11457244" y="3567881"/>
            <a:ext cx="384413" cy="887996"/>
          </a:xfrm>
          <a:prstGeom prst="bentUpArrow">
            <a:avLst>
              <a:gd name="adj1" fmla="val 25000"/>
              <a:gd name="adj2" fmla="val 23441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D754F5-AFEC-6E06-8AD8-3B2B34E8E808}"/>
              </a:ext>
            </a:extLst>
          </p:cNvPr>
          <p:cNvSpPr txBox="1"/>
          <p:nvPr/>
        </p:nvSpPr>
        <p:spPr>
          <a:xfrm>
            <a:off x="309710" y="811451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1-1. </a:t>
            </a:r>
            <a:r>
              <a:rPr lang="ko-KR" altLang="en-US" sz="1400" b="1" dirty="0"/>
              <a:t>수동 접속 방식</a:t>
            </a:r>
          </a:p>
        </p:txBody>
      </p:sp>
    </p:spTree>
    <p:extLst>
      <p:ext uri="{BB962C8B-B14F-4D97-AF65-F5344CB8AC3E}">
        <p14:creationId xmlns:p14="http://schemas.microsoft.com/office/powerpoint/2010/main" val="85853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8125-5249-7798-F38E-32D165C0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8547A0-50C9-0C13-4503-DB96E60032C3}"/>
              </a:ext>
            </a:extLst>
          </p:cNvPr>
          <p:cNvSpPr txBox="1"/>
          <p:nvPr/>
        </p:nvSpPr>
        <p:spPr>
          <a:xfrm>
            <a:off x="309710" y="815774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QR </a:t>
            </a:r>
            <a:r>
              <a:rPr lang="ko-KR" altLang="en-US" sz="1400" b="1" dirty="0"/>
              <a:t>스캔으로 자동 접속 방식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71C7F-83E8-D2FD-0F66-88C6E5C8ABE8}"/>
              </a:ext>
            </a:extLst>
          </p:cNvPr>
          <p:cNvSpPr txBox="1"/>
          <p:nvPr/>
        </p:nvSpPr>
        <p:spPr>
          <a:xfrm>
            <a:off x="309710" y="280384"/>
            <a:ext cx="280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3BA296-9F17-3ED2-980B-75E8E1C12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995"/>
              </p:ext>
            </p:extLst>
          </p:nvPr>
        </p:nvGraphicFramePr>
        <p:xfrm>
          <a:off x="727452" y="1890645"/>
          <a:ext cx="992125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657">
                  <a:extLst>
                    <a:ext uri="{9D8B030D-6E8A-4147-A177-3AD203B41FA5}">
                      <a16:colId xmlns:a16="http://schemas.microsoft.com/office/drawing/2014/main" val="1749233051"/>
                    </a:ext>
                  </a:extLst>
                </a:gridCol>
                <a:gridCol w="1905333">
                  <a:extLst>
                    <a:ext uri="{9D8B030D-6E8A-4147-A177-3AD203B41FA5}">
                      <a16:colId xmlns:a16="http://schemas.microsoft.com/office/drawing/2014/main" val="1257551666"/>
                    </a:ext>
                  </a:extLst>
                </a:gridCol>
                <a:gridCol w="2615604">
                  <a:extLst>
                    <a:ext uri="{9D8B030D-6E8A-4147-A177-3AD203B41FA5}">
                      <a16:colId xmlns:a16="http://schemas.microsoft.com/office/drawing/2014/main" val="3018250181"/>
                    </a:ext>
                  </a:extLst>
                </a:gridCol>
                <a:gridCol w="4509663">
                  <a:extLst>
                    <a:ext uri="{9D8B030D-6E8A-4147-A177-3AD203B41FA5}">
                      <a16:colId xmlns:a16="http://schemas.microsoft.com/office/drawing/2014/main" val="2073068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96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#1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ADV</a:t>
                      </a:r>
                      <a:r>
                        <a:rPr lang="ko-KR" altLang="en-US" sz="1400" dirty="0"/>
                        <a:t>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empecsCGM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33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#2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ID+MAC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제조자 </a:t>
                      </a:r>
                      <a:r>
                        <a:rPr lang="en-US" altLang="ko-KR" sz="1400" dirty="0"/>
                        <a:t>ID: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0xFFFF</a:t>
                      </a:r>
                    </a:p>
                    <a:p>
                      <a:pPr latinLnBrk="1"/>
                      <a:r>
                        <a:rPr lang="en-US" altLang="ko-KR" sz="1400" dirty="0"/>
                        <a:t>(No Company ID)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제조자</a:t>
                      </a:r>
                      <a:r>
                        <a:rPr lang="en-US" altLang="ko-KR" sz="1400" dirty="0"/>
                        <a:t>ID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/>
                        <a:t>Reserved</a:t>
                      </a:r>
                    </a:p>
                    <a:p>
                      <a:pPr latinLnBrk="1"/>
                      <a:r>
                        <a:rPr lang="ko-KR" altLang="en-US" sz="1400" dirty="0"/>
                        <a:t>맥주소는 </a:t>
                      </a:r>
                      <a:r>
                        <a:rPr lang="en-US" altLang="ko-KR" sz="1400" dirty="0"/>
                        <a:t>6byte</a:t>
                      </a:r>
                      <a:r>
                        <a:rPr lang="ko-KR" altLang="en-US" sz="1400" dirty="0"/>
                        <a:t>로 구성됨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(04:AC:44:11:11:11)</a:t>
                      </a:r>
                    </a:p>
                    <a:p>
                      <a:pPr latinLnBrk="1"/>
                      <a:r>
                        <a:rPr lang="ko-KR" altLang="en-US" sz="1400" dirty="0"/>
                        <a:t>예제 </a:t>
                      </a:r>
                      <a:r>
                        <a:rPr lang="en-US" altLang="ko-KR" sz="1400" dirty="0"/>
                        <a:t>: 0xFFFF04AC44111111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4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#3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일련번호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0xC21ZS00101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필요시 센서 데이터 및 기타정보를 저장하는데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4181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AF2C32-21D5-D728-AC46-1399699B99DD}"/>
              </a:ext>
            </a:extLst>
          </p:cNvPr>
          <p:cNvSpPr txBox="1"/>
          <p:nvPr/>
        </p:nvSpPr>
        <p:spPr>
          <a:xfrm>
            <a:off x="618837" y="1201790"/>
            <a:ext cx="11210490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먼저</a:t>
            </a:r>
            <a:r>
              <a:rPr lang="en-US" altLang="ko-KR" sz="1200" b="1" dirty="0"/>
              <a:t>, CGM</a:t>
            </a:r>
            <a:r>
              <a:rPr lang="ko-KR" altLang="en-US" sz="1200" b="1" dirty="0"/>
              <a:t>기기와 앱 간의 연동을 위해 필요한 정보를 담은 </a:t>
            </a:r>
            <a:r>
              <a:rPr lang="en-US" altLang="ko-KR" sz="1200" b="1" dirty="0"/>
              <a:t>QR </a:t>
            </a:r>
            <a:r>
              <a:rPr lang="ko-KR" altLang="en-US" sz="1200" b="1" dirty="0"/>
              <a:t>코드정보는 아래 표와 같다</a:t>
            </a:r>
            <a:r>
              <a:rPr lang="en-US" altLang="ko-KR" sz="1200" b="1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QR</a:t>
            </a:r>
            <a:r>
              <a:rPr lang="ko-KR" altLang="en-US" sz="1200" b="1" dirty="0"/>
              <a:t>코드 내용 형식은 </a:t>
            </a:r>
            <a:r>
              <a:rPr lang="en-US" altLang="ko-KR" sz="1200" b="1" dirty="0"/>
              <a:t>#1;#2;#3 </a:t>
            </a:r>
            <a:r>
              <a:rPr lang="ko-KR" altLang="en-US" sz="1200" b="1" dirty="0"/>
              <a:t>이며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내용은 세미콜론</a:t>
            </a:r>
            <a:r>
              <a:rPr lang="en-US" altLang="ko-KR" sz="1200" b="1" dirty="0"/>
              <a:t>(;)</a:t>
            </a:r>
            <a:r>
              <a:rPr lang="ko-KR" altLang="en-US" sz="1200" b="1" dirty="0"/>
              <a:t>으로 구분됩니다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아래 표에서 각 부분을 설명합니다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CEFDC-4E93-930E-E1A2-7253C79CE4CB}"/>
              </a:ext>
            </a:extLst>
          </p:cNvPr>
          <p:cNvSpPr txBox="1"/>
          <p:nvPr/>
        </p:nvSpPr>
        <p:spPr>
          <a:xfrm>
            <a:off x="618837" y="4084704"/>
            <a:ext cx="9358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lt"/>
              </a:rPr>
              <a:t>예제</a:t>
            </a: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: </a:t>
            </a:r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+mj-lt"/>
              </a:rPr>
              <a:t>empecsCGM;0xFFFF04AC44111111;0x</a:t>
            </a:r>
            <a:r>
              <a:rPr lang="en-US" altLang="ko-KR" sz="1200" b="1" dirty="0"/>
              <a:t> C21ZS00101</a:t>
            </a:r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+mj-lt"/>
              </a:rPr>
              <a:t> (</a:t>
            </a:r>
            <a:r>
              <a:rPr lang="ko-KR" altLang="en-US" sz="1200" b="1" dirty="0">
                <a:solidFill>
                  <a:srgbClr val="000000"/>
                </a:solidFill>
                <a:latin typeface="+mj-lt"/>
              </a:rPr>
              <a:t>주의</a:t>
            </a: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+mj-lt"/>
              </a:rPr>
              <a:t>MAC</a:t>
            </a:r>
            <a:r>
              <a:rPr lang="ko-KR" altLang="en-US" sz="1200" b="1" i="0" u="none" strike="noStrike" baseline="0" dirty="0">
                <a:solidFill>
                  <a:srgbClr val="000000"/>
                </a:solidFill>
                <a:latin typeface="+mj-lt"/>
              </a:rPr>
              <a:t>주소는 반드시 실제주소여야 함</a:t>
            </a:r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+mj-lt"/>
              </a:rPr>
              <a:t>)</a:t>
            </a:r>
            <a:endParaRPr lang="ko-KR" altLang="en-US" sz="1200" b="1" dirty="0">
              <a:latin typeface="+mj-lt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50C44AB-63BA-F7BC-01F4-C9BBAEE91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14" y="4498362"/>
            <a:ext cx="1893155" cy="18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6DB7D-E852-0054-256E-79579396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A61DA3-EFAE-BD33-4944-E3A849FA179F}"/>
              </a:ext>
            </a:extLst>
          </p:cNvPr>
          <p:cNvSpPr txBox="1"/>
          <p:nvPr/>
        </p:nvSpPr>
        <p:spPr>
          <a:xfrm>
            <a:off x="309710" y="815774"/>
            <a:ext cx="2876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1-2. QR </a:t>
            </a:r>
            <a:r>
              <a:rPr lang="ko-KR" altLang="en-US" sz="1400" b="1" dirty="0"/>
              <a:t>스캔으로 자동 접속 방식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B1947-CC41-B856-65D9-37E512E443A2}"/>
              </a:ext>
            </a:extLst>
          </p:cNvPr>
          <p:cNvSpPr txBox="1"/>
          <p:nvPr/>
        </p:nvSpPr>
        <p:spPr>
          <a:xfrm>
            <a:off x="309710" y="280384"/>
            <a:ext cx="396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 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추가 확인 필요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8A34A4-0483-4164-E398-70ED82052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5" y="2022764"/>
            <a:ext cx="2244902" cy="46258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23F608-B168-2703-B846-75B6F6353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16" y="2022764"/>
            <a:ext cx="2244902" cy="46258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EC548C9-9F02-280B-C694-54CDC8CD7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077" y="2022763"/>
            <a:ext cx="2244902" cy="462585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F408DD-76F2-EB9D-6A9B-DB9815AD5ACA}"/>
              </a:ext>
            </a:extLst>
          </p:cNvPr>
          <p:cNvSpPr/>
          <p:nvPr/>
        </p:nvSpPr>
        <p:spPr>
          <a:xfrm>
            <a:off x="201954" y="4544290"/>
            <a:ext cx="2244902" cy="3417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C80FC05-17FF-B5AC-4239-54418031CD32}"/>
              </a:ext>
            </a:extLst>
          </p:cNvPr>
          <p:cNvSpPr/>
          <p:nvPr/>
        </p:nvSpPr>
        <p:spPr>
          <a:xfrm>
            <a:off x="2511088" y="4204888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EC5E544-25A2-DB14-AD36-BDE39E040C48}"/>
              </a:ext>
            </a:extLst>
          </p:cNvPr>
          <p:cNvSpPr/>
          <p:nvPr/>
        </p:nvSpPr>
        <p:spPr>
          <a:xfrm>
            <a:off x="5146649" y="4204888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BF08F-7978-FA79-7592-E7FD7D0F7789}"/>
              </a:ext>
            </a:extLst>
          </p:cNvPr>
          <p:cNvSpPr txBox="1"/>
          <p:nvPr/>
        </p:nvSpPr>
        <p:spPr>
          <a:xfrm>
            <a:off x="7892458" y="3793621"/>
            <a:ext cx="3985506" cy="82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 QR </a:t>
            </a:r>
            <a:r>
              <a:rPr lang="ko-KR" altLang="en-US" sz="1100" b="1" dirty="0"/>
              <a:t>스캔 후 </a:t>
            </a:r>
            <a:r>
              <a:rPr lang="en-US" altLang="ko-KR" sz="1100" b="1" dirty="0"/>
              <a:t>Save &amp; Sync </a:t>
            </a:r>
            <a:r>
              <a:rPr lang="ko-KR" altLang="en-US" sz="1100" b="1" dirty="0"/>
              <a:t>시 </a:t>
            </a:r>
            <a:r>
              <a:rPr lang="en-US" altLang="ko-KR" sz="1100" b="1" dirty="0"/>
              <a:t>Start the Monitor </a:t>
            </a:r>
            <a:r>
              <a:rPr lang="ko-KR" altLang="en-US" sz="1100" b="1" dirty="0"/>
              <a:t>화면에서 </a:t>
            </a:r>
            <a:r>
              <a:rPr lang="en-US" altLang="ko-KR" sz="1100" b="1" dirty="0"/>
              <a:t>BLE </a:t>
            </a:r>
            <a:r>
              <a:rPr lang="ko-KR" altLang="en-US" sz="1100" b="1" dirty="0"/>
              <a:t>자동 검색이 진행 되지만 </a:t>
            </a:r>
            <a:r>
              <a:rPr lang="ko-KR" altLang="en-US" sz="1100" b="1" dirty="0">
                <a:solidFill>
                  <a:srgbClr val="FF0000"/>
                </a:solidFill>
              </a:rPr>
              <a:t>연결은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ym typeface="Wingdings" panose="05000000000000000000" pitchFamily="2" charset="2"/>
              </a:rPr>
              <a:t>연결 실패 시 안내 </a:t>
            </a:r>
            <a:r>
              <a:rPr lang="ko-KR" altLang="en-US" sz="1100" b="1" dirty="0" err="1">
                <a:sym typeface="Wingdings" panose="05000000000000000000" pitchFamily="2" charset="2"/>
              </a:rPr>
              <a:t>모달</a:t>
            </a:r>
            <a:r>
              <a:rPr lang="ko-KR" altLang="en-US" sz="1100" b="1" dirty="0">
                <a:sym typeface="Wingdings" panose="05000000000000000000" pitchFamily="2" charset="2"/>
              </a:rPr>
              <a:t> 표시 확인 완료</a:t>
            </a:r>
            <a:endParaRPr lang="ko-KR" altLang="en-US" sz="11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EB0B8B2-10ED-CF88-933C-B35931D7C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54" y="1252855"/>
            <a:ext cx="4770533" cy="55630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223EBE-F3F0-89EA-FF38-5C8558C5811D}"/>
              </a:ext>
            </a:extLst>
          </p:cNvPr>
          <p:cNvSpPr/>
          <p:nvPr/>
        </p:nvSpPr>
        <p:spPr>
          <a:xfrm>
            <a:off x="5560317" y="3622748"/>
            <a:ext cx="2031974" cy="13464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73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5A45-F924-CC53-1E6F-1FDC8DDE2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2DAC7A-07BB-406B-BE1B-BEFD6612EA74}"/>
              </a:ext>
            </a:extLst>
          </p:cNvPr>
          <p:cNvSpPr txBox="1"/>
          <p:nvPr/>
        </p:nvSpPr>
        <p:spPr>
          <a:xfrm>
            <a:off x="309710" y="791115"/>
            <a:ext cx="2876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1-2. QR </a:t>
            </a:r>
            <a:r>
              <a:rPr lang="ko-KR" altLang="en-US" sz="1200" b="1" dirty="0"/>
              <a:t>스캔으로 자동 접속 방식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5C60B-0CCA-43C1-6E13-70FD2FC213C5}"/>
              </a:ext>
            </a:extLst>
          </p:cNvPr>
          <p:cNvSpPr txBox="1"/>
          <p:nvPr/>
        </p:nvSpPr>
        <p:spPr>
          <a:xfrm>
            <a:off x="309710" y="280384"/>
            <a:ext cx="646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추가 확인 필요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슬라이드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번 참조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D8E074-B7A7-50C1-B809-17DBD80C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82" y="1855846"/>
            <a:ext cx="1747059" cy="36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F3841F-DFBD-8158-9995-CEA781651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396" y="1855846"/>
            <a:ext cx="1747059" cy="3600000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A5EEE04-2AC2-3F38-6908-CD5CD2E6073C}"/>
              </a:ext>
            </a:extLst>
          </p:cNvPr>
          <p:cNvSpPr/>
          <p:nvPr/>
        </p:nvSpPr>
        <p:spPr>
          <a:xfrm>
            <a:off x="2712450" y="320467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E1B18C-CCF1-0C33-B800-C8D93EE88150}"/>
              </a:ext>
            </a:extLst>
          </p:cNvPr>
          <p:cNvSpPr/>
          <p:nvPr/>
        </p:nvSpPr>
        <p:spPr>
          <a:xfrm>
            <a:off x="854617" y="3154831"/>
            <a:ext cx="1703443" cy="371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24B886-E5A7-D06B-C733-2FF71CBCE8B3}"/>
              </a:ext>
            </a:extLst>
          </p:cNvPr>
          <p:cNvSpPr/>
          <p:nvPr/>
        </p:nvSpPr>
        <p:spPr>
          <a:xfrm>
            <a:off x="3145478" y="3467225"/>
            <a:ext cx="1661977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798A5564-B98B-FD61-190B-404351B61F4E}"/>
              </a:ext>
            </a:extLst>
          </p:cNvPr>
          <p:cNvSpPr/>
          <p:nvPr/>
        </p:nvSpPr>
        <p:spPr>
          <a:xfrm>
            <a:off x="4892537" y="346628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632521C-B0CF-A3F0-D2FB-1595CE516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833" y="1621384"/>
            <a:ext cx="2457371" cy="452426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8779AAC9-47C7-450E-2680-D85F85912A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360" y="660939"/>
            <a:ext cx="1009472" cy="5241636"/>
          </a:xfrm>
          <a:prstGeom prst="rect">
            <a:avLst/>
          </a:prstGeom>
        </p:spPr>
      </p:pic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A5F74FE9-4BD4-AB11-5C9C-20720C1E5FB1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>
            <a:off x="7555368" y="2741935"/>
            <a:ext cx="2287993" cy="5398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5726B10-814E-4CCA-79E2-8348B9E37520}"/>
              </a:ext>
            </a:extLst>
          </p:cNvPr>
          <p:cNvSpPr txBox="1"/>
          <p:nvPr/>
        </p:nvSpPr>
        <p:spPr>
          <a:xfrm>
            <a:off x="7726203" y="2469098"/>
            <a:ext cx="1754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스크롤 다운 이미지 삽입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233608-FACA-93BB-C7EF-5C563CA61A8C}"/>
              </a:ext>
            </a:extLst>
          </p:cNvPr>
          <p:cNvSpPr txBox="1"/>
          <p:nvPr/>
        </p:nvSpPr>
        <p:spPr>
          <a:xfrm>
            <a:off x="8566797" y="3851259"/>
            <a:ext cx="8257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QR </a:t>
            </a:r>
            <a:r>
              <a:rPr lang="ko-KR" altLang="en-US" sz="1100" b="1" dirty="0"/>
              <a:t>스캔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A6045D9-AF96-F9F2-ABAE-AFEDFE710D66}"/>
              </a:ext>
            </a:extLst>
          </p:cNvPr>
          <p:cNvSpPr/>
          <p:nvPr/>
        </p:nvSpPr>
        <p:spPr>
          <a:xfrm>
            <a:off x="5292222" y="3752713"/>
            <a:ext cx="2373376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7195905D-C145-D715-F673-5C02EB1AE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738" y="4420639"/>
            <a:ext cx="1159986" cy="2111076"/>
          </a:xfrm>
          <a:prstGeom prst="rect">
            <a:avLst/>
          </a:prstGeom>
        </p:spPr>
      </p:pic>
      <p:sp>
        <p:nvSpPr>
          <p:cNvPr id="12" name="화살표: 위로 굽음 11">
            <a:extLst>
              <a:ext uri="{FF2B5EF4-FFF2-40B4-BE49-F238E27FC236}">
                <a16:creationId xmlns:a16="http://schemas.microsoft.com/office/drawing/2014/main" id="{5A219315-C142-5A1D-285B-DC5BF5C3FB31}"/>
              </a:ext>
            </a:extLst>
          </p:cNvPr>
          <p:cNvSpPr/>
          <p:nvPr/>
        </p:nvSpPr>
        <p:spPr>
          <a:xfrm rot="10800000" flipH="1">
            <a:off x="7791676" y="3782428"/>
            <a:ext cx="825747" cy="539826"/>
          </a:xfrm>
          <a:prstGeom prst="bentUpArrow">
            <a:avLst>
              <a:gd name="adj1" fmla="val 25000"/>
              <a:gd name="adj2" fmla="val 23441"/>
              <a:gd name="adj3" fmla="val 3196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7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7DEC-2068-8F1A-82D5-2F93B425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1CF346-2CA5-F86F-0D4C-23C9E6B3983C}"/>
              </a:ext>
            </a:extLst>
          </p:cNvPr>
          <p:cNvSpPr txBox="1"/>
          <p:nvPr/>
        </p:nvSpPr>
        <p:spPr>
          <a:xfrm>
            <a:off x="309710" y="791115"/>
            <a:ext cx="6183454" cy="77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b="1" dirty="0"/>
              <a:t>1-2. QR </a:t>
            </a:r>
            <a:r>
              <a:rPr lang="ko-KR" altLang="en-US" sz="1200" b="1" dirty="0"/>
              <a:t>스캔으로 자동 접속 방식</a:t>
            </a:r>
            <a:endParaRPr lang="en-US" altLang="ko-KR" sz="120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QR </a:t>
            </a:r>
            <a:r>
              <a:rPr lang="ko-KR" altLang="en-US" sz="1200" b="1" dirty="0"/>
              <a:t>스캔 후 </a:t>
            </a:r>
            <a:r>
              <a:rPr lang="en-US" altLang="ko-KR" sz="1200" b="1" dirty="0"/>
              <a:t>[Save &amp; Sync] </a:t>
            </a:r>
            <a:r>
              <a:rPr lang="ko-KR" altLang="en-US" sz="1200" b="1" dirty="0"/>
              <a:t>버튼 터치 시 </a:t>
            </a:r>
            <a:r>
              <a:rPr lang="en-US" altLang="ko-KR" sz="1200" b="1" dirty="0"/>
              <a:t>BT </a:t>
            </a:r>
            <a:r>
              <a:rPr lang="ko-KR" altLang="en-US" sz="1200" b="1" dirty="0"/>
              <a:t>연결이 아닌 </a:t>
            </a:r>
            <a:r>
              <a:rPr lang="en-US" altLang="ko-KR" sz="1200" b="1" dirty="0"/>
              <a:t>Sensor </a:t>
            </a:r>
            <a:r>
              <a:rPr lang="ko-KR" altLang="en-US" sz="1200" b="1" dirty="0"/>
              <a:t>화면으로 </a:t>
            </a:r>
            <a:r>
              <a:rPr lang="ko-KR" altLang="en-US" sz="1200" b="1" dirty="0" err="1"/>
              <a:t>돌아감</a:t>
            </a:r>
            <a:endParaRPr lang="ko-KR" alt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1DBC0-838B-C013-9BFF-72F580B29990}"/>
              </a:ext>
            </a:extLst>
          </p:cNvPr>
          <p:cNvSpPr txBox="1"/>
          <p:nvPr/>
        </p:nvSpPr>
        <p:spPr>
          <a:xfrm>
            <a:off x="309710" y="280384"/>
            <a:ext cx="405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추가 확인 필요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D81610-1A50-8B3A-56FA-189186A3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25" y="2318327"/>
            <a:ext cx="1612584" cy="33229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FA94EE-DB1E-C10F-3F21-CE819C916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041" y="2318324"/>
            <a:ext cx="1612585" cy="33229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BA36F4-CD39-F193-8332-D8041560A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156" y="2318324"/>
            <a:ext cx="1612585" cy="33229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90B9F94-7BB3-C6E2-B1A5-827ACB649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2" y="2318324"/>
            <a:ext cx="1612585" cy="33229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9A026A1-0DAF-F7D6-6755-280CC9D9F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6639" y="2318323"/>
            <a:ext cx="1612585" cy="332290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B60CC4C-F3C0-BD5C-1383-8E2B7DF584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2105" y="2318322"/>
            <a:ext cx="1612586" cy="3322904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524FCCAD-6724-C4D6-8591-9A9588187647}"/>
              </a:ext>
            </a:extLst>
          </p:cNvPr>
          <p:cNvSpPr/>
          <p:nvPr/>
        </p:nvSpPr>
        <p:spPr>
          <a:xfrm>
            <a:off x="2138040" y="384896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EB865305-4166-5C03-5CA4-F575C6C43503}"/>
              </a:ext>
            </a:extLst>
          </p:cNvPr>
          <p:cNvSpPr/>
          <p:nvPr/>
        </p:nvSpPr>
        <p:spPr>
          <a:xfrm>
            <a:off x="5794182" y="384896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E7B5E341-4D62-5C4A-E883-B8D9EAE49E78}"/>
              </a:ext>
            </a:extLst>
          </p:cNvPr>
          <p:cNvSpPr/>
          <p:nvPr/>
        </p:nvSpPr>
        <p:spPr>
          <a:xfrm>
            <a:off x="7814442" y="384896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13DA8B99-C6F9-CFC4-712F-679DD9EDD178}"/>
              </a:ext>
            </a:extLst>
          </p:cNvPr>
          <p:cNvSpPr/>
          <p:nvPr/>
        </p:nvSpPr>
        <p:spPr>
          <a:xfrm>
            <a:off x="9714566" y="3848969"/>
            <a:ext cx="262197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2BB0A9-C612-9CFF-28DC-AABAE586B96B}"/>
              </a:ext>
            </a:extLst>
          </p:cNvPr>
          <p:cNvSpPr/>
          <p:nvPr/>
        </p:nvSpPr>
        <p:spPr>
          <a:xfrm>
            <a:off x="413632" y="3298195"/>
            <a:ext cx="1661977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686A7D3-C17A-BA58-4BF8-A432219BE5D0}"/>
              </a:ext>
            </a:extLst>
          </p:cNvPr>
          <p:cNvSpPr/>
          <p:nvPr/>
        </p:nvSpPr>
        <p:spPr>
          <a:xfrm>
            <a:off x="4177685" y="5148243"/>
            <a:ext cx="1661977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CF3747C-7437-BFDE-CB01-3F9F9FEF3C58}"/>
              </a:ext>
            </a:extLst>
          </p:cNvPr>
          <p:cNvSpPr/>
          <p:nvPr/>
        </p:nvSpPr>
        <p:spPr>
          <a:xfrm>
            <a:off x="8027247" y="5148243"/>
            <a:ext cx="1661977" cy="261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51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485-E596-E5DB-D4D7-881B7BD1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8C5CBD-9712-0382-1192-6DC57081AAB6}"/>
              </a:ext>
            </a:extLst>
          </p:cNvPr>
          <p:cNvSpPr txBox="1"/>
          <p:nvPr/>
        </p:nvSpPr>
        <p:spPr>
          <a:xfrm>
            <a:off x="309710" y="280384"/>
            <a:ext cx="607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블루투스 연결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추가 확인 필요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슬라이드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번 참조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9D31E73-4C73-B833-F854-AF515A84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0" y="1737529"/>
            <a:ext cx="1769788" cy="3220866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B50DF810-D22A-E191-9836-52DAC558F52A}"/>
              </a:ext>
            </a:extLst>
          </p:cNvPr>
          <p:cNvSpPr/>
          <p:nvPr/>
        </p:nvSpPr>
        <p:spPr>
          <a:xfrm>
            <a:off x="1776335" y="3846185"/>
            <a:ext cx="867561" cy="34174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86341-EF95-210B-D32A-95C3EE49D791}"/>
              </a:ext>
            </a:extLst>
          </p:cNvPr>
          <p:cNvSpPr txBox="1"/>
          <p:nvPr/>
        </p:nvSpPr>
        <p:spPr>
          <a:xfrm>
            <a:off x="309710" y="5114243"/>
            <a:ext cx="229435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u="sng" dirty="0">
                <a:solidFill>
                  <a:srgbClr val="000000"/>
                </a:solidFill>
                <a:latin typeface="+mj-lt"/>
              </a:rPr>
              <a:t>Register Device </a:t>
            </a:r>
            <a:r>
              <a:rPr lang="ko-KR" altLang="en-US" sz="1100" b="1" u="sng" dirty="0">
                <a:solidFill>
                  <a:srgbClr val="000000"/>
                </a:solidFill>
                <a:latin typeface="+mj-lt"/>
              </a:rPr>
              <a:t>클릭의 기능 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SC_04_01-Serial Number</a:t>
            </a:r>
            <a:r>
              <a:rPr lang="ko-KR" altLang="en-US" sz="1100" b="1" dirty="0">
                <a:solidFill>
                  <a:srgbClr val="000000"/>
                </a:solidFill>
                <a:latin typeface="+mj-lt"/>
              </a:rPr>
              <a:t>에 있는 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SAVE &amp; SYNC </a:t>
            </a:r>
            <a:r>
              <a:rPr lang="ko-KR" altLang="en-US" sz="1100" b="1" dirty="0">
                <a:solidFill>
                  <a:srgbClr val="000000"/>
                </a:solidFill>
                <a:latin typeface="+mj-lt"/>
              </a:rPr>
              <a:t>저장기능과 동일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ko-KR" altLang="en-US" sz="1100" b="1" dirty="0">
                <a:solidFill>
                  <a:srgbClr val="000000"/>
                </a:solidFill>
                <a:latin typeface="+mj-lt"/>
              </a:rPr>
              <a:t>최초 시리얼번호 데이터 베이스저장</a:t>
            </a:r>
            <a:r>
              <a:rPr lang="en-US" altLang="ko-KR" sz="1100" b="1" dirty="0">
                <a:solidFill>
                  <a:srgbClr val="000000"/>
                </a:solidFill>
                <a:latin typeface="+mj-lt"/>
              </a:rPr>
              <a:t>)</a:t>
            </a:r>
            <a:endParaRPr lang="ko-KR" altLang="en-US" sz="1100" b="1" dirty="0">
              <a:latin typeface="+mj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E37CECE-0E1E-0E73-D9BA-2E52C8F3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47" y="4588449"/>
            <a:ext cx="1248002" cy="1872002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C6BEA78-D1B4-20BB-D7FA-F7FC8A522A2C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2516845" y="4137883"/>
            <a:ext cx="595810" cy="191507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423C05F-CE51-C061-214F-A8DB2CDCF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144" y="1959365"/>
            <a:ext cx="1827191" cy="23373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1AB8AB0-9C03-291F-E197-FEBC8569B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965" y="1959365"/>
            <a:ext cx="1747059" cy="360000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091079B-E58F-6652-B5CD-43A1C258A7AF}"/>
              </a:ext>
            </a:extLst>
          </p:cNvPr>
          <p:cNvSpPr/>
          <p:nvPr/>
        </p:nvSpPr>
        <p:spPr>
          <a:xfrm>
            <a:off x="2734740" y="3886253"/>
            <a:ext cx="976615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273C374-3271-F349-A568-6853C2C224EA}"/>
              </a:ext>
            </a:extLst>
          </p:cNvPr>
          <p:cNvSpPr/>
          <p:nvPr/>
        </p:nvSpPr>
        <p:spPr>
          <a:xfrm>
            <a:off x="5810486" y="2997253"/>
            <a:ext cx="188099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7FA567-9F26-4702-34D9-B50F6605AE4D}"/>
              </a:ext>
            </a:extLst>
          </p:cNvPr>
          <p:cNvSpPr txBox="1"/>
          <p:nvPr/>
        </p:nvSpPr>
        <p:spPr>
          <a:xfrm>
            <a:off x="3978503" y="4819471"/>
            <a:ext cx="19449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디바이스가 블루투스를 통해 휴대폰에 연결을 시작합니다</a:t>
            </a:r>
            <a:r>
              <a:rPr lang="en-US" altLang="ko-KR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연결 시 신호음이나 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진동이 느껴지게 </a:t>
            </a:r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동작되며</a:t>
            </a:r>
            <a:r>
              <a:rPr lang="en-US" altLang="ko-KR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연결이 완료되면 워밍업 페이지로 자동 이동합니다</a:t>
            </a:r>
            <a:r>
              <a:rPr lang="en-US" altLang="ko-KR" sz="11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1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54F99A8-D811-886A-4AAA-A2A0394A3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782" y="1959365"/>
            <a:ext cx="1752600" cy="360045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DF20619-4B8A-5F33-6E96-BBD5374CA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275" y="1959365"/>
            <a:ext cx="1747059" cy="3600000"/>
          </a:xfrm>
          <a:prstGeom prst="rect">
            <a:avLst/>
          </a:prstGeom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C73E5458-5510-0223-F89C-709EC57432D2}"/>
              </a:ext>
            </a:extLst>
          </p:cNvPr>
          <p:cNvSpPr/>
          <p:nvPr/>
        </p:nvSpPr>
        <p:spPr>
          <a:xfrm>
            <a:off x="7807024" y="2997252"/>
            <a:ext cx="188099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501647A2-30E7-7BF0-6115-366EBAFFCEAF}"/>
              </a:ext>
            </a:extLst>
          </p:cNvPr>
          <p:cNvSpPr/>
          <p:nvPr/>
        </p:nvSpPr>
        <p:spPr>
          <a:xfrm>
            <a:off x="9904279" y="2997252"/>
            <a:ext cx="188099" cy="26161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58CAD-7F78-0C2F-C84B-22B967DA38AE}"/>
              </a:ext>
            </a:extLst>
          </p:cNvPr>
          <p:cNvSpPr txBox="1"/>
          <p:nvPr/>
        </p:nvSpPr>
        <p:spPr>
          <a:xfrm>
            <a:off x="3940708" y="4457644"/>
            <a:ext cx="2168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>
                <a:solidFill>
                  <a:srgbClr val="FF0000"/>
                </a:solidFill>
              </a:rPr>
              <a:t>Bluetooth Activation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2C58F-DE94-E71F-7142-474CD0CB27DB}"/>
              </a:ext>
            </a:extLst>
          </p:cNvPr>
          <p:cNvSpPr txBox="1"/>
          <p:nvPr/>
        </p:nvSpPr>
        <p:spPr>
          <a:xfrm>
            <a:off x="309710" y="791115"/>
            <a:ext cx="4527761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1-2. QR </a:t>
            </a:r>
            <a:r>
              <a:rPr lang="ko-KR" altLang="en-US" sz="1200" b="1" dirty="0"/>
              <a:t>스캔으로 자동 접속 방식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97039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226F-1F2B-5CF3-E924-B8824F71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26C84D-D061-CCF8-6C37-1A9E85B30AC1}"/>
              </a:ext>
            </a:extLst>
          </p:cNvPr>
          <p:cNvSpPr txBox="1"/>
          <p:nvPr/>
        </p:nvSpPr>
        <p:spPr>
          <a:xfrm>
            <a:off x="309710" y="280384"/>
            <a:ext cx="160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Sensor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CD3A64-D452-B2B0-A2D8-F7ECB4D5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10" y="2553446"/>
            <a:ext cx="1747059" cy="36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F69D0C-C5EF-2D59-4009-2E53955A5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10" y="2553446"/>
            <a:ext cx="1747059" cy="360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1D7C1F8-1CBD-D101-0101-162E2B73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811" y="2553446"/>
            <a:ext cx="1747059" cy="360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F83F75-1398-C283-A280-1D462E4D4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343" y="2553446"/>
            <a:ext cx="1747059" cy="360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9111DD-C90A-2CB1-1CC1-56FC24A14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875" y="2553446"/>
            <a:ext cx="1747059" cy="360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A639DA-7AA7-5A1C-FC18-A4FABA16AC46}"/>
              </a:ext>
            </a:extLst>
          </p:cNvPr>
          <p:cNvSpPr/>
          <p:nvPr/>
        </p:nvSpPr>
        <p:spPr>
          <a:xfrm>
            <a:off x="424010" y="4210602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3E622DC-5572-4A29-FF08-5768DE35800C}"/>
              </a:ext>
            </a:extLst>
          </p:cNvPr>
          <p:cNvSpPr/>
          <p:nvPr/>
        </p:nvSpPr>
        <p:spPr>
          <a:xfrm>
            <a:off x="4880812" y="4543978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0A9634-44CA-82DC-0946-0A3A8F20D5CA}"/>
              </a:ext>
            </a:extLst>
          </p:cNvPr>
          <p:cNvSpPr/>
          <p:nvPr/>
        </p:nvSpPr>
        <p:spPr>
          <a:xfrm>
            <a:off x="7159343" y="4437713"/>
            <a:ext cx="1747058" cy="33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1540BC7-3EF4-41BE-89AF-FC068DEE00F5}"/>
              </a:ext>
            </a:extLst>
          </p:cNvPr>
          <p:cNvSpPr/>
          <p:nvPr/>
        </p:nvSpPr>
        <p:spPr>
          <a:xfrm>
            <a:off x="9388113" y="2929929"/>
            <a:ext cx="1747058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7B1658-CC2B-2F44-E9BB-2B1732F9ADCD}"/>
              </a:ext>
            </a:extLst>
          </p:cNvPr>
          <p:cNvSpPr txBox="1"/>
          <p:nvPr/>
        </p:nvSpPr>
        <p:spPr>
          <a:xfrm>
            <a:off x="350090" y="1085737"/>
            <a:ext cx="11491819" cy="114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/>
              <a:t>현재 방식은 </a:t>
            </a:r>
            <a:r>
              <a:rPr lang="en-US" altLang="ko-KR" sz="1200" b="1" dirty="0"/>
              <a:t>Serial Number </a:t>
            </a:r>
            <a:r>
              <a:rPr lang="en-US" altLang="ko-KR" sz="1200" b="1" dirty="0">
                <a:sym typeface="Wingdings" panose="05000000000000000000" pitchFamily="2" charset="2"/>
              </a:rPr>
              <a:t> QR</a:t>
            </a:r>
            <a:r>
              <a:rPr lang="ko-KR" altLang="en-US" sz="1200" b="1" dirty="0">
                <a:sym typeface="Wingdings" panose="05000000000000000000" pitchFamily="2" charset="2"/>
              </a:rPr>
              <a:t> 스캔 후 </a:t>
            </a:r>
            <a:r>
              <a:rPr lang="en-US" altLang="ko-KR" sz="1200" b="1" dirty="0">
                <a:sym typeface="Wingdings" panose="05000000000000000000" pitchFamily="2" charset="2"/>
              </a:rPr>
              <a:t>SAVE &amp; SYNC  Start Time  [SAVE] </a:t>
            </a:r>
            <a:r>
              <a:rPr lang="ko-KR" altLang="en-US" sz="1200" b="1" dirty="0">
                <a:sym typeface="Wingdings" panose="05000000000000000000" pitchFamily="2" charset="2"/>
              </a:rPr>
              <a:t>클릭</a:t>
            </a:r>
            <a:r>
              <a:rPr lang="en-US" altLang="ko-KR" sz="1200" b="1" dirty="0">
                <a:sym typeface="Wingdings" panose="05000000000000000000" pitchFamily="2" charset="2"/>
              </a:rPr>
              <a:t>  Start Time</a:t>
            </a:r>
            <a:r>
              <a:rPr lang="ko-KR" altLang="en-US" sz="1200" b="1" dirty="0">
                <a:sym typeface="Wingdings" panose="05000000000000000000" pitchFamily="2" charset="2"/>
              </a:rPr>
              <a:t> 연동이 되고 있습니다</a:t>
            </a:r>
            <a:r>
              <a:rPr lang="en-US" altLang="ko-KR" sz="1200" b="1" dirty="0">
                <a:sym typeface="Wingdings" panose="05000000000000000000" pitchFamily="2" charset="2"/>
              </a:rPr>
              <a:t>. </a:t>
            </a:r>
            <a:r>
              <a:rPr lang="en-US" altLang="ko-KR" b="1" dirty="0">
                <a:sym typeface="Wingdings" panose="05000000000000000000" pitchFamily="2" charset="2"/>
              </a:rPr>
              <a:t>(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X </a:t>
            </a:r>
            <a:r>
              <a:rPr lang="en-US" altLang="ko-KR" b="1" dirty="0">
                <a:sym typeface="Wingdings" panose="05000000000000000000" pitchFamily="2" charset="2"/>
              </a:rPr>
              <a:t>) </a:t>
            </a:r>
            <a:r>
              <a:rPr lang="en-US" altLang="ko-KR" sz="1200" b="1" dirty="0">
                <a:sym typeface="Wingdings" panose="05000000000000000000" pitchFamily="2" charset="2"/>
              </a:rPr>
              <a:t>– </a:t>
            </a:r>
            <a:r>
              <a:rPr lang="ko-KR" altLang="en-US" sz="1200" b="1" dirty="0">
                <a:sym typeface="Wingdings" panose="05000000000000000000" pitchFamily="2" charset="2"/>
              </a:rPr>
              <a:t>아래 이미지  순서 참고</a:t>
            </a:r>
            <a:endParaRPr lang="en-US" altLang="ko-KR" sz="12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/>
              <a:t>그러나</a:t>
            </a:r>
            <a:r>
              <a:rPr lang="en-US" altLang="ko-KR" sz="1200" b="1" dirty="0"/>
              <a:t>, </a:t>
            </a:r>
            <a:r>
              <a:rPr lang="en-US" altLang="ko-KR" sz="1200" b="1" dirty="0">
                <a:sym typeface="Wingdings" panose="05000000000000000000" pitchFamily="2" charset="2"/>
              </a:rPr>
              <a:t>Start</a:t>
            </a:r>
            <a:r>
              <a:rPr lang="ko-KR" altLang="en-US" sz="1200" b="1" dirty="0">
                <a:sym typeface="Wingdings" panose="05000000000000000000" pitchFamily="2" charset="2"/>
              </a:rPr>
              <a:t> </a:t>
            </a:r>
            <a:r>
              <a:rPr lang="en-US" altLang="ko-KR" sz="1200" b="1" dirty="0">
                <a:sym typeface="Wingdings" panose="05000000000000000000" pitchFamily="2" charset="2"/>
              </a:rPr>
              <a:t>Time</a:t>
            </a:r>
            <a:r>
              <a:rPr lang="ko-KR" altLang="en-US" sz="1200" b="1" dirty="0">
                <a:sym typeface="Wingdings" panose="05000000000000000000" pitchFamily="2" charset="2"/>
              </a:rPr>
              <a:t>을 소비자가 저장하지 않고 </a:t>
            </a:r>
            <a:r>
              <a:rPr lang="en-US" altLang="ko-KR" sz="1200" b="1" dirty="0"/>
              <a:t>Sensor </a:t>
            </a:r>
            <a:r>
              <a:rPr lang="ko-KR" altLang="en-US" sz="1200" b="1" dirty="0"/>
              <a:t>연결 후 </a:t>
            </a:r>
            <a:r>
              <a:rPr lang="en-US" altLang="ko-KR" sz="1200" b="1" dirty="0"/>
              <a:t>BT</a:t>
            </a:r>
            <a:r>
              <a:rPr lang="ko-KR" altLang="en-US" sz="1200" b="1" dirty="0"/>
              <a:t>가 연결된 시간으로 자동으로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동기화 되도록 합니다</a:t>
            </a:r>
            <a:r>
              <a:rPr lang="en-US" altLang="ko-KR" sz="1200" b="1" dirty="0"/>
              <a:t>.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b="1" dirty="0"/>
              <a:t>)</a:t>
            </a:r>
            <a:endParaRPr lang="en-US" altLang="ko-KR" sz="1100" b="1" dirty="0"/>
          </a:p>
          <a:p>
            <a:pPr lvl="1">
              <a:lnSpc>
                <a:spcPct val="150000"/>
              </a:lnSpc>
            </a:pPr>
            <a:endParaRPr lang="en-US" altLang="ko-KR" sz="1100" b="1" dirty="0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77C2C519-B5C0-513E-4C10-25B5C35136AE}"/>
              </a:ext>
            </a:extLst>
          </p:cNvPr>
          <p:cNvSpPr/>
          <p:nvPr/>
        </p:nvSpPr>
        <p:spPr>
          <a:xfrm>
            <a:off x="2241573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1207755E-23BE-6599-FD40-967B169EA9CF}"/>
              </a:ext>
            </a:extLst>
          </p:cNvPr>
          <p:cNvSpPr/>
          <p:nvPr/>
        </p:nvSpPr>
        <p:spPr>
          <a:xfrm>
            <a:off x="4399469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F1A08D82-5905-9052-8435-91919FB72FA5}"/>
              </a:ext>
            </a:extLst>
          </p:cNvPr>
          <p:cNvSpPr/>
          <p:nvPr/>
        </p:nvSpPr>
        <p:spPr>
          <a:xfrm>
            <a:off x="6698745" y="4283826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65B3CCD-DB49-63AC-3E44-79EFA461375C}"/>
              </a:ext>
            </a:extLst>
          </p:cNvPr>
          <p:cNvSpPr/>
          <p:nvPr/>
        </p:nvSpPr>
        <p:spPr>
          <a:xfrm>
            <a:off x="9069734" y="4283825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FC794-C372-F292-4A26-EE6465BFA448}"/>
              </a:ext>
            </a:extLst>
          </p:cNvPr>
          <p:cNvSpPr txBox="1"/>
          <p:nvPr/>
        </p:nvSpPr>
        <p:spPr>
          <a:xfrm>
            <a:off x="309710" y="711852"/>
            <a:ext cx="3888664" cy="375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2-1. Start Time </a:t>
            </a:r>
            <a:r>
              <a:rPr lang="ko-KR" altLang="en-US" sz="1400" b="1" dirty="0"/>
              <a:t>동기화 관련 </a:t>
            </a:r>
            <a:r>
              <a:rPr lang="en-US" altLang="ko-KR" sz="1400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olidFill>
                  <a:srgbClr val="0070C0"/>
                </a:solidFill>
                <a:sym typeface="Wingdings" panose="05000000000000000000" pitchFamily="2" charset="2"/>
              </a:rPr>
              <a:t>개선 완료</a:t>
            </a:r>
            <a:endParaRPr lang="en-US" altLang="ko-KR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31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39FD-4F97-2DA6-8D91-2437F11A0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06EAD1-0CBA-F0E8-FEA1-CFD01B8EE8D3}"/>
              </a:ext>
            </a:extLst>
          </p:cNvPr>
          <p:cNvSpPr txBox="1"/>
          <p:nvPr/>
        </p:nvSpPr>
        <p:spPr>
          <a:xfrm>
            <a:off x="4622898" y="3297798"/>
            <a:ext cx="4815742" cy="567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회원 가입 및 로그인 시 </a:t>
            </a:r>
            <a:r>
              <a:rPr lang="en-US" altLang="ko-KR" sz="1100" b="1" dirty="0"/>
              <a:t>Network error</a:t>
            </a:r>
            <a:r>
              <a:rPr lang="ko-KR" altLang="en-US" sz="1100" b="1" dirty="0"/>
              <a:t>로 인하여 해당 부분 확인 불가</a:t>
            </a:r>
            <a:r>
              <a:rPr lang="en-US" altLang="ko-KR" sz="1100" b="1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100" b="1" dirty="0">
                <a:sym typeface="Wingdings" panose="05000000000000000000" pitchFamily="2" charset="2"/>
              </a:rPr>
              <a:t> Network error</a:t>
            </a:r>
            <a:r>
              <a:rPr lang="ko-KR" altLang="en-US" sz="1100" b="1" dirty="0">
                <a:sym typeface="Wingdings" panose="05000000000000000000" pitchFamily="2" charset="2"/>
              </a:rPr>
              <a:t>로 로그인 불가 </a:t>
            </a:r>
            <a:endParaRPr lang="en-US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E5E0B-3670-2A53-F8ED-51D0551AF058}"/>
              </a:ext>
            </a:extLst>
          </p:cNvPr>
          <p:cNvSpPr txBox="1"/>
          <p:nvPr/>
        </p:nvSpPr>
        <p:spPr>
          <a:xfrm>
            <a:off x="259325" y="285727"/>
            <a:ext cx="3079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1391C34-E9EA-DA18-9DCB-8FBD4012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76" y="655059"/>
            <a:ext cx="2963622" cy="61068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333AD73-C7AC-22D9-66D3-E53470FCC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416" y="2285514"/>
            <a:ext cx="6873836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0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D6F1-02C0-F98E-9C80-F5FCB2AE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95A0F2-247A-2978-6D0E-9C8E51F45AE6}"/>
              </a:ext>
            </a:extLst>
          </p:cNvPr>
          <p:cNvSpPr txBox="1"/>
          <p:nvPr/>
        </p:nvSpPr>
        <p:spPr>
          <a:xfrm>
            <a:off x="6481354" y="3268305"/>
            <a:ext cx="4120039" cy="567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Glucose Report(RP_01_01) </a:t>
            </a:r>
            <a:r>
              <a:rPr lang="ko-KR" altLang="en-US" sz="1100" b="1" dirty="0"/>
              <a:t>상의 </a:t>
            </a:r>
            <a:r>
              <a:rPr lang="en-US" altLang="ko-KR" sz="1100" b="1" dirty="0"/>
              <a:t>[Share] </a:t>
            </a:r>
            <a:r>
              <a:rPr lang="ko-KR" altLang="en-US" sz="1100" b="1" dirty="0"/>
              <a:t>버튼을 터치 하면 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en-US" altLang="ko-KR" sz="1100" b="1" dirty="0"/>
              <a:t>   SC_07_01 Data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Share</a:t>
            </a:r>
            <a:r>
              <a:rPr lang="ko-KR" altLang="en-US" sz="1100" b="1" dirty="0"/>
              <a:t>의 화면으로 이동</a:t>
            </a:r>
            <a:endParaRPr lang="en-US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71677-E042-0CCA-F3DB-D17698407994}"/>
              </a:ext>
            </a:extLst>
          </p:cNvPr>
          <p:cNvSpPr txBox="1"/>
          <p:nvPr/>
        </p:nvSpPr>
        <p:spPr>
          <a:xfrm>
            <a:off x="259325" y="285727"/>
            <a:ext cx="323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개선 완료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2319E3-9DA8-C92C-838C-42B4616A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2" y="951344"/>
            <a:ext cx="2799590" cy="57688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7638DC1-EB61-1AC4-1E17-EE447BA282D3}"/>
              </a:ext>
            </a:extLst>
          </p:cNvPr>
          <p:cNvSpPr/>
          <p:nvPr/>
        </p:nvSpPr>
        <p:spPr>
          <a:xfrm>
            <a:off x="332509" y="2796306"/>
            <a:ext cx="1256146" cy="3810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2027AD-1DAA-A8DF-174A-DFFF56E3B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98" y="951343"/>
            <a:ext cx="2799590" cy="5768851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4A25194-02E8-2D37-4F64-FA708AEBCD8D}"/>
              </a:ext>
            </a:extLst>
          </p:cNvPr>
          <p:cNvCxnSpPr>
            <a:cxnSpLocks/>
          </p:cNvCxnSpPr>
          <p:nvPr/>
        </p:nvCxnSpPr>
        <p:spPr>
          <a:xfrm>
            <a:off x="1648244" y="3001818"/>
            <a:ext cx="16902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725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9D757-EFA3-80F0-56AB-21190111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C3D8DD-05C1-5BB2-90A1-33B5AF9A0CBD}"/>
              </a:ext>
            </a:extLst>
          </p:cNvPr>
          <p:cNvSpPr txBox="1"/>
          <p:nvPr/>
        </p:nvSpPr>
        <p:spPr>
          <a:xfrm>
            <a:off x="6496084" y="2549652"/>
            <a:ext cx="5279009" cy="17312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/>
              <a:t>Trend(TG_01_01)</a:t>
            </a:r>
            <a:r>
              <a:rPr lang="ko-KR" altLang="en-US" sz="1100" b="1" dirty="0"/>
              <a:t> 진입 시 측정 데이터가 있어도</a:t>
            </a:r>
            <a:r>
              <a:rPr lang="en-US" altLang="ko-KR" sz="1100" b="1" dirty="0"/>
              <a:t> Range Distribution </a:t>
            </a:r>
            <a:r>
              <a:rPr lang="ko-KR" altLang="en-US" sz="1100" b="1" dirty="0"/>
              <a:t>화면이</a:t>
            </a:r>
            <a:endParaRPr lang="en-US" altLang="ko-KR" sz="1100" b="1" dirty="0"/>
          </a:p>
          <a:p>
            <a:pPr>
              <a:lnSpc>
                <a:spcPct val="200000"/>
              </a:lnSpc>
            </a:pPr>
            <a:r>
              <a:rPr lang="en-US" altLang="ko-KR" sz="1100" b="1" dirty="0"/>
              <a:t>  </a:t>
            </a:r>
            <a:r>
              <a:rPr lang="ko-KR" altLang="en-US" sz="1100" b="1" dirty="0"/>
              <a:t> 좌측 이미지와 같이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기본 화면으로 고정</a:t>
            </a:r>
            <a:endParaRPr lang="en-US" altLang="ko-KR" sz="1100" b="1" dirty="0"/>
          </a:p>
          <a:p>
            <a:pPr>
              <a:lnSpc>
                <a:spcPct val="200000"/>
              </a:lnSpc>
            </a:pPr>
            <a:r>
              <a:rPr lang="en-US" altLang="ko-KR" sz="1100" b="1" dirty="0">
                <a:sym typeface="Wingdings" panose="05000000000000000000" pitchFamily="2" charset="2"/>
              </a:rPr>
              <a:t></a:t>
            </a:r>
            <a:r>
              <a:rPr lang="ko-KR" altLang="en-US" sz="1100" b="1" dirty="0">
                <a:sym typeface="Wingdings" panose="05000000000000000000" pitchFamily="2" charset="2"/>
              </a:rPr>
              <a:t> 저혈당 센서 값이 이미 </a:t>
            </a:r>
            <a:r>
              <a:rPr lang="en-US" altLang="ko-KR" sz="1100" b="1" dirty="0">
                <a:sym typeface="Wingdings" panose="05000000000000000000" pitchFamily="2" charset="2"/>
              </a:rPr>
              <a:t>100%</a:t>
            </a:r>
            <a:r>
              <a:rPr lang="ko-KR" altLang="en-US" sz="1100" b="1" dirty="0">
                <a:sym typeface="Wingdings" panose="05000000000000000000" pitchFamily="2" charset="2"/>
              </a:rPr>
              <a:t>로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입력되고 있지만 </a:t>
            </a:r>
            <a:r>
              <a:rPr lang="en-US" altLang="ko-KR" sz="1100" b="1" dirty="0"/>
              <a:t>Range Distribution</a:t>
            </a:r>
            <a:r>
              <a:rPr lang="ko-KR" altLang="en-US" sz="1100" b="1" dirty="0"/>
              <a:t>은 기본</a:t>
            </a:r>
            <a:endParaRPr lang="en-US" altLang="ko-KR" sz="1100" b="1" dirty="0"/>
          </a:p>
          <a:p>
            <a:pPr>
              <a:lnSpc>
                <a:spcPct val="200000"/>
              </a:lnSpc>
            </a:pPr>
            <a:r>
              <a:rPr lang="ko-KR" altLang="en-US" sz="1100" b="1" dirty="0"/>
              <a:t>계산 없이 기본 이미지만 출력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en-US" altLang="ko-KR" sz="1100" b="1" dirty="0">
                <a:sym typeface="Wingdings" panose="05000000000000000000" pitchFamily="2" charset="2"/>
              </a:rPr>
              <a:t>3houre </a:t>
            </a:r>
            <a:r>
              <a:rPr lang="ko-KR" altLang="en-US" sz="1100" b="1" dirty="0">
                <a:sym typeface="Wingdings" panose="05000000000000000000" pitchFamily="2" charset="2"/>
              </a:rPr>
              <a:t>와 같이 선택사항을 터치 해야지만 우측과 같이 정상적인 그래프 표시</a:t>
            </a:r>
            <a:endParaRPr lang="en-US" altLang="ko-KR" sz="1100" b="1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812B8-A543-9D1C-ACC3-ABC518ACFECE}"/>
              </a:ext>
            </a:extLst>
          </p:cNvPr>
          <p:cNvSpPr txBox="1"/>
          <p:nvPr/>
        </p:nvSpPr>
        <p:spPr>
          <a:xfrm>
            <a:off x="259325" y="285727"/>
            <a:ext cx="325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개선 완료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48007A-2F33-652C-4894-C116C128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4" y="951345"/>
            <a:ext cx="2819836" cy="58105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D7EEDC-CFBF-68F7-4C01-C1C7BF7C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99" y="845127"/>
            <a:ext cx="2871384" cy="591679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1E65E3C-A37D-9B76-46C7-654536554F05}"/>
              </a:ext>
            </a:extLst>
          </p:cNvPr>
          <p:cNvSpPr/>
          <p:nvPr/>
        </p:nvSpPr>
        <p:spPr>
          <a:xfrm>
            <a:off x="100354" y="4364181"/>
            <a:ext cx="2819836" cy="16486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A9C584-566D-53AA-A0E0-80501166CD61}"/>
              </a:ext>
            </a:extLst>
          </p:cNvPr>
          <p:cNvSpPr/>
          <p:nvPr/>
        </p:nvSpPr>
        <p:spPr>
          <a:xfrm>
            <a:off x="3338498" y="4364181"/>
            <a:ext cx="2871385" cy="16486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2EB168-3DAA-5AAF-3A8A-798AA77EDCB1}"/>
              </a:ext>
            </a:extLst>
          </p:cNvPr>
          <p:cNvSpPr/>
          <p:nvPr/>
        </p:nvSpPr>
        <p:spPr>
          <a:xfrm>
            <a:off x="100354" y="1965033"/>
            <a:ext cx="2819836" cy="3810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107C0B-F108-F058-468C-EC1D1EAA6024}"/>
              </a:ext>
            </a:extLst>
          </p:cNvPr>
          <p:cNvCxnSpPr>
            <a:cxnSpLocks/>
          </p:cNvCxnSpPr>
          <p:nvPr/>
        </p:nvCxnSpPr>
        <p:spPr>
          <a:xfrm>
            <a:off x="1496291" y="2447636"/>
            <a:ext cx="0" cy="16440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12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B3301-0F58-6A2F-768D-9BA02157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9D77BA-AE39-DEB3-6DC4-ACF5382D29DF}"/>
              </a:ext>
            </a:extLst>
          </p:cNvPr>
          <p:cNvSpPr txBox="1"/>
          <p:nvPr/>
        </p:nvSpPr>
        <p:spPr>
          <a:xfrm>
            <a:off x="259325" y="285727"/>
            <a:ext cx="325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개선 완료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AF0FD0-8A48-DF3E-CA4E-EF7DB1CD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02" y="1187522"/>
            <a:ext cx="2175552" cy="44829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2BD2600-BC52-33EB-DCF8-371CB16A7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377" y="1187523"/>
            <a:ext cx="2175552" cy="448295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1983976-65A7-097E-D711-7D7AAD1332AC}"/>
              </a:ext>
            </a:extLst>
          </p:cNvPr>
          <p:cNvSpPr/>
          <p:nvPr/>
        </p:nvSpPr>
        <p:spPr>
          <a:xfrm>
            <a:off x="259326" y="2471013"/>
            <a:ext cx="2040530" cy="4019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3815F8-0BEF-0B29-EDCF-8182FAE49E17}"/>
              </a:ext>
            </a:extLst>
          </p:cNvPr>
          <p:cNvSpPr/>
          <p:nvPr/>
        </p:nvSpPr>
        <p:spPr>
          <a:xfrm>
            <a:off x="259326" y="2960786"/>
            <a:ext cx="2040530" cy="299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80F1EE1-696F-FA12-1566-EF6A03FA4F9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299856" y="2671964"/>
            <a:ext cx="1038642" cy="2888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9D8D362-D41E-82A8-B5C3-11586F817AB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299856" y="3110611"/>
            <a:ext cx="895926" cy="382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7B23BC77-09CF-1B4B-F8F1-748734C50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389" y="1187519"/>
            <a:ext cx="2175553" cy="448295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602CE5-C5AB-2598-45A7-99C55781A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736" y="1187519"/>
            <a:ext cx="2175552" cy="4482956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0075250-5A5E-2A57-AC9E-1138FFA11C22}"/>
              </a:ext>
            </a:extLst>
          </p:cNvPr>
          <p:cNvCxnSpPr>
            <a:cxnSpLocks/>
          </p:cNvCxnSpPr>
          <p:nvPr/>
        </p:nvCxnSpPr>
        <p:spPr>
          <a:xfrm flipV="1">
            <a:off x="8087342" y="2960786"/>
            <a:ext cx="390394" cy="77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F77DA96-B81B-986B-7071-1BA4916369B1}"/>
              </a:ext>
            </a:extLst>
          </p:cNvPr>
          <p:cNvCxnSpPr>
            <a:cxnSpLocks/>
          </p:cNvCxnSpPr>
          <p:nvPr/>
        </p:nvCxnSpPr>
        <p:spPr>
          <a:xfrm>
            <a:off x="8177942" y="3556071"/>
            <a:ext cx="299794" cy="83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1FEB86E3-E567-60F7-2DA6-4F4C62BC23F5}"/>
              </a:ext>
            </a:extLst>
          </p:cNvPr>
          <p:cNvSpPr/>
          <p:nvPr/>
        </p:nvSpPr>
        <p:spPr>
          <a:xfrm>
            <a:off x="5291336" y="3275108"/>
            <a:ext cx="410836" cy="3077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435A-868E-77A9-2B31-6C2A2B76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B000D9-3ADF-5748-A36D-4485C556B772}"/>
              </a:ext>
            </a:extLst>
          </p:cNvPr>
          <p:cNvSpPr txBox="1"/>
          <p:nvPr/>
        </p:nvSpPr>
        <p:spPr>
          <a:xfrm>
            <a:off x="5404563" y="965272"/>
            <a:ext cx="6787436" cy="2748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b="1" dirty="0"/>
              <a:t>3. Setting</a:t>
            </a:r>
            <a:r>
              <a:rPr lang="ko-KR" altLang="en-US" sz="1100" b="1" dirty="0"/>
              <a:t>부분의 기능 저장 및 반영 안됨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ym typeface="Wingdings" panose="05000000000000000000" pitchFamily="2" charset="2"/>
              </a:rPr>
              <a:t>각각의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화면 구성은 되어 있지만 각기능의 범위 및 버튼 설정이 저장이 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Language : En</a:t>
            </a:r>
            <a:r>
              <a:rPr lang="ko-KR" altLang="en-US" sz="1100" b="1" dirty="0">
                <a:sym typeface="Wingdings" panose="05000000000000000000" pitchFamily="2" charset="2"/>
              </a:rPr>
              <a:t> 과 </a:t>
            </a:r>
            <a:r>
              <a:rPr lang="en-US" altLang="ko-KR" sz="1100" b="1" dirty="0" err="1">
                <a:sym typeface="Wingdings" panose="05000000000000000000" pitchFamily="2" charset="2"/>
              </a:rPr>
              <a:t>Ar</a:t>
            </a:r>
            <a:r>
              <a:rPr lang="ko-KR" altLang="en-US" sz="1100" b="1" dirty="0">
                <a:sym typeface="Wingdings" panose="05000000000000000000" pitchFamily="2" charset="2"/>
              </a:rPr>
              <a:t> 중 </a:t>
            </a:r>
            <a:r>
              <a:rPr lang="en-US" altLang="ko-KR" sz="1100" b="1" dirty="0" err="1">
                <a:sym typeface="Wingdings" panose="05000000000000000000" pitchFamily="2" charset="2"/>
              </a:rPr>
              <a:t>Ar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  <a:r>
              <a:rPr lang="ko-KR" altLang="en-US" sz="1100" b="1" dirty="0">
                <a:sym typeface="Wingdings" panose="05000000000000000000" pitchFamily="2" charset="2"/>
              </a:rPr>
              <a:t>설정 시 화면이 좌우 반전되는 문제가 발생 해당 기능은 언어 변경의 영역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개선 완료</a:t>
            </a:r>
            <a:endParaRPr lang="en-US" altLang="ko-KR" sz="1100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Time format : 24h, 12h </a:t>
            </a:r>
            <a:r>
              <a:rPr lang="ko-KR" altLang="en-US" sz="1100" b="1" dirty="0">
                <a:sym typeface="Wingdings" panose="05000000000000000000" pitchFamily="2" charset="2"/>
              </a:rPr>
              <a:t>변경 안됨 </a:t>
            </a:r>
            <a:r>
              <a:rPr lang="en-US" altLang="ko-KR" sz="1100" b="1" dirty="0">
                <a:sym typeface="Wingdings" panose="05000000000000000000" pitchFamily="2" charset="2"/>
              </a:rPr>
              <a:t>(24h</a:t>
            </a:r>
            <a:r>
              <a:rPr lang="ko-KR" altLang="en-US" sz="1100" b="1" dirty="0">
                <a:sym typeface="Wingdings" panose="05000000000000000000" pitchFamily="2" charset="2"/>
              </a:rPr>
              <a:t>로만 표시되는 문제</a:t>
            </a:r>
            <a:r>
              <a:rPr lang="en-US" altLang="ko-KR" sz="1100" b="1" dirty="0"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개선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Notification : </a:t>
            </a:r>
            <a:r>
              <a:rPr lang="ko-KR" altLang="en-US" sz="1100" b="1" dirty="0">
                <a:sym typeface="Wingdings" panose="05000000000000000000" pitchFamily="2" charset="2"/>
              </a:rPr>
              <a:t>버튼</a:t>
            </a:r>
            <a:r>
              <a:rPr lang="en-US" altLang="ko-KR" sz="1100" b="1" dirty="0">
                <a:sym typeface="Wingdings" panose="05000000000000000000" pitchFamily="2" charset="2"/>
              </a:rPr>
              <a:t> On/Off</a:t>
            </a:r>
            <a:r>
              <a:rPr lang="ko-KR" altLang="en-US" sz="1100" b="1" dirty="0">
                <a:sym typeface="Wingdings" panose="05000000000000000000" pitchFamily="2" charset="2"/>
              </a:rPr>
              <a:t> 저장 안됨</a:t>
            </a:r>
            <a:r>
              <a:rPr lang="en-US" altLang="ko-KR" sz="1100" b="1" dirty="0">
                <a:sym typeface="Wingdings" panose="05000000000000000000" pitchFamily="2" charset="2"/>
              </a:rPr>
              <a:t> </a:t>
            </a: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개선 완료</a:t>
            </a:r>
            <a:endParaRPr lang="en-US" altLang="ko-KR" sz="1100" b="1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FD0F6-F5E7-394C-BE2C-1D4CACD793E2}"/>
              </a:ext>
            </a:extLst>
          </p:cNvPr>
          <p:cNvSpPr txBox="1"/>
          <p:nvPr/>
        </p:nvSpPr>
        <p:spPr>
          <a:xfrm>
            <a:off x="235192" y="262666"/>
            <a:ext cx="310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ACA553-31B7-0103-C5E0-F41EFD88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997"/>
            <a:ext cx="2618002" cy="53946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B15A6-0623-C16C-1D36-0604A6B0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982" y="1015998"/>
            <a:ext cx="2618002" cy="5394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314DDD-D6B6-CF79-24A6-E582B97D4988}"/>
              </a:ext>
            </a:extLst>
          </p:cNvPr>
          <p:cNvSpPr txBox="1"/>
          <p:nvPr/>
        </p:nvSpPr>
        <p:spPr>
          <a:xfrm>
            <a:off x="5404563" y="3713332"/>
            <a:ext cx="6096000" cy="257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Mute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all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alarms</a:t>
            </a:r>
            <a:r>
              <a:rPr lang="ko-KR" altLang="en-US" sz="1100" b="1" dirty="0"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(AR_01_01) : </a:t>
            </a:r>
            <a:r>
              <a:rPr lang="ko-KR" altLang="en-US" sz="1100" b="1" dirty="0">
                <a:sym typeface="Wingdings" panose="05000000000000000000" pitchFamily="2" charset="2"/>
              </a:rPr>
              <a:t>버튼 </a:t>
            </a:r>
            <a:r>
              <a:rPr lang="en-US" altLang="ko-KR" sz="1100" b="1" dirty="0">
                <a:sym typeface="Wingdings" panose="05000000000000000000" pitchFamily="2" charset="2"/>
              </a:rPr>
              <a:t>On/Off </a:t>
            </a:r>
            <a:r>
              <a:rPr lang="ko-KR" altLang="en-US" sz="1100" b="1" dirty="0">
                <a:sym typeface="Wingdings" panose="05000000000000000000" pitchFamily="2" charset="2"/>
              </a:rPr>
              <a:t>저장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개선 완료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Glucose unit : </a:t>
            </a:r>
            <a:r>
              <a:rPr lang="ko-KR" altLang="en-US" sz="1100" b="1" dirty="0">
                <a:sym typeface="Wingdings" panose="05000000000000000000" pitchFamily="2" charset="2"/>
              </a:rPr>
              <a:t>단위 변경 및 반영 안됨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단위 변경은 적용되지만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Setting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화면상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mg/dL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로 고정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화면상 단위 변경이 안됨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3/16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확인 결과 단위 변경 적용 안됨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 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(3/13 </a:t>
            </a:r>
            <a:r>
              <a:rPr lang="ko-KR" altLang="en-US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확인 시 단위 변경이 적용되었지만 다시 안되는 상황</a:t>
            </a:r>
            <a:r>
              <a:rPr lang="en-US" altLang="ko-KR" sz="1100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sym typeface="Wingdings" panose="05000000000000000000" pitchFamily="2" charset="2"/>
              </a:rPr>
              <a:t>Accessibility : </a:t>
            </a:r>
            <a:r>
              <a:rPr lang="ko-KR" altLang="en-US" sz="1100" b="1" dirty="0">
                <a:sym typeface="Wingdings" panose="05000000000000000000" pitchFamily="2" charset="2"/>
              </a:rPr>
              <a:t>글자 폰트 저장 및 반영되지 않음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200000"/>
              </a:lnSpc>
            </a:pPr>
            <a:r>
              <a:rPr lang="en-US" altLang="ko-KR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chemeClr val="accent1"/>
                </a:solidFill>
                <a:sym typeface="Wingdings" panose="05000000000000000000" pitchFamily="2" charset="2"/>
              </a:rPr>
              <a:t>개선 완료</a:t>
            </a:r>
            <a:endParaRPr lang="en-US" altLang="ko-KR" sz="1100" b="1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4145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46E24-D180-A14F-EE95-D8B32396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C3E1B0-3830-76A5-91B1-6F55E019DAC8}"/>
              </a:ext>
            </a:extLst>
          </p:cNvPr>
          <p:cNvSpPr txBox="1"/>
          <p:nvPr/>
        </p:nvSpPr>
        <p:spPr>
          <a:xfrm>
            <a:off x="235192" y="262666"/>
            <a:ext cx="310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미 구현 사항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0ED23-3D84-D513-500E-586CE4FFCEED}"/>
              </a:ext>
            </a:extLst>
          </p:cNvPr>
          <p:cNvSpPr txBox="1"/>
          <p:nvPr/>
        </p:nvSpPr>
        <p:spPr>
          <a:xfrm>
            <a:off x="4131311" y="3429000"/>
            <a:ext cx="6096000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sym typeface="Wingdings" panose="05000000000000000000" pitchFamily="2" charset="2"/>
              </a:rPr>
              <a:t>사용자 상세 화면에서 로그아웃 가능 확인 완료</a:t>
            </a:r>
            <a:endParaRPr lang="en-US" altLang="ko-KR" sz="1100" b="1" dirty="0">
              <a:sym typeface="Wingdings" panose="05000000000000000000" pitchFamily="2" charset="2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sym typeface="Wingdings" panose="05000000000000000000" pitchFamily="2" charset="2"/>
              </a:rPr>
              <a:t>로그아웃 시 센서와의 연결은 자동으로 해제 되어야 하지만 </a:t>
            </a:r>
            <a:r>
              <a:rPr lang="ko-KR" altLang="en-US" sz="1100" b="1" u="sng" dirty="0">
                <a:sym typeface="Wingdings" panose="05000000000000000000" pitchFamily="2" charset="2"/>
              </a:rPr>
              <a:t>로그아웃 시에도 센서와의 연결이 되어 있어 </a:t>
            </a:r>
            <a:r>
              <a:rPr lang="ko-KR" altLang="en-US" sz="1100" b="1" dirty="0">
                <a:sym typeface="Wingdings" panose="05000000000000000000" pitchFamily="2" charset="2"/>
              </a:rPr>
              <a:t>로그아웃 상황에서도 알람이 발생</a:t>
            </a:r>
            <a:endParaRPr lang="en-US" altLang="ko-KR" sz="1100" b="1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343B5F-4AFC-572F-0E83-D6E4FEC9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1" y="895926"/>
            <a:ext cx="2835539" cy="58429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1264AB-BB25-FFF5-798C-1E7801FBD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98" y="895926"/>
            <a:ext cx="3840813" cy="116596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F67275-FFB6-52E2-458F-18C2C1505787}"/>
              </a:ext>
            </a:extLst>
          </p:cNvPr>
          <p:cNvSpPr/>
          <p:nvPr/>
        </p:nvSpPr>
        <p:spPr>
          <a:xfrm>
            <a:off x="195641" y="984759"/>
            <a:ext cx="2835539" cy="7239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C7B9EE-F76C-0B5D-04C4-FC7D7CE4D3C5}"/>
              </a:ext>
            </a:extLst>
          </p:cNvPr>
          <p:cNvSpPr/>
          <p:nvPr/>
        </p:nvSpPr>
        <p:spPr>
          <a:xfrm>
            <a:off x="3358571" y="1595449"/>
            <a:ext cx="3356264" cy="2795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29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</TotalTime>
  <Words>709</Words>
  <Application>Microsoft Office PowerPoint</Application>
  <PresentationFormat>와이드스크린</PresentationFormat>
  <Paragraphs>87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기창 이</dc:creator>
  <cp:lastModifiedBy>기창 이</cp:lastModifiedBy>
  <cp:revision>157</cp:revision>
  <dcterms:created xsi:type="dcterms:W3CDTF">2026-03-05T02:15:40Z</dcterms:created>
  <dcterms:modified xsi:type="dcterms:W3CDTF">2026-03-17T07:24:09Z</dcterms:modified>
</cp:coreProperties>
</file>