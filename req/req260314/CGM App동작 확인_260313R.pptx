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2" r:id="rId4"/>
    <p:sldId id="274" r:id="rId5"/>
    <p:sldId id="262" r:id="rId6"/>
    <p:sldId id="263" r:id="rId7"/>
    <p:sldId id="271" r:id="rId8"/>
    <p:sldId id="259" r:id="rId9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7ABD6-86B9-DA14-DDE8-3F3A6D25A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5B4FE5-F6FB-A5D2-809A-4B48F2D58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BFFE8-0809-46CB-2859-ED06EC51D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E26792-A6FC-A2F8-7ECD-9958D43F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5E1608-172C-FD9A-1789-D69A399A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74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0EE23-0F55-A73A-D259-64A24644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05D004-9945-4ABC-A0C5-B4EBACF0C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263991-17EE-322E-7EA2-0256F528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78FCBE-A5C4-2F34-08C0-EF4733C58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1E91E2-A214-1B0E-2AFA-EFE03A35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414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B2525-3BF6-8ABE-1597-2AE4A45C1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9C9958-D103-AE34-EF67-FC2B01F00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06426D-B751-5537-B76C-228554CFC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72EE3C-E6B3-C462-CBB5-C7F26F17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1DC967-E54A-E1CB-04D2-86658D34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42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3A7C9-B50C-C4BC-E8D1-B292ADEF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7FCD03-5FE5-7563-F032-A4FD86127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719155-C2AB-5EE2-E702-420D75B2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BABFE7-810D-2FCD-D813-FC2602EF3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E07D0D-29E5-D985-1600-B583FAB7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D4D61-A2FA-C61C-D1A5-0481B907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857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110EC-58A8-92D8-2287-AF6E22FF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2DF270-9112-7F04-D6AA-58DAE4EB6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F433F5-3A81-C509-AA50-23E773C9C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00D0DB-948D-0FC1-15CC-4C01EB9AB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49EE57-1CCA-85ED-8627-C377E03F4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61D4AE-4FE6-8B5D-36BB-1D683E137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C69628-D7A7-44FC-ADB9-B48940AC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AEFB4E-35B9-AE47-F06E-AE71D695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8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BF3D4-B794-6E34-01DC-3CA7AF349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643D8C-9950-A1EB-F159-9B005110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D3B0CD-E436-88B8-DB84-46FB6A13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9E00B6-6853-3020-67D9-015BC7AD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49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81D3C5-795B-4934-FEED-C263E7DB7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FAF741-BC95-8E61-439F-982282D6E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26F047-672A-7591-0537-32E786BF4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973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39764-D990-533B-BAD9-D06948AD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BC413E-CD15-9937-C331-D7D5DA438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D5E4DB-890E-E59D-C7A5-02C2F8EC8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252C13-A530-9FBC-E324-306D966E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DEF5B0-DAB2-F85E-E185-37616E3E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AF75E3-B8C2-3DA1-7AB7-8C39619C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92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000EE-BE0F-3EB0-290A-C6221189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784660-E0E4-2E72-0115-B94182663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C96135-5178-2F50-1E21-354ABF5A5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3D8B96-2A82-3BDB-F72F-577FC9CF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171CB1-5F60-53F9-55F8-36B58527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3BEB32-D483-16AF-449A-433CF206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922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D1833-5C46-AB2D-4DA0-98FBA473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FFDD2C-0E86-B9ED-0356-9BE273A79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6D0EF-F464-6C52-556C-18D05DBCE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1FD464-76F6-55C9-F01B-CF02B71D7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C8FC67-E981-6185-E2BE-53CA9AC2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56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3AF4CA-CF71-A4CC-6955-A46AD2FCE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8F3A8C-BC26-A465-CA58-0FE80CB1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937EDE-D889-64A2-619E-0D84A199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4FA614-D181-9495-7084-8A7433DC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BC9D1F-7754-4711-E178-4944238C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2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0A1B23-C206-FC02-977C-2AC5A6B93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7F7C92-A806-87C2-153D-C22C233B2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5A5B28-8431-1C1B-3947-6967096B5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473B7-078F-4544-BB3A-A28450A26295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0BE239-5908-8C07-E81D-0A2466BCD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5E0245-FC68-5B17-DF43-8B923516E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66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6BE5C48-3291-65CB-D8D7-76A4A9A3E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54" y="1950849"/>
            <a:ext cx="1747059" cy="360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F348AA3-27B8-6953-E7A5-20483D844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904" y="1950849"/>
            <a:ext cx="1747059" cy="36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CF9A36-A95C-B746-E1C2-33F2ADBC0C92}"/>
              </a:ext>
            </a:extLst>
          </p:cNvPr>
          <p:cNvSpPr txBox="1"/>
          <p:nvPr/>
        </p:nvSpPr>
        <p:spPr>
          <a:xfrm>
            <a:off x="5813912" y="5951039"/>
            <a:ext cx="21682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스크롤화면 이미지 맨 아래에만</a:t>
            </a:r>
            <a:endParaRPr lang="en-US" altLang="ko-KR" sz="1100" b="1" dirty="0"/>
          </a:p>
          <a:p>
            <a:r>
              <a:rPr lang="ko-KR" altLang="en-US" sz="1100" b="1" dirty="0"/>
              <a:t> </a:t>
            </a:r>
            <a:r>
              <a:rPr lang="en-US" altLang="ko-KR" sz="1100" b="1" dirty="0"/>
              <a:t>Sensor Connect </a:t>
            </a:r>
            <a:r>
              <a:rPr lang="ko-KR" altLang="en-US" sz="1100" b="1" dirty="0"/>
              <a:t>버튼 위치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835E3A0F-D11C-3D91-0F4E-1DFB199CDF6E}"/>
              </a:ext>
            </a:extLst>
          </p:cNvPr>
          <p:cNvSpPr/>
          <p:nvPr/>
        </p:nvSpPr>
        <p:spPr>
          <a:xfrm>
            <a:off x="1969541" y="3306272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DB7FF4-BEFB-F691-3C4E-B939375921B8}"/>
              </a:ext>
            </a:extLst>
          </p:cNvPr>
          <p:cNvSpPr/>
          <p:nvPr/>
        </p:nvSpPr>
        <p:spPr>
          <a:xfrm>
            <a:off x="228976" y="3251340"/>
            <a:ext cx="1703443" cy="3714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D8C41B-CF68-3C14-9E27-21C517A256A7}"/>
              </a:ext>
            </a:extLst>
          </p:cNvPr>
          <p:cNvSpPr/>
          <p:nvPr/>
        </p:nvSpPr>
        <p:spPr>
          <a:xfrm>
            <a:off x="2219833" y="2742920"/>
            <a:ext cx="1661977" cy="2616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D3A27-12C5-568E-B9E4-E123B555A05E}"/>
              </a:ext>
            </a:extLst>
          </p:cNvPr>
          <p:cNvSpPr txBox="1"/>
          <p:nvPr/>
        </p:nvSpPr>
        <p:spPr>
          <a:xfrm>
            <a:off x="309710" y="280384"/>
            <a:ext cx="28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블루투스 연결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0DDA574B-9190-3832-9968-B6E3A4909CC1}"/>
              </a:ext>
            </a:extLst>
          </p:cNvPr>
          <p:cNvSpPr/>
          <p:nvPr/>
        </p:nvSpPr>
        <p:spPr>
          <a:xfrm>
            <a:off x="3914930" y="2742921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6A0DEE8-3440-A47D-4FE8-31F580356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254" y="1950849"/>
            <a:ext cx="1747059" cy="3600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E4679CD6-D288-9C2B-F798-A28AEA041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438" y="1950849"/>
            <a:ext cx="1747059" cy="3600000"/>
          </a:xfrm>
          <a:prstGeom prst="rect">
            <a:avLst/>
          </a:prstGeom>
        </p:spPr>
      </p:pic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28BB1AE4-7FE8-F5AC-ACEA-4C8519A484C6}"/>
              </a:ext>
            </a:extLst>
          </p:cNvPr>
          <p:cNvSpPr/>
          <p:nvPr/>
        </p:nvSpPr>
        <p:spPr>
          <a:xfrm>
            <a:off x="7757497" y="3293983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1BD3C-F203-EF7C-1EB6-D26485B9A0C0}"/>
              </a:ext>
            </a:extLst>
          </p:cNvPr>
          <p:cNvSpPr txBox="1"/>
          <p:nvPr/>
        </p:nvSpPr>
        <p:spPr>
          <a:xfrm>
            <a:off x="622018" y="1304206"/>
            <a:ext cx="8556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블루투스 연결방식 </a:t>
            </a:r>
            <a:r>
              <a:rPr lang="en-US" altLang="ko-KR" sz="1400" b="1" dirty="0"/>
              <a:t>2</a:t>
            </a:r>
            <a:r>
              <a:rPr lang="ko-KR" altLang="en-US" sz="1400" b="1" dirty="0"/>
              <a:t>가지 방식으로 진행됩니다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수동접속 방식</a:t>
            </a:r>
            <a:r>
              <a:rPr lang="en-US" altLang="ko-KR" sz="1400" b="1" dirty="0"/>
              <a:t>, QR </a:t>
            </a:r>
            <a:r>
              <a:rPr lang="ko-KR" altLang="en-US" sz="1400" b="1" dirty="0"/>
              <a:t>스캔으로 자동 접속 방식입니다</a:t>
            </a:r>
            <a:r>
              <a:rPr lang="en-US" altLang="ko-KR" sz="1400" b="1" dirty="0"/>
              <a:t>. </a:t>
            </a:r>
            <a:endParaRPr lang="ko-KR" altLang="en-US" sz="1400" b="1" dirty="0"/>
          </a:p>
        </p:txBody>
      </p:sp>
      <p:sp>
        <p:nvSpPr>
          <p:cNvPr id="9" name="곱하기 기호 8">
            <a:extLst>
              <a:ext uri="{FF2B5EF4-FFF2-40B4-BE49-F238E27FC236}">
                <a16:creationId xmlns:a16="http://schemas.microsoft.com/office/drawing/2014/main" id="{2647E6E7-AD3A-4F26-5854-E9AA780AA372}"/>
              </a:ext>
            </a:extLst>
          </p:cNvPr>
          <p:cNvSpPr/>
          <p:nvPr/>
        </p:nvSpPr>
        <p:spPr>
          <a:xfrm>
            <a:off x="4373417" y="5001376"/>
            <a:ext cx="1262028" cy="321865"/>
          </a:xfrm>
          <a:prstGeom prst="mathMultiply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FE31DA1-5EE5-9028-2B05-59A4FDB7396B}"/>
              </a:ext>
            </a:extLst>
          </p:cNvPr>
          <p:cNvCxnSpPr>
            <a:cxnSpLocks/>
          </p:cNvCxnSpPr>
          <p:nvPr/>
        </p:nvCxnSpPr>
        <p:spPr>
          <a:xfrm flipV="1">
            <a:off x="6928025" y="5162308"/>
            <a:ext cx="0" cy="7887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E32474B-9DD0-B991-08BD-0FB23F94C616}"/>
              </a:ext>
            </a:extLst>
          </p:cNvPr>
          <p:cNvSpPr txBox="1"/>
          <p:nvPr/>
        </p:nvSpPr>
        <p:spPr>
          <a:xfrm>
            <a:off x="2317579" y="5710853"/>
            <a:ext cx="13290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디바이스 검색 후 해당 기기 선택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F7EE090-C947-C7CF-1C23-5965DB5F61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4183" y="1950849"/>
            <a:ext cx="1747059" cy="3600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A5C1B4D-1C80-1353-7EAC-CD4736DF1D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5731" y="1950849"/>
            <a:ext cx="1747059" cy="3600000"/>
          </a:xfrm>
          <a:prstGeom prst="rect">
            <a:avLst/>
          </a:prstGeom>
        </p:spPr>
      </p:pic>
      <p:sp>
        <p:nvSpPr>
          <p:cNvPr id="19" name="곱하기 기호 18">
            <a:extLst>
              <a:ext uri="{FF2B5EF4-FFF2-40B4-BE49-F238E27FC236}">
                <a16:creationId xmlns:a16="http://schemas.microsoft.com/office/drawing/2014/main" id="{22B903DD-A906-8DD3-00C9-C9253701D79D}"/>
              </a:ext>
            </a:extLst>
          </p:cNvPr>
          <p:cNvSpPr/>
          <p:nvPr/>
        </p:nvSpPr>
        <p:spPr>
          <a:xfrm>
            <a:off x="10009672" y="3198400"/>
            <a:ext cx="1262028" cy="321865"/>
          </a:xfrm>
          <a:prstGeom prst="mathMultiply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51B8E9-32F5-599A-BAD4-488F8A063434}"/>
              </a:ext>
            </a:extLst>
          </p:cNvPr>
          <p:cNvSpPr txBox="1"/>
          <p:nvPr/>
        </p:nvSpPr>
        <p:spPr>
          <a:xfrm>
            <a:off x="10094620" y="3855715"/>
            <a:ext cx="11770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Continue </a:t>
            </a:r>
            <a:r>
              <a:rPr lang="ko-KR" altLang="en-US" sz="1100" b="1" dirty="0"/>
              <a:t>버튼 확인 없이 </a:t>
            </a:r>
            <a:endParaRPr lang="en-US" altLang="ko-KR" sz="1100" b="1" dirty="0"/>
          </a:p>
          <a:p>
            <a:r>
              <a:rPr lang="ko-KR" altLang="en-US" sz="1100" b="1" dirty="0" err="1"/>
              <a:t>메인화면</a:t>
            </a:r>
            <a:r>
              <a:rPr lang="ko-KR" altLang="en-US" sz="1100" b="1" dirty="0"/>
              <a:t> 전환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DEA799B-296C-0695-6471-FCD0A8EEDC97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10683160" y="3463136"/>
            <a:ext cx="0" cy="3925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49380D7F-DD5B-D33F-DBCB-06F309F07D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8938" y="4537276"/>
            <a:ext cx="1106952" cy="2280991"/>
          </a:xfrm>
          <a:prstGeom prst="rect">
            <a:avLst/>
          </a:prstGeom>
        </p:spPr>
      </p:pic>
      <p:sp>
        <p:nvSpPr>
          <p:cNvPr id="32" name="화살표: 위로 굽음 31">
            <a:extLst>
              <a:ext uri="{FF2B5EF4-FFF2-40B4-BE49-F238E27FC236}">
                <a16:creationId xmlns:a16="http://schemas.microsoft.com/office/drawing/2014/main" id="{8E735F84-C206-4357-DA43-9B63DDD9F924}"/>
              </a:ext>
            </a:extLst>
          </p:cNvPr>
          <p:cNvSpPr/>
          <p:nvPr/>
        </p:nvSpPr>
        <p:spPr>
          <a:xfrm rot="10800000" flipH="1">
            <a:off x="11457244" y="3567881"/>
            <a:ext cx="384413" cy="887996"/>
          </a:xfrm>
          <a:prstGeom prst="bentUpArrow">
            <a:avLst>
              <a:gd name="adj1" fmla="val 25000"/>
              <a:gd name="adj2" fmla="val 23441"/>
              <a:gd name="adj3" fmla="val 25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D754F5-AFEC-6E06-8AD8-3B2B34E8E808}"/>
              </a:ext>
            </a:extLst>
          </p:cNvPr>
          <p:cNvSpPr txBox="1"/>
          <p:nvPr/>
        </p:nvSpPr>
        <p:spPr>
          <a:xfrm>
            <a:off x="309710" y="811451"/>
            <a:ext cx="2876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1-1. </a:t>
            </a:r>
            <a:r>
              <a:rPr lang="ko-KR" altLang="en-US" sz="1400" b="1" dirty="0"/>
              <a:t>수동 접속 방식</a:t>
            </a:r>
          </a:p>
        </p:txBody>
      </p:sp>
    </p:spTree>
    <p:extLst>
      <p:ext uri="{BB962C8B-B14F-4D97-AF65-F5344CB8AC3E}">
        <p14:creationId xmlns:p14="http://schemas.microsoft.com/office/powerpoint/2010/main" val="85853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8125-5249-7798-F38E-32D165C0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8547A0-50C9-0C13-4503-DB96E60032C3}"/>
              </a:ext>
            </a:extLst>
          </p:cNvPr>
          <p:cNvSpPr txBox="1"/>
          <p:nvPr/>
        </p:nvSpPr>
        <p:spPr>
          <a:xfrm>
            <a:off x="309710" y="815774"/>
            <a:ext cx="2876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1-2. QR </a:t>
            </a:r>
            <a:r>
              <a:rPr lang="ko-KR" altLang="en-US" sz="1400" b="1" dirty="0"/>
              <a:t>스캔으로 자동 접속 방식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F71C7F-83E8-D2FD-0F66-88C6E5C8ABE8}"/>
              </a:ext>
            </a:extLst>
          </p:cNvPr>
          <p:cNvSpPr txBox="1"/>
          <p:nvPr/>
        </p:nvSpPr>
        <p:spPr>
          <a:xfrm>
            <a:off x="309710" y="280384"/>
            <a:ext cx="28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블루투스 연결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C3BA296-9F17-3ED2-980B-75E8E1C12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9995"/>
              </p:ext>
            </p:extLst>
          </p:nvPr>
        </p:nvGraphicFramePr>
        <p:xfrm>
          <a:off x="727452" y="1890645"/>
          <a:ext cx="9921257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657">
                  <a:extLst>
                    <a:ext uri="{9D8B030D-6E8A-4147-A177-3AD203B41FA5}">
                      <a16:colId xmlns:a16="http://schemas.microsoft.com/office/drawing/2014/main" val="1749233051"/>
                    </a:ext>
                  </a:extLst>
                </a:gridCol>
                <a:gridCol w="1905333">
                  <a:extLst>
                    <a:ext uri="{9D8B030D-6E8A-4147-A177-3AD203B41FA5}">
                      <a16:colId xmlns:a16="http://schemas.microsoft.com/office/drawing/2014/main" val="1257551666"/>
                    </a:ext>
                  </a:extLst>
                </a:gridCol>
                <a:gridCol w="2615604">
                  <a:extLst>
                    <a:ext uri="{9D8B030D-6E8A-4147-A177-3AD203B41FA5}">
                      <a16:colId xmlns:a16="http://schemas.microsoft.com/office/drawing/2014/main" val="3018250181"/>
                    </a:ext>
                  </a:extLst>
                </a:gridCol>
                <a:gridCol w="4509663">
                  <a:extLst>
                    <a:ext uri="{9D8B030D-6E8A-4147-A177-3AD203B41FA5}">
                      <a16:colId xmlns:a16="http://schemas.microsoft.com/office/drawing/2014/main" val="2073068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962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#1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ADV</a:t>
                      </a:r>
                      <a:r>
                        <a:rPr lang="ko-KR" altLang="en-US" sz="1400" dirty="0"/>
                        <a:t>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empecsCGM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331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#2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ID+MAC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제조자 </a:t>
                      </a:r>
                      <a:r>
                        <a:rPr lang="en-US" altLang="ko-KR" sz="1400" dirty="0"/>
                        <a:t>ID: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0xFFFF</a:t>
                      </a:r>
                    </a:p>
                    <a:p>
                      <a:pPr latinLnBrk="1"/>
                      <a:r>
                        <a:rPr lang="en-US" altLang="ko-KR" sz="1400" dirty="0"/>
                        <a:t>(No Company ID)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제조자</a:t>
                      </a:r>
                      <a:r>
                        <a:rPr lang="en-US" altLang="ko-KR" sz="1400" dirty="0"/>
                        <a:t>ID</a:t>
                      </a:r>
                      <a:r>
                        <a:rPr lang="ko-KR" altLang="en-US" sz="1400" dirty="0"/>
                        <a:t>는 </a:t>
                      </a:r>
                      <a:r>
                        <a:rPr lang="en-US" altLang="ko-KR" sz="1400" dirty="0"/>
                        <a:t>Reserved</a:t>
                      </a:r>
                    </a:p>
                    <a:p>
                      <a:pPr latinLnBrk="1"/>
                      <a:r>
                        <a:rPr lang="ko-KR" altLang="en-US" sz="1400" dirty="0"/>
                        <a:t>맥주소는 </a:t>
                      </a:r>
                      <a:r>
                        <a:rPr lang="en-US" altLang="ko-KR" sz="1400" dirty="0"/>
                        <a:t>6byte</a:t>
                      </a:r>
                      <a:r>
                        <a:rPr lang="ko-KR" altLang="en-US" sz="1400" dirty="0"/>
                        <a:t>로 구성됨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dirty="0"/>
                        <a:t>(04:AC:44:11:11:11)</a:t>
                      </a:r>
                    </a:p>
                    <a:p>
                      <a:pPr latinLnBrk="1"/>
                      <a:r>
                        <a:rPr lang="ko-KR" altLang="en-US" sz="1400" dirty="0"/>
                        <a:t>예제 </a:t>
                      </a:r>
                      <a:r>
                        <a:rPr lang="en-US" altLang="ko-KR" sz="1400" dirty="0"/>
                        <a:t>: 0xFFFF04AC44111111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48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#3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일련번호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0xC21ZS00101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필요시 센서 데이터 및 기타정보를 저장하는데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4181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2AF2C32-21D5-D728-AC46-1399699B99DD}"/>
              </a:ext>
            </a:extLst>
          </p:cNvPr>
          <p:cNvSpPr txBox="1"/>
          <p:nvPr/>
        </p:nvSpPr>
        <p:spPr>
          <a:xfrm>
            <a:off x="618837" y="1289609"/>
            <a:ext cx="11210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먼저</a:t>
            </a:r>
            <a:r>
              <a:rPr lang="en-US" altLang="ko-KR" sz="1400" b="1" dirty="0"/>
              <a:t>, CGM</a:t>
            </a:r>
            <a:r>
              <a:rPr lang="ko-KR" altLang="en-US" sz="1400" b="1" dirty="0"/>
              <a:t>기기와 앱 간의 연동을 위해 필요한 정보를 담은 </a:t>
            </a:r>
            <a:r>
              <a:rPr lang="en-US" altLang="ko-KR" sz="1400" b="1" dirty="0"/>
              <a:t>QR </a:t>
            </a:r>
            <a:r>
              <a:rPr lang="ko-KR" altLang="en-US" sz="1400" b="1" dirty="0"/>
              <a:t>코드정보는 아래 표와 같다</a:t>
            </a:r>
            <a:r>
              <a:rPr lang="en-US" altLang="ko-KR" sz="1400" b="1" dirty="0"/>
              <a:t>. </a:t>
            </a:r>
          </a:p>
          <a:p>
            <a:r>
              <a:rPr lang="en-US" altLang="ko-KR" sz="1400" b="1" dirty="0"/>
              <a:t>QR</a:t>
            </a:r>
            <a:r>
              <a:rPr lang="ko-KR" altLang="en-US" sz="1400" b="1" dirty="0"/>
              <a:t>코드 내용 형식은 </a:t>
            </a:r>
            <a:r>
              <a:rPr lang="en-US" altLang="ko-KR" sz="1400" b="1" dirty="0"/>
              <a:t>#1;#2;#3 </a:t>
            </a:r>
            <a:r>
              <a:rPr lang="ko-KR" altLang="en-US" sz="1400" b="1" dirty="0"/>
              <a:t>이며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내용은 세미콜론</a:t>
            </a:r>
            <a:r>
              <a:rPr lang="en-US" altLang="ko-KR" sz="1400" b="1" dirty="0"/>
              <a:t>(;)</a:t>
            </a:r>
            <a:r>
              <a:rPr lang="ko-KR" altLang="en-US" sz="1400" b="1" dirty="0"/>
              <a:t>으로 구분됩니다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아래 표에서 각 부분을 설명합니다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4CEFDC-4E93-930E-E1A2-7253C79CE4CB}"/>
              </a:ext>
            </a:extLst>
          </p:cNvPr>
          <p:cNvSpPr txBox="1"/>
          <p:nvPr/>
        </p:nvSpPr>
        <p:spPr>
          <a:xfrm>
            <a:off x="618837" y="4069315"/>
            <a:ext cx="9358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000000"/>
                </a:solidFill>
                <a:latin typeface="+mj-lt"/>
              </a:rPr>
              <a:t>예제</a:t>
            </a:r>
            <a:r>
              <a:rPr lang="en-US" altLang="ko-KR" sz="1400" b="1" dirty="0">
                <a:solidFill>
                  <a:srgbClr val="000000"/>
                </a:solidFill>
                <a:latin typeface="+mj-lt"/>
              </a:rPr>
              <a:t>: </a:t>
            </a:r>
            <a:r>
              <a:rPr lang="en-US" altLang="ko-KR" sz="1400" b="1" i="0" u="none" strike="noStrike" baseline="0" dirty="0">
                <a:solidFill>
                  <a:srgbClr val="000000"/>
                </a:solidFill>
                <a:latin typeface="+mj-lt"/>
              </a:rPr>
              <a:t>empecsCGM;0xFFFF04AC44111111;0x</a:t>
            </a:r>
            <a:r>
              <a:rPr lang="en-US" altLang="ko-KR" sz="1400" b="1" dirty="0"/>
              <a:t> C21ZS00101</a:t>
            </a:r>
            <a:r>
              <a:rPr lang="en-US" altLang="ko-KR" sz="1400" b="1" i="0" u="none" strike="noStrike" baseline="0" dirty="0">
                <a:solidFill>
                  <a:srgbClr val="000000"/>
                </a:solidFill>
                <a:latin typeface="+mj-lt"/>
              </a:rPr>
              <a:t> (</a:t>
            </a:r>
            <a:r>
              <a:rPr lang="ko-KR" altLang="en-US" sz="1400" b="1" dirty="0">
                <a:solidFill>
                  <a:srgbClr val="000000"/>
                </a:solidFill>
                <a:latin typeface="+mj-lt"/>
              </a:rPr>
              <a:t>주의</a:t>
            </a:r>
            <a:r>
              <a:rPr lang="en-US" altLang="ko-KR" sz="1400" b="1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altLang="ko-KR" sz="1400" b="1" i="0" u="none" strike="noStrike" baseline="0" dirty="0">
                <a:solidFill>
                  <a:srgbClr val="000000"/>
                </a:solidFill>
                <a:latin typeface="+mj-lt"/>
              </a:rPr>
              <a:t>MAC</a:t>
            </a:r>
            <a:r>
              <a:rPr lang="ko-KR" altLang="en-US" sz="1400" b="1" i="0" u="none" strike="noStrike" baseline="0" dirty="0">
                <a:solidFill>
                  <a:srgbClr val="000000"/>
                </a:solidFill>
                <a:latin typeface="+mj-lt"/>
              </a:rPr>
              <a:t>주소는 반드시 실제주소여야 함</a:t>
            </a:r>
            <a:r>
              <a:rPr lang="en-US" altLang="ko-KR" sz="1400" b="1" i="0" u="none" strike="noStrike" baseline="0" dirty="0">
                <a:solidFill>
                  <a:srgbClr val="000000"/>
                </a:solidFill>
                <a:latin typeface="+mj-lt"/>
              </a:rPr>
              <a:t>)</a:t>
            </a:r>
            <a:endParaRPr lang="ko-KR" altLang="en-US" sz="1400" b="1" dirty="0">
              <a:latin typeface="+mj-lt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50C44AB-63BA-F7BC-01F4-C9BBAEE91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14" y="4498362"/>
            <a:ext cx="1893155" cy="180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37DEC-2068-8F1A-82D5-2F93B425A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1CF346-2CA5-F86F-0D4C-23C9E6B3983C}"/>
              </a:ext>
            </a:extLst>
          </p:cNvPr>
          <p:cNvSpPr txBox="1"/>
          <p:nvPr/>
        </p:nvSpPr>
        <p:spPr>
          <a:xfrm>
            <a:off x="309710" y="791115"/>
            <a:ext cx="2876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1-2. QR </a:t>
            </a:r>
            <a:r>
              <a:rPr lang="ko-KR" altLang="en-US" sz="1400" b="1" dirty="0"/>
              <a:t>스캔으로 자동 접속 방식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1DBC0-838B-C013-9BFF-72F580B29990}"/>
              </a:ext>
            </a:extLst>
          </p:cNvPr>
          <p:cNvSpPr txBox="1"/>
          <p:nvPr/>
        </p:nvSpPr>
        <p:spPr>
          <a:xfrm>
            <a:off x="309710" y="280384"/>
            <a:ext cx="28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블루투스 연결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299825-62EA-E4A4-95F8-8BC0B364B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882" y="1855846"/>
            <a:ext cx="1747059" cy="360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18BF26B-2FAE-AEDB-8A39-C0264753C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396" y="1855846"/>
            <a:ext cx="1747059" cy="3600000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60470608-951B-568D-6E9F-DA8B46BBDE90}"/>
              </a:ext>
            </a:extLst>
          </p:cNvPr>
          <p:cNvSpPr/>
          <p:nvPr/>
        </p:nvSpPr>
        <p:spPr>
          <a:xfrm>
            <a:off x="2712450" y="3204679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70DD485-0F0F-EDAA-7B8F-5E5495583642}"/>
              </a:ext>
            </a:extLst>
          </p:cNvPr>
          <p:cNvSpPr/>
          <p:nvPr/>
        </p:nvSpPr>
        <p:spPr>
          <a:xfrm>
            <a:off x="854617" y="3154831"/>
            <a:ext cx="1703443" cy="3714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3763765-CB8A-370A-A641-8CEE5DF73427}"/>
              </a:ext>
            </a:extLst>
          </p:cNvPr>
          <p:cNvSpPr/>
          <p:nvPr/>
        </p:nvSpPr>
        <p:spPr>
          <a:xfrm>
            <a:off x="3145478" y="3467225"/>
            <a:ext cx="1661977" cy="2616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8B3288EB-1455-1114-2A23-83F6C888B3C6}"/>
              </a:ext>
            </a:extLst>
          </p:cNvPr>
          <p:cNvSpPr/>
          <p:nvPr/>
        </p:nvSpPr>
        <p:spPr>
          <a:xfrm>
            <a:off x="4892537" y="3466289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E462266-C406-4E19-B23C-08682DB5D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833" y="1621384"/>
            <a:ext cx="2457371" cy="452426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C5A13CB0-8CBD-8D07-385A-CF831E6E74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360" y="660939"/>
            <a:ext cx="1009472" cy="5241636"/>
          </a:xfrm>
          <a:prstGeom prst="rect">
            <a:avLst/>
          </a:prstGeom>
        </p:spPr>
      </p:pic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722A4B82-CE7C-71AD-7825-0FB4B4813ABD}"/>
              </a:ext>
            </a:extLst>
          </p:cNvPr>
          <p:cNvCxnSpPr>
            <a:cxnSpLocks/>
            <a:stCxn id="33" idx="1"/>
          </p:cNvCxnSpPr>
          <p:nvPr/>
        </p:nvCxnSpPr>
        <p:spPr>
          <a:xfrm rot="10800000">
            <a:off x="7555368" y="2741935"/>
            <a:ext cx="2287993" cy="5398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C9F0B5F-E083-A80A-278C-7B8E386ED319}"/>
              </a:ext>
            </a:extLst>
          </p:cNvPr>
          <p:cNvSpPr txBox="1"/>
          <p:nvPr/>
        </p:nvSpPr>
        <p:spPr>
          <a:xfrm>
            <a:off x="7726203" y="2469098"/>
            <a:ext cx="1754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스크롤 다운 이미지 삽입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B4AE29-97AC-3D1C-C822-71B34F194EC7}"/>
              </a:ext>
            </a:extLst>
          </p:cNvPr>
          <p:cNvSpPr txBox="1"/>
          <p:nvPr/>
        </p:nvSpPr>
        <p:spPr>
          <a:xfrm>
            <a:off x="8566797" y="3851259"/>
            <a:ext cx="8257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QR </a:t>
            </a:r>
            <a:r>
              <a:rPr lang="ko-KR" altLang="en-US" sz="1100" b="1" dirty="0"/>
              <a:t>스캔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59E0E21-A501-1FE4-74FF-664AD337DCC8}"/>
              </a:ext>
            </a:extLst>
          </p:cNvPr>
          <p:cNvSpPr/>
          <p:nvPr/>
        </p:nvSpPr>
        <p:spPr>
          <a:xfrm>
            <a:off x="5292222" y="3752713"/>
            <a:ext cx="2373376" cy="2616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0AA67436-EE0C-8C8B-20B1-76C4E69745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8738" y="4420639"/>
            <a:ext cx="1159986" cy="2111076"/>
          </a:xfrm>
          <a:prstGeom prst="rect">
            <a:avLst/>
          </a:prstGeom>
        </p:spPr>
      </p:pic>
      <p:sp>
        <p:nvSpPr>
          <p:cNvPr id="12" name="화살표: 위로 굽음 11">
            <a:extLst>
              <a:ext uri="{FF2B5EF4-FFF2-40B4-BE49-F238E27FC236}">
                <a16:creationId xmlns:a16="http://schemas.microsoft.com/office/drawing/2014/main" id="{3FD70D9C-87DD-269A-E2D7-EAAC46B0F3C2}"/>
              </a:ext>
            </a:extLst>
          </p:cNvPr>
          <p:cNvSpPr/>
          <p:nvPr/>
        </p:nvSpPr>
        <p:spPr>
          <a:xfrm rot="10800000" flipH="1">
            <a:off x="7791676" y="3782428"/>
            <a:ext cx="825747" cy="539826"/>
          </a:xfrm>
          <a:prstGeom prst="bentUpArrow">
            <a:avLst>
              <a:gd name="adj1" fmla="val 25000"/>
              <a:gd name="adj2" fmla="val 23441"/>
              <a:gd name="adj3" fmla="val 3196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516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3485-E596-E5DB-D4D7-881B7BD1E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8C5CBD-9712-0382-1192-6DC57081AAB6}"/>
              </a:ext>
            </a:extLst>
          </p:cNvPr>
          <p:cNvSpPr txBox="1"/>
          <p:nvPr/>
        </p:nvSpPr>
        <p:spPr>
          <a:xfrm>
            <a:off x="309710" y="280384"/>
            <a:ext cx="28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블루투스 연결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69D31E73-4C73-B833-F854-AF515A844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30" y="1737529"/>
            <a:ext cx="1769788" cy="3220866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B50DF810-D22A-E191-9836-52DAC558F52A}"/>
              </a:ext>
            </a:extLst>
          </p:cNvPr>
          <p:cNvSpPr/>
          <p:nvPr/>
        </p:nvSpPr>
        <p:spPr>
          <a:xfrm>
            <a:off x="1776335" y="3846185"/>
            <a:ext cx="867561" cy="34174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586341-EF95-210B-D32A-95C3EE49D791}"/>
              </a:ext>
            </a:extLst>
          </p:cNvPr>
          <p:cNvSpPr txBox="1"/>
          <p:nvPr/>
        </p:nvSpPr>
        <p:spPr>
          <a:xfrm>
            <a:off x="309710" y="5114243"/>
            <a:ext cx="229435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u="sng" dirty="0">
                <a:solidFill>
                  <a:srgbClr val="000000"/>
                </a:solidFill>
                <a:latin typeface="+mj-lt"/>
              </a:rPr>
              <a:t>Register Device </a:t>
            </a:r>
            <a:r>
              <a:rPr lang="ko-KR" altLang="en-US" sz="1100" b="1" u="sng" dirty="0">
                <a:solidFill>
                  <a:srgbClr val="000000"/>
                </a:solidFill>
                <a:latin typeface="+mj-lt"/>
              </a:rPr>
              <a:t>클릭의 기능 </a:t>
            </a:r>
            <a:r>
              <a:rPr lang="en-US" altLang="ko-KR" sz="1100" b="1" dirty="0">
                <a:solidFill>
                  <a:srgbClr val="000000"/>
                </a:solidFill>
                <a:latin typeface="+mj-lt"/>
              </a:rPr>
              <a:t>SC_04_01-Serial Number</a:t>
            </a:r>
            <a:r>
              <a:rPr lang="ko-KR" altLang="en-US" sz="1100" b="1" dirty="0">
                <a:solidFill>
                  <a:srgbClr val="000000"/>
                </a:solidFill>
                <a:latin typeface="+mj-lt"/>
              </a:rPr>
              <a:t>에 있는 </a:t>
            </a:r>
            <a:r>
              <a:rPr lang="en-US" altLang="ko-KR" sz="1100" b="1" dirty="0">
                <a:solidFill>
                  <a:srgbClr val="000000"/>
                </a:solidFill>
                <a:latin typeface="+mj-lt"/>
              </a:rPr>
              <a:t>SAVE &amp; SYNC </a:t>
            </a:r>
            <a:r>
              <a:rPr lang="ko-KR" altLang="en-US" sz="1100" b="1" dirty="0">
                <a:solidFill>
                  <a:srgbClr val="000000"/>
                </a:solidFill>
                <a:latin typeface="+mj-lt"/>
              </a:rPr>
              <a:t>저장기능과 동일</a:t>
            </a:r>
            <a:r>
              <a:rPr lang="en-US" altLang="ko-KR" sz="1100" b="1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r>
              <a:rPr lang="en-US" altLang="ko-KR" sz="1100" b="1" dirty="0">
                <a:solidFill>
                  <a:srgbClr val="000000"/>
                </a:solidFill>
                <a:latin typeface="+mj-lt"/>
              </a:rPr>
              <a:t>(</a:t>
            </a:r>
            <a:r>
              <a:rPr lang="ko-KR" altLang="en-US" sz="1100" b="1" dirty="0">
                <a:solidFill>
                  <a:srgbClr val="000000"/>
                </a:solidFill>
                <a:latin typeface="+mj-lt"/>
              </a:rPr>
              <a:t>최초 시리얼번호 데이터 베이스저장</a:t>
            </a:r>
            <a:r>
              <a:rPr lang="en-US" altLang="ko-KR" sz="1100" b="1" dirty="0">
                <a:solidFill>
                  <a:srgbClr val="000000"/>
                </a:solidFill>
                <a:latin typeface="+mj-lt"/>
              </a:rPr>
              <a:t>)</a:t>
            </a:r>
            <a:endParaRPr lang="ko-KR" altLang="en-US" sz="1100" b="1" dirty="0">
              <a:latin typeface="+mj-lt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E37CECE-0E1E-0E73-D9BA-2E52C8F3C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047" y="4588449"/>
            <a:ext cx="1248002" cy="1872002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C6BEA78-D1B4-20BB-D7FA-F7FC8A522A2C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2516845" y="4137883"/>
            <a:ext cx="595810" cy="1915079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6423C05F-CE51-C061-214F-A8DB2CDCF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144" y="1959365"/>
            <a:ext cx="1827191" cy="23373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1AB8AB0-9C03-291F-E197-FEBC8569B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965" y="1959365"/>
            <a:ext cx="1747059" cy="3600000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7091079B-E58F-6652-B5CD-43A1C258A7AF}"/>
              </a:ext>
            </a:extLst>
          </p:cNvPr>
          <p:cNvSpPr/>
          <p:nvPr/>
        </p:nvSpPr>
        <p:spPr>
          <a:xfrm>
            <a:off x="2734740" y="3886253"/>
            <a:ext cx="976615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9273C374-3271-F349-A568-6853C2C224EA}"/>
              </a:ext>
            </a:extLst>
          </p:cNvPr>
          <p:cNvSpPr/>
          <p:nvPr/>
        </p:nvSpPr>
        <p:spPr>
          <a:xfrm>
            <a:off x="5810486" y="2997253"/>
            <a:ext cx="188099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7FA567-9F26-4702-34D9-B50F6605AE4D}"/>
              </a:ext>
            </a:extLst>
          </p:cNvPr>
          <p:cNvSpPr txBox="1"/>
          <p:nvPr/>
        </p:nvSpPr>
        <p:spPr>
          <a:xfrm>
            <a:off x="3978503" y="4819471"/>
            <a:ext cx="194493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디바이스가 블루투스를 통해 휴대폰에 연결을 시작합니다</a:t>
            </a:r>
            <a:r>
              <a:rPr lang="en-US" altLang="ko-KR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연결 시 신호음이나 </a:t>
            </a:r>
            <a:r>
              <a:rPr lang="ko-KR" altLang="en-US" sz="1100" b="1" kern="100" dirty="0">
                <a:solidFill>
                  <a:srgbClr val="FF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진동이 느껴지게 </a:t>
            </a:r>
            <a:r>
              <a:rPr lang="ko-KR" altLang="en-US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동작되며</a:t>
            </a:r>
            <a:r>
              <a:rPr lang="en-US" altLang="ko-KR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연결이 완료되면 워밍업 페이지로 자동 이동합니다</a:t>
            </a:r>
            <a:r>
              <a:rPr lang="en-US" altLang="ko-KR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1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54F99A8-D811-886A-4AAA-A2A0394A3C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8782" y="1959365"/>
            <a:ext cx="1752600" cy="360045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DF20619-4B8A-5F33-6E96-BBD5374CAD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5275" y="1959365"/>
            <a:ext cx="1747059" cy="3600000"/>
          </a:xfrm>
          <a:prstGeom prst="rect">
            <a:avLst/>
          </a:prstGeom>
        </p:spPr>
      </p:pic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C73E5458-5510-0223-F89C-709EC57432D2}"/>
              </a:ext>
            </a:extLst>
          </p:cNvPr>
          <p:cNvSpPr/>
          <p:nvPr/>
        </p:nvSpPr>
        <p:spPr>
          <a:xfrm>
            <a:off x="7807024" y="2997252"/>
            <a:ext cx="188099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501647A2-30E7-7BF0-6115-366EBAFFCEAF}"/>
              </a:ext>
            </a:extLst>
          </p:cNvPr>
          <p:cNvSpPr/>
          <p:nvPr/>
        </p:nvSpPr>
        <p:spPr>
          <a:xfrm>
            <a:off x="9904279" y="2997252"/>
            <a:ext cx="188099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058CAD-7F78-0C2F-C84B-22B967DA38AE}"/>
              </a:ext>
            </a:extLst>
          </p:cNvPr>
          <p:cNvSpPr txBox="1"/>
          <p:nvPr/>
        </p:nvSpPr>
        <p:spPr>
          <a:xfrm>
            <a:off x="3940708" y="4457644"/>
            <a:ext cx="2168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ko-KR" sz="1100" b="1" dirty="0">
                <a:solidFill>
                  <a:srgbClr val="FF0000"/>
                </a:solidFill>
              </a:rPr>
              <a:t>Bluetooth Activation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2C58F-DE94-E71F-7142-474CD0CB27DB}"/>
              </a:ext>
            </a:extLst>
          </p:cNvPr>
          <p:cNvSpPr txBox="1"/>
          <p:nvPr/>
        </p:nvSpPr>
        <p:spPr>
          <a:xfrm>
            <a:off x="309710" y="791115"/>
            <a:ext cx="2876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1-2. QR </a:t>
            </a:r>
            <a:r>
              <a:rPr lang="ko-KR" altLang="en-US" sz="1400" b="1" dirty="0"/>
              <a:t>스캔으로 자동 접속 방식</a:t>
            </a:r>
          </a:p>
        </p:txBody>
      </p:sp>
    </p:spTree>
    <p:extLst>
      <p:ext uri="{BB962C8B-B14F-4D97-AF65-F5344CB8AC3E}">
        <p14:creationId xmlns:p14="http://schemas.microsoft.com/office/powerpoint/2010/main" val="2970394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4226F-1F2B-5CF3-E924-B8824F71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26C84D-D061-CCF8-6C37-1A9E85B30AC1}"/>
              </a:ext>
            </a:extLst>
          </p:cNvPr>
          <p:cNvSpPr txBox="1"/>
          <p:nvPr/>
        </p:nvSpPr>
        <p:spPr>
          <a:xfrm>
            <a:off x="309710" y="280384"/>
            <a:ext cx="160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Sensor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CD3A64-D452-B2B0-A2D8-F7ECB4D5C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10" y="2553446"/>
            <a:ext cx="1747059" cy="360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FF69D0C-C5EF-2D59-4009-2E53955A5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410" y="2553446"/>
            <a:ext cx="1747059" cy="360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1D7C1F8-1CBD-D101-0101-162E2B732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811" y="2553446"/>
            <a:ext cx="1747059" cy="3600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CF83F75-1398-C283-A280-1D462E4D4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343" y="2553446"/>
            <a:ext cx="1747059" cy="360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59111DD-C90A-2CB1-1CC1-56FC24A14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7875" y="2553446"/>
            <a:ext cx="1747059" cy="36000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52A639DA-7AA7-5A1C-FC18-A4FABA16AC46}"/>
              </a:ext>
            </a:extLst>
          </p:cNvPr>
          <p:cNvSpPr/>
          <p:nvPr/>
        </p:nvSpPr>
        <p:spPr>
          <a:xfrm>
            <a:off x="424010" y="4210602"/>
            <a:ext cx="1747058" cy="33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3E622DC-5572-4A29-FF08-5768DE35800C}"/>
              </a:ext>
            </a:extLst>
          </p:cNvPr>
          <p:cNvSpPr/>
          <p:nvPr/>
        </p:nvSpPr>
        <p:spPr>
          <a:xfrm>
            <a:off x="4880812" y="4543978"/>
            <a:ext cx="1747058" cy="33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60A9634-44CA-82DC-0946-0A3A8F20D5CA}"/>
              </a:ext>
            </a:extLst>
          </p:cNvPr>
          <p:cNvSpPr/>
          <p:nvPr/>
        </p:nvSpPr>
        <p:spPr>
          <a:xfrm>
            <a:off x="7209106" y="4437714"/>
            <a:ext cx="1747058" cy="33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1540BC7-3EF4-41BE-89AF-FC068DEE00F5}"/>
              </a:ext>
            </a:extLst>
          </p:cNvPr>
          <p:cNvSpPr/>
          <p:nvPr/>
        </p:nvSpPr>
        <p:spPr>
          <a:xfrm>
            <a:off x="9388113" y="2929929"/>
            <a:ext cx="1747058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7B1658-CC2B-2F44-E9BB-2B1732F9ADCD}"/>
              </a:ext>
            </a:extLst>
          </p:cNvPr>
          <p:cNvSpPr txBox="1"/>
          <p:nvPr/>
        </p:nvSpPr>
        <p:spPr>
          <a:xfrm>
            <a:off x="350090" y="1085737"/>
            <a:ext cx="11491819" cy="114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 dirty="0"/>
              <a:t>현재 방식은 </a:t>
            </a:r>
            <a:r>
              <a:rPr lang="en-US" altLang="ko-KR" sz="1200" b="1" dirty="0"/>
              <a:t>Serial Number </a:t>
            </a:r>
            <a:r>
              <a:rPr lang="en-US" altLang="ko-KR" sz="1200" b="1" dirty="0">
                <a:sym typeface="Wingdings" panose="05000000000000000000" pitchFamily="2" charset="2"/>
              </a:rPr>
              <a:t> QR</a:t>
            </a:r>
            <a:r>
              <a:rPr lang="ko-KR" altLang="en-US" sz="1200" b="1" dirty="0">
                <a:sym typeface="Wingdings" panose="05000000000000000000" pitchFamily="2" charset="2"/>
              </a:rPr>
              <a:t> 스캔 후 </a:t>
            </a:r>
            <a:r>
              <a:rPr lang="en-US" altLang="ko-KR" sz="1200" b="1" dirty="0">
                <a:sym typeface="Wingdings" panose="05000000000000000000" pitchFamily="2" charset="2"/>
              </a:rPr>
              <a:t>SAVE &amp; SYNC  Start Time  [SAVE] </a:t>
            </a:r>
            <a:r>
              <a:rPr lang="ko-KR" altLang="en-US" sz="1200" b="1" dirty="0">
                <a:sym typeface="Wingdings" panose="05000000000000000000" pitchFamily="2" charset="2"/>
              </a:rPr>
              <a:t>클릭</a:t>
            </a:r>
            <a:r>
              <a:rPr lang="en-US" altLang="ko-KR" sz="1200" b="1" dirty="0">
                <a:sym typeface="Wingdings" panose="05000000000000000000" pitchFamily="2" charset="2"/>
              </a:rPr>
              <a:t>  Start Time</a:t>
            </a:r>
            <a:r>
              <a:rPr lang="ko-KR" altLang="en-US" sz="1200" b="1" dirty="0">
                <a:sym typeface="Wingdings" panose="05000000000000000000" pitchFamily="2" charset="2"/>
              </a:rPr>
              <a:t> 연동이 되고 있습니다</a:t>
            </a:r>
            <a:r>
              <a:rPr lang="en-US" altLang="ko-KR" sz="1200" b="1" dirty="0">
                <a:sym typeface="Wingdings" panose="05000000000000000000" pitchFamily="2" charset="2"/>
              </a:rPr>
              <a:t>. </a:t>
            </a:r>
            <a:r>
              <a:rPr lang="en-US" altLang="ko-KR" b="1" dirty="0">
                <a:sym typeface="Wingdings" panose="05000000000000000000" pitchFamily="2" charset="2"/>
              </a:rPr>
              <a:t>(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X </a:t>
            </a:r>
            <a:r>
              <a:rPr lang="en-US" altLang="ko-KR" b="1" dirty="0">
                <a:sym typeface="Wingdings" panose="05000000000000000000" pitchFamily="2" charset="2"/>
              </a:rPr>
              <a:t>) </a:t>
            </a:r>
            <a:r>
              <a:rPr lang="en-US" altLang="ko-KR" sz="1200" b="1" dirty="0">
                <a:sym typeface="Wingdings" panose="05000000000000000000" pitchFamily="2" charset="2"/>
              </a:rPr>
              <a:t>– </a:t>
            </a:r>
            <a:r>
              <a:rPr lang="ko-KR" altLang="en-US" sz="1200" b="1" dirty="0">
                <a:sym typeface="Wingdings" panose="05000000000000000000" pitchFamily="2" charset="2"/>
              </a:rPr>
              <a:t>아래 이미지  순서 참고</a:t>
            </a:r>
            <a:endParaRPr lang="en-US" altLang="ko-KR" sz="12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 dirty="0"/>
              <a:t>그러나</a:t>
            </a:r>
            <a:r>
              <a:rPr lang="en-US" altLang="ko-KR" sz="1200" b="1" dirty="0"/>
              <a:t>, </a:t>
            </a:r>
            <a:r>
              <a:rPr lang="en-US" altLang="ko-KR" sz="1200" b="1" dirty="0">
                <a:sym typeface="Wingdings" panose="05000000000000000000" pitchFamily="2" charset="2"/>
              </a:rPr>
              <a:t>Start</a:t>
            </a:r>
            <a:r>
              <a:rPr lang="ko-KR" altLang="en-US" sz="1200" b="1" dirty="0">
                <a:sym typeface="Wingdings" panose="05000000000000000000" pitchFamily="2" charset="2"/>
              </a:rPr>
              <a:t> </a:t>
            </a:r>
            <a:r>
              <a:rPr lang="en-US" altLang="ko-KR" sz="1200" b="1" dirty="0">
                <a:sym typeface="Wingdings" panose="05000000000000000000" pitchFamily="2" charset="2"/>
              </a:rPr>
              <a:t>Time</a:t>
            </a:r>
            <a:r>
              <a:rPr lang="ko-KR" altLang="en-US" sz="1200" b="1" dirty="0">
                <a:sym typeface="Wingdings" panose="05000000000000000000" pitchFamily="2" charset="2"/>
              </a:rPr>
              <a:t>을 소비자가 저장하지 않고 </a:t>
            </a:r>
            <a:r>
              <a:rPr lang="en-US" altLang="ko-KR" sz="1200" b="1" dirty="0"/>
              <a:t>Sensor </a:t>
            </a:r>
            <a:r>
              <a:rPr lang="ko-KR" altLang="en-US" sz="1200" b="1" dirty="0"/>
              <a:t>연결 후 </a:t>
            </a:r>
            <a:r>
              <a:rPr lang="en-US" altLang="ko-KR" sz="1200" b="1" dirty="0"/>
              <a:t>BT</a:t>
            </a:r>
            <a:r>
              <a:rPr lang="ko-KR" altLang="en-US" sz="1200" b="1" dirty="0"/>
              <a:t>가 연결된 시간으로 자동으로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동기화 되도록 합니다</a:t>
            </a:r>
            <a:r>
              <a:rPr lang="en-US" altLang="ko-KR" sz="1200" b="1" dirty="0"/>
              <a:t>. </a:t>
            </a:r>
            <a:r>
              <a:rPr lang="en-US" altLang="ko-KR" b="1" dirty="0"/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O</a:t>
            </a:r>
            <a:r>
              <a:rPr lang="en-US" altLang="ko-KR" b="1" dirty="0"/>
              <a:t>)</a:t>
            </a:r>
            <a:endParaRPr lang="en-US" altLang="ko-KR" sz="1100" b="1" dirty="0"/>
          </a:p>
          <a:p>
            <a:pPr lvl="1">
              <a:lnSpc>
                <a:spcPct val="150000"/>
              </a:lnSpc>
            </a:pPr>
            <a:endParaRPr lang="en-US" altLang="ko-KR" sz="1100" b="1" dirty="0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77C2C519-B5C0-513E-4C10-25B5C35136AE}"/>
              </a:ext>
            </a:extLst>
          </p:cNvPr>
          <p:cNvSpPr/>
          <p:nvPr/>
        </p:nvSpPr>
        <p:spPr>
          <a:xfrm>
            <a:off x="2241573" y="4283826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1207755E-23BE-6599-FD40-967B169EA9CF}"/>
              </a:ext>
            </a:extLst>
          </p:cNvPr>
          <p:cNvSpPr/>
          <p:nvPr/>
        </p:nvSpPr>
        <p:spPr>
          <a:xfrm>
            <a:off x="4399469" y="4283826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F1A08D82-5905-9052-8435-91919FB72FA5}"/>
              </a:ext>
            </a:extLst>
          </p:cNvPr>
          <p:cNvSpPr/>
          <p:nvPr/>
        </p:nvSpPr>
        <p:spPr>
          <a:xfrm>
            <a:off x="6698745" y="4283826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265B3CCD-DB49-63AC-3E44-79EFA461375C}"/>
              </a:ext>
            </a:extLst>
          </p:cNvPr>
          <p:cNvSpPr/>
          <p:nvPr/>
        </p:nvSpPr>
        <p:spPr>
          <a:xfrm>
            <a:off x="9069734" y="4283825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2FC794-C372-F292-4A26-EE6465BFA448}"/>
              </a:ext>
            </a:extLst>
          </p:cNvPr>
          <p:cNvSpPr txBox="1"/>
          <p:nvPr/>
        </p:nvSpPr>
        <p:spPr>
          <a:xfrm>
            <a:off x="309710" y="711852"/>
            <a:ext cx="2876835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/>
              <a:t>2-1. Start Time </a:t>
            </a:r>
            <a:r>
              <a:rPr lang="ko-KR" altLang="en-US" sz="1400" b="1" dirty="0"/>
              <a:t>동기화 관련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3170317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E4259-4ED7-2A02-37A4-9CA4CC6D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1A4EB8-15F9-7FEC-3FD2-E7E020E22EF7}"/>
              </a:ext>
            </a:extLst>
          </p:cNvPr>
          <p:cNvSpPr txBox="1"/>
          <p:nvPr/>
        </p:nvSpPr>
        <p:spPr>
          <a:xfrm>
            <a:off x="5105975" y="1999374"/>
            <a:ext cx="5650906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3-1. Alerts (AR_01_01) </a:t>
            </a:r>
            <a:r>
              <a:rPr lang="ko-KR" altLang="en-US" sz="1200" b="1" dirty="0"/>
              <a:t>부분의 전체 기능 저장관련</a:t>
            </a: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ko-KR" altLang="en-US" sz="1200" b="1" dirty="0">
                <a:solidFill>
                  <a:srgbClr val="0070C0"/>
                </a:solidFill>
                <a:sym typeface="Wingdings" panose="05000000000000000000" pitchFamily="2" charset="2"/>
              </a:rPr>
              <a:t>저장 기능 반영완료</a:t>
            </a:r>
            <a:endParaRPr lang="en-US" altLang="ko-KR" sz="1200" b="1" dirty="0">
              <a:solidFill>
                <a:srgbClr val="0070C0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ko-KR" alt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버튼 터치 후 화면변경까지 약 </a:t>
            </a:r>
            <a:r>
              <a:rPr lang="en-US" altLang="ko-KR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3~4</a:t>
            </a:r>
            <a:r>
              <a:rPr lang="ko-KR" alt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초 딜레이 되고 있음</a:t>
            </a:r>
            <a:r>
              <a:rPr lang="en-US" altLang="ko-KR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. </a:t>
            </a:r>
            <a:r>
              <a:rPr lang="ko-KR" alt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빠른 화면 전환 요청</a:t>
            </a:r>
            <a:endParaRPr lang="en-US" altLang="ko-KR" sz="1200" b="1" dirty="0">
              <a:solidFill>
                <a:srgbClr val="FF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D50911-64ED-D922-AF9C-35C40E374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754" y="899666"/>
            <a:ext cx="2774373" cy="57168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8782C0-8CD4-0E03-F4C0-77BFC147B6FE}"/>
              </a:ext>
            </a:extLst>
          </p:cNvPr>
          <p:cNvSpPr txBox="1"/>
          <p:nvPr/>
        </p:nvSpPr>
        <p:spPr>
          <a:xfrm>
            <a:off x="309710" y="280384"/>
            <a:ext cx="160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Alarm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67163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B3301-0F58-6A2F-768D-9BA021572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2EA936-CD0E-5B5A-D84D-2E22FBD16E5D}"/>
              </a:ext>
            </a:extLst>
          </p:cNvPr>
          <p:cNvSpPr txBox="1"/>
          <p:nvPr/>
        </p:nvSpPr>
        <p:spPr>
          <a:xfrm>
            <a:off x="7233041" y="1085559"/>
            <a:ext cx="3889206" cy="821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/>
              <a:t>High (AR_01_03),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Low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(AR_01_04) </a:t>
            </a:r>
            <a:r>
              <a:rPr lang="ko-KR" altLang="en-US" sz="1100" b="1" dirty="0"/>
              <a:t>각각의 고혈당 값과</a:t>
            </a:r>
            <a:endParaRPr lang="en-US" altLang="ko-KR" sz="1100" b="1" dirty="0"/>
          </a:p>
          <a:p>
            <a:pPr>
              <a:lnSpc>
                <a:spcPct val="150000"/>
              </a:lnSpc>
            </a:pPr>
            <a:r>
              <a:rPr lang="ko-KR" altLang="en-US" sz="1100" b="1" dirty="0"/>
              <a:t>저혈당 값을 입력 하였을 때 메인 화면 상 고혈당 라인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및 </a:t>
            </a:r>
            <a:endParaRPr lang="en-US" altLang="ko-KR" sz="1100" b="1" dirty="0"/>
          </a:p>
          <a:p>
            <a:pPr>
              <a:lnSpc>
                <a:spcPct val="150000"/>
              </a:lnSpc>
            </a:pPr>
            <a:r>
              <a:rPr lang="ko-KR" altLang="en-US" sz="1100" b="1" dirty="0"/>
              <a:t>저혈당 라인이 입력한 값에 맞게 변경되어야 함</a:t>
            </a:r>
            <a:endParaRPr lang="en-US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D77BA-AE39-DEB3-6DC4-ACF5382D29DF}"/>
              </a:ext>
            </a:extLst>
          </p:cNvPr>
          <p:cNvSpPr txBox="1"/>
          <p:nvPr/>
        </p:nvSpPr>
        <p:spPr>
          <a:xfrm>
            <a:off x="259325" y="285727"/>
            <a:ext cx="3079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미 구현 사항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AF0FD0-8A48-DF3E-CA4E-EF7DB1CDD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899667"/>
            <a:ext cx="2774373" cy="57168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2BD2600-BC52-33EB-DCF8-371CB16A7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752" y="899667"/>
            <a:ext cx="2774373" cy="571688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1983976-65A7-097E-D711-7D7AAD1332AC}"/>
              </a:ext>
            </a:extLst>
          </p:cNvPr>
          <p:cNvSpPr/>
          <p:nvPr/>
        </p:nvSpPr>
        <p:spPr>
          <a:xfrm>
            <a:off x="495299" y="2553854"/>
            <a:ext cx="2774373" cy="4941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3815F8-0BEF-0B29-EDCF-8182FAE49E17}"/>
              </a:ext>
            </a:extLst>
          </p:cNvPr>
          <p:cNvSpPr/>
          <p:nvPr/>
        </p:nvSpPr>
        <p:spPr>
          <a:xfrm>
            <a:off x="495299" y="3117560"/>
            <a:ext cx="2774373" cy="4941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80F1EE1-696F-FA12-1566-EF6A03FA4F9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269672" y="2800927"/>
            <a:ext cx="877455" cy="3844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9D8D362-D41E-82A8-B5C3-11586F817AB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269672" y="3364633"/>
            <a:ext cx="877455" cy="5423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A68037C-4D1E-4F6F-BB5B-64E7977BE504}"/>
              </a:ext>
            </a:extLst>
          </p:cNvPr>
          <p:cNvSpPr txBox="1"/>
          <p:nvPr/>
        </p:nvSpPr>
        <p:spPr>
          <a:xfrm>
            <a:off x="6921500" y="3048000"/>
            <a:ext cx="3597460" cy="313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FF0000"/>
                </a:solidFill>
              </a:rPr>
              <a:t>High (AR_01_03)</a:t>
            </a:r>
            <a:r>
              <a:rPr lang="ko-KR" altLang="en-US" sz="1100" b="1" dirty="0">
                <a:solidFill>
                  <a:srgbClr val="FF0000"/>
                </a:solidFill>
              </a:rPr>
              <a:t>의 설정 값에 맞게 혈당 라인 반영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917120-CD4D-401D-274C-A293DAF399FD}"/>
              </a:ext>
            </a:extLst>
          </p:cNvPr>
          <p:cNvSpPr txBox="1"/>
          <p:nvPr/>
        </p:nvSpPr>
        <p:spPr>
          <a:xfrm>
            <a:off x="6921500" y="3750208"/>
            <a:ext cx="3549370" cy="313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FF0000"/>
                </a:solidFill>
              </a:rPr>
              <a:t>Low (AR_01_03)</a:t>
            </a:r>
            <a:r>
              <a:rPr lang="ko-KR" altLang="en-US" sz="1100" b="1" dirty="0">
                <a:solidFill>
                  <a:srgbClr val="FF0000"/>
                </a:solidFill>
              </a:rPr>
              <a:t>의 설정 값에 맞게 혈당 라인 반영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317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9435A-868E-77A9-2B31-6C2A2B76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B000D9-3ADF-5748-A36D-4485C556B772}"/>
              </a:ext>
            </a:extLst>
          </p:cNvPr>
          <p:cNvSpPr txBox="1"/>
          <p:nvPr/>
        </p:nvSpPr>
        <p:spPr>
          <a:xfrm>
            <a:off x="5404563" y="524618"/>
            <a:ext cx="6787436" cy="2746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100" b="1" dirty="0"/>
              <a:t>3. Setting</a:t>
            </a:r>
            <a:r>
              <a:rPr lang="ko-KR" altLang="en-US" sz="1100" b="1" dirty="0"/>
              <a:t>부분의 기능 저장 및 반영 안됨</a:t>
            </a:r>
            <a:endParaRPr lang="en-US" altLang="ko-KR" sz="1100" b="1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ko-KR" altLang="en-US" sz="1100" b="1" dirty="0">
                <a:sym typeface="Wingdings" panose="05000000000000000000" pitchFamily="2" charset="2"/>
              </a:rPr>
              <a:t>각각의</a:t>
            </a:r>
            <a:r>
              <a:rPr lang="en-US" altLang="ko-KR" sz="1100" b="1" dirty="0">
                <a:sym typeface="Wingdings" panose="05000000000000000000" pitchFamily="2" charset="2"/>
              </a:rPr>
              <a:t> </a:t>
            </a:r>
            <a:r>
              <a:rPr lang="ko-KR" altLang="en-US" sz="1100" b="1" dirty="0">
                <a:sym typeface="Wingdings" panose="05000000000000000000" pitchFamily="2" charset="2"/>
              </a:rPr>
              <a:t>화면 구성은 되어 있지만 각기능의 범위 및 버튼 설정이 저장이 되지 않음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Language : En</a:t>
            </a:r>
            <a:r>
              <a:rPr lang="ko-KR" altLang="en-US" sz="1100" b="1" dirty="0">
                <a:sym typeface="Wingdings" panose="05000000000000000000" pitchFamily="2" charset="2"/>
              </a:rPr>
              <a:t> 과 </a:t>
            </a:r>
            <a:r>
              <a:rPr lang="en-US" altLang="ko-KR" sz="1100" b="1" dirty="0" err="1">
                <a:sym typeface="Wingdings" panose="05000000000000000000" pitchFamily="2" charset="2"/>
              </a:rPr>
              <a:t>Ar</a:t>
            </a:r>
            <a:r>
              <a:rPr lang="ko-KR" altLang="en-US" sz="1100" b="1" dirty="0">
                <a:sym typeface="Wingdings" panose="05000000000000000000" pitchFamily="2" charset="2"/>
              </a:rPr>
              <a:t> 중 </a:t>
            </a:r>
            <a:r>
              <a:rPr lang="en-US" altLang="ko-KR" sz="1100" b="1" dirty="0" err="1">
                <a:sym typeface="Wingdings" panose="05000000000000000000" pitchFamily="2" charset="2"/>
              </a:rPr>
              <a:t>Ar</a:t>
            </a:r>
            <a:r>
              <a:rPr lang="en-US" altLang="ko-KR" sz="1100" b="1" dirty="0">
                <a:sym typeface="Wingdings" panose="05000000000000000000" pitchFamily="2" charset="2"/>
              </a:rPr>
              <a:t> </a:t>
            </a:r>
            <a:r>
              <a:rPr lang="ko-KR" altLang="en-US" sz="1100" b="1" dirty="0">
                <a:sym typeface="Wingdings" panose="05000000000000000000" pitchFamily="2" charset="2"/>
              </a:rPr>
              <a:t>설정 시 화면이 좌우 반전되는 문제가 발생 해당 기능은 언어 변경의 영역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</a:pPr>
            <a:r>
              <a:rPr lang="en-US" altLang="ko-KR" sz="1100" b="1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chemeClr val="accent1"/>
                </a:solidFill>
                <a:sym typeface="Wingdings" panose="05000000000000000000" pitchFamily="2" charset="2"/>
              </a:rPr>
              <a:t>개선 완료</a:t>
            </a:r>
            <a:endParaRPr lang="en-US" altLang="ko-KR" sz="1100" b="1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Time format : 24h, 12h </a:t>
            </a:r>
            <a:r>
              <a:rPr lang="ko-KR" altLang="en-US" sz="1100" b="1" dirty="0">
                <a:sym typeface="Wingdings" panose="05000000000000000000" pitchFamily="2" charset="2"/>
              </a:rPr>
              <a:t>변경 안됨 </a:t>
            </a:r>
            <a:r>
              <a:rPr lang="en-US" altLang="ko-KR" sz="1100" b="1" dirty="0">
                <a:sym typeface="Wingdings" panose="05000000000000000000" pitchFamily="2" charset="2"/>
              </a:rPr>
              <a:t>(24h</a:t>
            </a:r>
            <a:r>
              <a:rPr lang="ko-KR" altLang="en-US" sz="1100" b="1" dirty="0">
                <a:sym typeface="Wingdings" panose="05000000000000000000" pitchFamily="2" charset="2"/>
              </a:rPr>
              <a:t>로만 표시되는 문제</a:t>
            </a:r>
            <a:r>
              <a:rPr lang="en-US" altLang="ko-KR" sz="1100" b="1" dirty="0">
                <a:sym typeface="Wingdings" panose="05000000000000000000" pitchFamily="2" charset="2"/>
              </a:rPr>
              <a:t>)</a:t>
            </a:r>
          </a:p>
          <a:p>
            <a:pPr lvl="1">
              <a:lnSpc>
                <a:spcPct val="200000"/>
              </a:lnSpc>
            </a:pP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개선 안됨</a:t>
            </a:r>
            <a:endParaRPr lang="en-US" altLang="ko-KR" sz="11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Notification : </a:t>
            </a:r>
            <a:r>
              <a:rPr lang="ko-KR" altLang="en-US" sz="1100" b="1" dirty="0">
                <a:sym typeface="Wingdings" panose="05000000000000000000" pitchFamily="2" charset="2"/>
              </a:rPr>
              <a:t>버튼</a:t>
            </a:r>
            <a:r>
              <a:rPr lang="en-US" altLang="ko-KR" sz="1100" b="1" dirty="0">
                <a:sym typeface="Wingdings" panose="05000000000000000000" pitchFamily="2" charset="2"/>
              </a:rPr>
              <a:t> On/Off</a:t>
            </a:r>
            <a:r>
              <a:rPr lang="ko-KR" altLang="en-US" sz="1100" b="1" dirty="0">
                <a:sym typeface="Wingdings" panose="05000000000000000000" pitchFamily="2" charset="2"/>
              </a:rPr>
              <a:t> 저장 안됨</a:t>
            </a:r>
            <a:r>
              <a:rPr lang="en-US" altLang="ko-KR" sz="1100" b="1" dirty="0">
                <a:sym typeface="Wingdings" panose="05000000000000000000" pitchFamily="2" charset="2"/>
              </a:rPr>
              <a:t> </a:t>
            </a:r>
          </a:p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개선 안됨</a:t>
            </a:r>
            <a:endParaRPr lang="en-US" altLang="ko-KR" sz="1100" b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DFD0F6-F5E7-394C-BE2C-1D4CACD793E2}"/>
              </a:ext>
            </a:extLst>
          </p:cNvPr>
          <p:cNvSpPr txBox="1"/>
          <p:nvPr/>
        </p:nvSpPr>
        <p:spPr>
          <a:xfrm>
            <a:off x="235192" y="262666"/>
            <a:ext cx="310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미 구현 사항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ACA553-31B7-0103-C5E0-F41EFD88D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5997"/>
            <a:ext cx="2618002" cy="53946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FB15A6-0623-C16C-1D36-0604A6B04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982" y="1015998"/>
            <a:ext cx="2618002" cy="53946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314DDD-D6B6-CF79-24A6-E582B97D4988}"/>
              </a:ext>
            </a:extLst>
          </p:cNvPr>
          <p:cNvSpPr txBox="1"/>
          <p:nvPr/>
        </p:nvSpPr>
        <p:spPr>
          <a:xfrm>
            <a:off x="5404562" y="3271524"/>
            <a:ext cx="6096000" cy="342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Mute</a:t>
            </a:r>
            <a:r>
              <a:rPr lang="ko-KR" altLang="en-US" sz="1100" b="1" dirty="0">
                <a:sym typeface="Wingdings" panose="05000000000000000000" pitchFamily="2" charset="2"/>
              </a:rPr>
              <a:t> </a:t>
            </a:r>
            <a:r>
              <a:rPr lang="en-US" altLang="ko-KR" sz="1100" b="1" dirty="0">
                <a:sym typeface="Wingdings" panose="05000000000000000000" pitchFamily="2" charset="2"/>
              </a:rPr>
              <a:t>all</a:t>
            </a:r>
            <a:r>
              <a:rPr lang="ko-KR" altLang="en-US" sz="1100" b="1" dirty="0">
                <a:sym typeface="Wingdings" panose="05000000000000000000" pitchFamily="2" charset="2"/>
              </a:rPr>
              <a:t> </a:t>
            </a:r>
            <a:r>
              <a:rPr lang="en-US" altLang="ko-KR" sz="1100" b="1" dirty="0">
                <a:sym typeface="Wingdings" panose="05000000000000000000" pitchFamily="2" charset="2"/>
              </a:rPr>
              <a:t>alarms</a:t>
            </a:r>
            <a:r>
              <a:rPr lang="ko-KR" altLang="en-US" sz="1100" b="1" dirty="0">
                <a:sym typeface="Wingdings" panose="05000000000000000000" pitchFamily="2" charset="2"/>
              </a:rPr>
              <a:t> </a:t>
            </a:r>
            <a:r>
              <a:rPr lang="en-US" altLang="ko-KR" sz="1100" b="1" dirty="0">
                <a:sym typeface="Wingdings" panose="05000000000000000000" pitchFamily="2" charset="2"/>
              </a:rPr>
              <a:t>(AR_01_01) : </a:t>
            </a:r>
            <a:r>
              <a:rPr lang="ko-KR" altLang="en-US" sz="1100" b="1" dirty="0">
                <a:sym typeface="Wingdings" panose="05000000000000000000" pitchFamily="2" charset="2"/>
              </a:rPr>
              <a:t>버튼 </a:t>
            </a:r>
            <a:r>
              <a:rPr lang="en-US" altLang="ko-KR" sz="1100" b="1" dirty="0">
                <a:sym typeface="Wingdings" panose="05000000000000000000" pitchFamily="2" charset="2"/>
              </a:rPr>
              <a:t>On/Off </a:t>
            </a:r>
            <a:r>
              <a:rPr lang="ko-KR" altLang="en-US" sz="1100" b="1" dirty="0">
                <a:sym typeface="Wingdings" panose="05000000000000000000" pitchFamily="2" charset="2"/>
              </a:rPr>
              <a:t>저장 안됨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</a:pP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개선 안됨</a:t>
            </a:r>
            <a:endParaRPr lang="en-US" altLang="ko-KR" sz="11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Glucose unit : </a:t>
            </a:r>
            <a:r>
              <a:rPr lang="ko-KR" altLang="en-US" sz="1100" b="1" dirty="0">
                <a:sym typeface="Wingdings" panose="05000000000000000000" pitchFamily="2" charset="2"/>
              </a:rPr>
              <a:t>단위 변경 및 반영 안됨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</a:pP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단위 변경은 적용되지만 </a:t>
            </a: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Setting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화면상 </a:t>
            </a: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mg/dL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로 고정</a:t>
            </a:r>
            <a:endParaRPr lang="en-US" altLang="ko-KR" sz="11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Sensors : </a:t>
            </a:r>
            <a:r>
              <a:rPr lang="ko-KR" altLang="en-US" sz="1100" b="1" dirty="0">
                <a:sym typeface="Wingdings" panose="05000000000000000000" pitchFamily="2" charset="2"/>
              </a:rPr>
              <a:t>동작 되지 않음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</a:pP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개선 안됨</a:t>
            </a:r>
            <a:endParaRPr lang="en-US" altLang="ko-KR" sz="11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Alarms : </a:t>
            </a:r>
            <a:r>
              <a:rPr lang="ko-KR" altLang="en-US" sz="1100" b="1" dirty="0">
                <a:sym typeface="Wingdings" panose="05000000000000000000" pitchFamily="2" charset="2"/>
              </a:rPr>
              <a:t>동작 되지 않음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</a:pP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개선안됨</a:t>
            </a:r>
            <a:endParaRPr lang="en-US" altLang="ko-KR" sz="11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Accessibility : </a:t>
            </a:r>
            <a:r>
              <a:rPr lang="ko-KR" altLang="en-US" sz="1100" b="1" dirty="0">
                <a:sym typeface="Wingdings" panose="05000000000000000000" pitchFamily="2" charset="2"/>
              </a:rPr>
              <a:t>글자 폰트 저장 및 반영되지 않음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</a:pP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개선 안됨</a:t>
            </a:r>
            <a:endParaRPr lang="en-US" altLang="ko-KR" sz="1100" b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4145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540</Words>
  <Application>Microsoft Office PowerPoint</Application>
  <PresentationFormat>와이드스크린</PresentationFormat>
  <Paragraphs>75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기창 이</dc:creator>
  <cp:lastModifiedBy>EMPECS</cp:lastModifiedBy>
  <cp:revision>151</cp:revision>
  <dcterms:created xsi:type="dcterms:W3CDTF">2026-03-05T02:15:40Z</dcterms:created>
  <dcterms:modified xsi:type="dcterms:W3CDTF">2026-03-14T09:36:25Z</dcterms:modified>
</cp:coreProperties>
</file>