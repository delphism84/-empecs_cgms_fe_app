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09" r:id="rId2"/>
    <p:sldId id="315" r:id="rId3"/>
    <p:sldId id="316" r:id="rId4"/>
    <p:sldId id="317" r:id="rId5"/>
    <p:sldId id="318" r:id="rId6"/>
    <p:sldId id="308" r:id="rId7"/>
    <p:sldId id="314" r:id="rId8"/>
    <p:sldId id="304" r:id="rId9"/>
    <p:sldId id="299" r:id="rId10"/>
    <p:sldId id="312" r:id="rId11"/>
    <p:sldId id="311" r:id="rId12"/>
    <p:sldId id="300" r:id="rId13"/>
    <p:sldId id="302" r:id="rId14"/>
    <p:sldId id="305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921FA1-A4B6-4FDB-8989-2BCC42D9610A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27972A-AF33-4B5F-BAD6-7E1E21CE18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783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8BAFE-F266-AF26-29CB-E706D20C1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E983DE-349A-9C3F-21A2-ABA291DAE5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831E00-B2D0-5A87-93EB-381B592D3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104427-35C9-0289-B193-B46B3C044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7972A-AF33-4B5F-BAD6-7E1E21CE18A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606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F9C84-E270-01ED-A5A2-C12A9E5F3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65928A-9C12-978C-5A77-0E9EE51E6D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6BBC67-09A3-99AC-104C-A67CD1D15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6B10B2-92E8-CD3D-7E69-1E6464037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7972A-AF33-4B5F-BAD6-7E1E21CE18A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685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C20919-69AE-8D44-EA4B-1FB7B5A3FA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E737B1-27BE-F49E-3AD5-6725FA1019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529311-1467-939D-9C99-99B2F6940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67BE-A7DD-494C-BFEE-03AB0EBCDB68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465501-A270-08FC-8ECF-306115DF8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A5FFCE-F29C-38A1-5C16-975E7FDAE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E343-E846-49B9-B00A-5CE0436698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44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0C322A-940E-51F4-DF39-5B77942A9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8B18A6-E3BD-B93E-3DFF-2CFB9543D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EBF4BA-2FFC-2B94-1C00-5CD99C8B8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67BE-A7DD-494C-BFEE-03AB0EBCDB68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DA55E1-0553-FF9E-45D2-9703B9517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DB4322-AC08-7944-1A91-7D30BB242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E343-E846-49B9-B00A-5CE0436698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649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6BF0DE-2936-3A79-6B4A-7CBE3FF4B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F0D739-71E7-D610-F7E1-18E39DEDC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029D51-96B3-6CF8-05E6-D2CBDE910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67BE-A7DD-494C-BFEE-03AB0EBCDB68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FAD67A-7871-A9DF-AA04-155D5B56B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59103E-AFE0-04C7-E410-194406573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E343-E846-49B9-B00A-5CE0436698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800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12A4E7-6CF7-0016-D078-51A9D5A65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645C40-BC57-BEBE-6D91-04D3DCE584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7905ED-47B3-1D03-7FB0-9AC68D9E0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CAC5BA-5236-5AB5-A2FD-F494264C9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67BE-A7DD-494C-BFEE-03AB0EBCDB68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99DEF7-991B-E30C-47B6-5A12853DB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76AEB9-04FD-BAAE-D94F-702BFCADD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E343-E846-49B9-B00A-5CE0436698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912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D20C26-1A8B-792E-7104-34ABC2583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596253-2310-0062-C75C-32E6CF62A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4D6C0A-8795-DB0B-2E51-D70A9756B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C7725F-42A8-B87F-4EA8-8502C06C24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E4AF577-5EF5-9ADA-BD64-FB41F629D3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EA1BE9E-F471-A656-5819-6D204CABC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67BE-A7DD-494C-BFEE-03AB0EBCDB68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83AA1C3-B48C-30C5-F3EB-74B442837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878E429-5B81-FD97-8359-E65EFD93B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E343-E846-49B9-B00A-5CE0436698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163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347C06-6E0A-5EC7-9264-23F8E2EBF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ADF6CB0-FF60-A3FB-075B-55F5D5C53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67BE-A7DD-494C-BFEE-03AB0EBCDB68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B038A11-7351-B0E9-9404-41AC98FD9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9EA0AA-ABD8-B740-0015-EEB10F44A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E343-E846-49B9-B00A-5CE0436698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471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911BE6A-928A-5C13-D67E-82727FC84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67BE-A7DD-494C-BFEE-03AB0EBCDB68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BBC0543-2D41-1DE3-DED8-718E7C3C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15E805-0AB9-D036-7B19-F554D035F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E343-E846-49B9-B00A-5CE0436698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8397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B62EE7-0F80-0597-0F7F-569EC71F8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65A3D9-F258-C4FD-6CCD-15A1FA024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952019-E5B5-A4A8-50C8-04A666D8F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71D161-53C9-D2E9-3129-36486997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67BE-A7DD-494C-BFEE-03AB0EBCDB68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82BAFE-443D-A731-8583-92286BC4C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A4F4E9-59CB-CDBC-879F-06BAA0D9C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E343-E846-49B9-B00A-5CE0436698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2764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A6655F-DDDB-5959-09B2-0967CA64B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93B36CB-3F89-35D8-AC4B-56A78A72F8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EEFFD8-6EEC-6E60-E040-422A01B44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B97A00-BF2F-EEF5-EEB2-11DD16549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67BE-A7DD-494C-BFEE-03AB0EBCDB68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0C4AC5-352C-C405-C315-64CF5755B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64F78F-3824-EA4C-A4BB-C14C55B7A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E343-E846-49B9-B00A-5CE0436698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12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4404B5-8F39-37BB-0B13-63AD1710C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EC92FC-3EA7-4503-181E-F732C88EFD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F9F1AD-30F9-B57E-9C16-95509C237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67BE-A7DD-494C-BFEE-03AB0EBCDB68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1B731F-FF91-3E66-0725-39936D905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E35A7A-7B37-0C36-127E-7AEF8DB31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E343-E846-49B9-B00A-5CE0436698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038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651E79F-6E61-DF3A-10C3-955FA5F729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8577494-E113-9903-61A8-A2BC2AA6E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A22524-73CB-C6DC-E96F-8B80C22C8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67BE-A7DD-494C-BFEE-03AB0EBCDB68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9CCB09-FB52-5019-1508-94A3341FC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7852D9-9D2A-82AA-9AB6-3E547A4C4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E343-E846-49B9-B00A-5CE0436698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340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1B3080-0409-E7C6-86F8-373D024A5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3C329F-7F4F-4848-F2B1-55B82836C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F651F0-5452-79EF-A1BC-7CE612028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267BE-A7DD-494C-BFEE-03AB0EBCDB68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423971-1FA6-E4C2-3C5E-968D7F4B34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916614-09A2-3666-D784-03AD4F609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CE343-E846-49B9-B00A-5CE0436698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264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2D26C-224B-23AB-06DD-2552DE81A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A75578B-B02E-F302-0AE8-4C3496A36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039" y="2386543"/>
            <a:ext cx="2087681" cy="42948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3405CE-2A25-C5EA-E28F-B4AD5A9D6572}"/>
              </a:ext>
            </a:extLst>
          </p:cNvPr>
          <p:cNvSpPr txBox="1"/>
          <p:nvPr/>
        </p:nvSpPr>
        <p:spPr>
          <a:xfrm>
            <a:off x="309710" y="280384"/>
            <a:ext cx="415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App </a:t>
            </a:r>
            <a:r>
              <a:rPr lang="ko-KR" altLang="en-US" b="1" dirty="0"/>
              <a:t>동작관련 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346302-5129-E065-BBC6-76D4552E7CDD}"/>
              </a:ext>
            </a:extLst>
          </p:cNvPr>
          <p:cNvSpPr txBox="1"/>
          <p:nvPr/>
        </p:nvSpPr>
        <p:spPr>
          <a:xfrm>
            <a:off x="309709" y="811451"/>
            <a:ext cx="805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1-1. Warm–Up </a:t>
            </a:r>
            <a:r>
              <a:rPr lang="ko-KR" altLang="en-US" sz="1400" b="1" dirty="0"/>
              <a:t>기간 중 알람 발생</a:t>
            </a:r>
            <a:endParaRPr lang="en-US" altLang="ko-KR" sz="1400" b="1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76C2E0-3F37-FA62-3A0A-3653292F60E0}"/>
              </a:ext>
            </a:extLst>
          </p:cNvPr>
          <p:cNvSpPr txBox="1"/>
          <p:nvPr/>
        </p:nvSpPr>
        <p:spPr>
          <a:xfrm>
            <a:off x="539933" y="1280963"/>
            <a:ext cx="10956471" cy="625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35965" indent="-285750" latinLnBrk="1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678815" algn="l"/>
                <a:tab pos="914400" algn="l"/>
              </a:tabLst>
            </a:pP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센서 </a:t>
            </a: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Warm-Up </a:t>
            </a: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기간 중 알람의 발생</a:t>
            </a: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개발 초기부터 반복적으로 수정 요청이 되던 문제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35965" indent="-285750" latinLnBrk="1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678815" algn="l"/>
                <a:tab pos="914400" algn="l"/>
              </a:tabLst>
            </a:pPr>
            <a:r>
              <a:rPr lang="ko-KR" altLang="en-US" sz="140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이전버전에서 수정되었다가 </a:t>
            </a:r>
            <a:r>
              <a:rPr lang="en-US" altLang="ko-KR" sz="140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4/21 </a:t>
            </a:r>
            <a:r>
              <a:rPr lang="ko-KR" altLang="en-US" sz="140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버전에서 다시 발생</a:t>
            </a:r>
            <a:r>
              <a:rPr lang="en-US" altLang="ko-KR" sz="140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4/22, 4/23 </a:t>
            </a:r>
            <a:r>
              <a:rPr lang="ko-KR" altLang="en-US" sz="140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버전에서도 반복적으로 발생</a:t>
            </a:r>
            <a:endParaRPr lang="en-US" altLang="ko-KR" sz="1400" dirty="0">
              <a:solidFill>
                <a:srgbClr val="FF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FF9DA20-A4C2-8AB6-1ADD-F1C819335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068" y="2386548"/>
            <a:ext cx="2081391" cy="429483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E320926-2180-7FEF-D0A8-4C186FEB523A}"/>
              </a:ext>
            </a:extLst>
          </p:cNvPr>
          <p:cNvSpPr/>
          <p:nvPr/>
        </p:nvSpPr>
        <p:spPr>
          <a:xfrm>
            <a:off x="879067" y="2455721"/>
            <a:ext cx="2081391" cy="5091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4B0F0E5-4996-6A10-256B-BCC9255C8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8246" y="2386546"/>
            <a:ext cx="2081392" cy="4294836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04EB4CA-F112-034C-582B-D2346948EAF7}"/>
              </a:ext>
            </a:extLst>
          </p:cNvPr>
          <p:cNvCxnSpPr>
            <a:cxnSpLocks/>
          </p:cNvCxnSpPr>
          <p:nvPr/>
        </p:nvCxnSpPr>
        <p:spPr>
          <a:xfrm flipH="1">
            <a:off x="7679610" y="4130386"/>
            <a:ext cx="89592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80D75BB-4A71-C2A0-7CCA-719095E40091}"/>
              </a:ext>
            </a:extLst>
          </p:cNvPr>
          <p:cNvSpPr/>
          <p:nvPr/>
        </p:nvSpPr>
        <p:spPr>
          <a:xfrm>
            <a:off x="3208247" y="3310084"/>
            <a:ext cx="2081391" cy="16406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ECCE9E-E4EA-6A24-5729-AAA6DBD40FCD}"/>
              </a:ext>
            </a:extLst>
          </p:cNvPr>
          <p:cNvSpPr txBox="1"/>
          <p:nvPr/>
        </p:nvSpPr>
        <p:spPr>
          <a:xfrm>
            <a:off x="8072582" y="3976497"/>
            <a:ext cx="41194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0215" latinLnBrk="1">
              <a:spcAft>
                <a:spcPts val="800"/>
              </a:spcAft>
              <a:tabLst>
                <a:tab pos="678815" algn="l"/>
                <a:tab pos="914400" algn="l"/>
              </a:tabLst>
            </a:pP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센서 </a:t>
            </a: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Warm-Up </a:t>
            </a: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기간 중 발생 한 알람 목록</a:t>
            </a:r>
            <a:endParaRPr lang="en-US" altLang="ko-KR" sz="140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AC8E52-3125-DC52-FFB7-826F37B257C6}"/>
              </a:ext>
            </a:extLst>
          </p:cNvPr>
          <p:cNvSpPr/>
          <p:nvPr/>
        </p:nvSpPr>
        <p:spPr>
          <a:xfrm>
            <a:off x="5518039" y="3310084"/>
            <a:ext cx="2081391" cy="16406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2388E1E-738E-75E8-F4E7-A5A9F95ED2A3}"/>
              </a:ext>
            </a:extLst>
          </p:cNvPr>
          <p:cNvSpPr/>
          <p:nvPr/>
        </p:nvSpPr>
        <p:spPr>
          <a:xfrm>
            <a:off x="3188859" y="2455722"/>
            <a:ext cx="875141" cy="37459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3DEA631-C283-CA7C-A099-FBD392481F0B}"/>
              </a:ext>
            </a:extLst>
          </p:cNvPr>
          <p:cNvSpPr/>
          <p:nvPr/>
        </p:nvSpPr>
        <p:spPr>
          <a:xfrm>
            <a:off x="5518038" y="2455721"/>
            <a:ext cx="875141" cy="37459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853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3B0C0-5EE0-04F1-4791-BA47EA29B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2C4F2B-924F-DE95-A970-8A866CA3D048}"/>
              </a:ext>
            </a:extLst>
          </p:cNvPr>
          <p:cNvSpPr txBox="1"/>
          <p:nvPr/>
        </p:nvSpPr>
        <p:spPr>
          <a:xfrm>
            <a:off x="309710" y="280384"/>
            <a:ext cx="415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App </a:t>
            </a:r>
            <a:r>
              <a:rPr lang="ko-KR" altLang="en-US" b="1" dirty="0"/>
              <a:t>동작관련 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E11965-0B19-843E-1348-D5686F1E1462}"/>
              </a:ext>
            </a:extLst>
          </p:cNvPr>
          <p:cNvSpPr txBox="1"/>
          <p:nvPr/>
        </p:nvSpPr>
        <p:spPr>
          <a:xfrm>
            <a:off x="309709" y="811451"/>
            <a:ext cx="805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1-2. App </a:t>
            </a:r>
            <a:r>
              <a:rPr lang="ko-KR" altLang="en-US" sz="1400" b="1" dirty="0"/>
              <a:t>동작 간 딜레이 발생</a:t>
            </a:r>
            <a:endParaRPr lang="en-US" altLang="ko-KR" sz="1400" b="1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AF9FDE-1B01-38CF-0D2D-BB78E00E7132}"/>
              </a:ext>
            </a:extLst>
          </p:cNvPr>
          <p:cNvSpPr txBox="1"/>
          <p:nvPr/>
        </p:nvSpPr>
        <p:spPr>
          <a:xfrm>
            <a:off x="539933" y="1280963"/>
            <a:ext cx="10956471" cy="625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35965" indent="-285750" latinLnBrk="1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678815" algn="l"/>
                <a:tab pos="914400" algn="l"/>
              </a:tabLst>
            </a:pP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센서 설정 혹은 화면 이동간 </a:t>
            </a: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[Syncing With Server]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화면이 뜨며 딜레이 발생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735965" indent="-285750" latinLnBrk="1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678815" algn="l"/>
                <a:tab pos="914400" algn="l"/>
              </a:tabLst>
            </a:pP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4/22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버전에 비해 딜레이는 많이 줄었지만 센서 테스트를 할 수록 딜레이의 시간이 조금씩 늘어감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40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2A28AAB-AC72-F7E6-EA5F-80B020D50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278" y="2068510"/>
            <a:ext cx="2291444" cy="4710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91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5D05D-A7BA-819B-EEEE-0E6CBA240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89D153-5175-5E3C-A3D6-D2E1C50D4659}"/>
              </a:ext>
            </a:extLst>
          </p:cNvPr>
          <p:cNvSpPr txBox="1"/>
          <p:nvPr/>
        </p:nvSpPr>
        <p:spPr>
          <a:xfrm>
            <a:off x="309710" y="280384"/>
            <a:ext cx="415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App </a:t>
            </a:r>
            <a:r>
              <a:rPr lang="ko-KR" altLang="en-US" b="1" dirty="0"/>
              <a:t>동작관련 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A822AD-AF5C-C5E9-A2D6-922843C76E16}"/>
              </a:ext>
            </a:extLst>
          </p:cNvPr>
          <p:cNvSpPr txBox="1"/>
          <p:nvPr/>
        </p:nvSpPr>
        <p:spPr>
          <a:xfrm>
            <a:off x="309709" y="811451"/>
            <a:ext cx="805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1-3. Start Time </a:t>
            </a:r>
            <a:r>
              <a:rPr lang="ko-KR" altLang="en-US" sz="1400" b="1" dirty="0"/>
              <a:t>표시 문제</a:t>
            </a:r>
            <a:endParaRPr lang="en-US" altLang="ko-KR" sz="1400" b="1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1DD27C-2263-FE26-B9AC-FECBAF7FD7F4}"/>
              </a:ext>
            </a:extLst>
          </p:cNvPr>
          <p:cNvSpPr txBox="1"/>
          <p:nvPr/>
        </p:nvSpPr>
        <p:spPr>
          <a:xfrm>
            <a:off x="484514" y="1119228"/>
            <a:ext cx="10956471" cy="1036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35965" indent="-285750" latinLnBrk="1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678815" algn="l"/>
                <a:tab pos="914400" algn="l"/>
              </a:tabLst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App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다운로드 후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Start Time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확인 시 정상적으로 센서 스캔 표시가 되는 것을 확인 하였으나 로그아웃 후 센서 재연결이 끝난 후 다시 확인 한 결과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Start Time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이전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4/21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시작한 것으로 표시된 것을 확인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35965" indent="-285750" latinLnBrk="1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678815" algn="l"/>
                <a:tab pos="914400" algn="l"/>
              </a:tabLst>
            </a:pPr>
            <a:r>
              <a:rPr lang="ko-KR" altLang="en-US" sz="12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이후 </a:t>
            </a:r>
            <a:r>
              <a:rPr lang="en-US" altLang="ko-KR" sz="12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App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지운 후 다시 다운로드를 받고 스캔을 새로 시작하면 정상동작 확인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35965" indent="-285750" latinLnBrk="1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678815" algn="l"/>
                <a:tab pos="914400" algn="l"/>
              </a:tabLst>
            </a:pPr>
            <a:r>
              <a:rPr lang="ko-KR" altLang="en-US" sz="12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잠깐의 오류일 수 있으나 확인이 필요한 문제로 보임</a:t>
            </a:r>
            <a:endParaRPr lang="en-US" altLang="ko-KR" sz="120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AE4C8FE-6FEE-2011-AC04-1D792BC35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651" y="2139748"/>
            <a:ext cx="2209026" cy="454447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9C7C4E5-7EAE-ACBF-3408-6C3411DF4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141" y="2123179"/>
            <a:ext cx="2209026" cy="4558202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CD645F0-80B2-51EB-0E7B-4C61E84590EF}"/>
              </a:ext>
            </a:extLst>
          </p:cNvPr>
          <p:cNvSpPr/>
          <p:nvPr/>
        </p:nvSpPr>
        <p:spPr>
          <a:xfrm>
            <a:off x="3481569" y="2626974"/>
            <a:ext cx="1921704" cy="5595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010BCD9-7CE5-25E7-BFD7-37046AECAAE3}"/>
              </a:ext>
            </a:extLst>
          </p:cNvPr>
          <p:cNvSpPr/>
          <p:nvPr/>
        </p:nvSpPr>
        <p:spPr>
          <a:xfrm>
            <a:off x="6229802" y="2869429"/>
            <a:ext cx="1921704" cy="3817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7566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5D90D-0C1C-1E07-6368-65A4764E1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9F154A-C592-716A-7A99-FD7051469C25}"/>
              </a:ext>
            </a:extLst>
          </p:cNvPr>
          <p:cNvSpPr txBox="1"/>
          <p:nvPr/>
        </p:nvSpPr>
        <p:spPr>
          <a:xfrm>
            <a:off x="309710" y="280384"/>
            <a:ext cx="415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App </a:t>
            </a:r>
            <a:r>
              <a:rPr lang="ko-KR" altLang="en-US" b="1" dirty="0"/>
              <a:t>동작관련 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CA2ED7-69F2-EDB1-0A54-491B412A0F55}"/>
              </a:ext>
            </a:extLst>
          </p:cNvPr>
          <p:cNvSpPr txBox="1"/>
          <p:nvPr/>
        </p:nvSpPr>
        <p:spPr>
          <a:xfrm>
            <a:off x="309710" y="749926"/>
            <a:ext cx="805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1-4. App </a:t>
            </a:r>
            <a:r>
              <a:rPr lang="ko-KR" altLang="en-US" sz="1400" b="1" dirty="0"/>
              <a:t>진입 안됨 문제</a:t>
            </a:r>
            <a:endParaRPr lang="en-US" altLang="ko-KR" sz="1400" b="1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C564C7-9381-F84F-2FF8-85BF8163DD14}"/>
              </a:ext>
            </a:extLst>
          </p:cNvPr>
          <p:cNvSpPr txBox="1"/>
          <p:nvPr/>
        </p:nvSpPr>
        <p:spPr>
          <a:xfrm>
            <a:off x="539934" y="1157913"/>
            <a:ext cx="10956471" cy="943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35965" indent="-285750" latinLnBrk="1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678815" algn="l"/>
                <a:tab pos="914400" algn="l"/>
              </a:tabLst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App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 중 사진첩 진입 후 다시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App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진입하는 과정에서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App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진입이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안되는 상황발생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35965" indent="-28575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678815" algn="l"/>
                <a:tab pos="914400" algn="l"/>
              </a:tabLst>
            </a:pPr>
            <a:r>
              <a:rPr lang="en-US" altLang="ko-KR" sz="1400" dirty="0">
                <a:latin typeface="맑은 고딕" panose="020B0503020000020004" pitchFamily="50" charset="-127"/>
              </a:rPr>
              <a:t>[Syncing With Server]</a:t>
            </a:r>
            <a:r>
              <a:rPr lang="ko-KR" altLang="en-US" sz="1400" dirty="0">
                <a:latin typeface="맑은 고딕" panose="020B0503020000020004" pitchFamily="50" charset="-127"/>
              </a:rPr>
              <a:t> 화면이 나온 후 진입화면에서 멈춰 다음 화면으로 넘어가지 않음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0215" latinLnBrk="1">
              <a:spcAft>
                <a:spcPts val="800"/>
              </a:spcAft>
              <a:tabLst>
                <a:tab pos="678815" algn="l"/>
                <a:tab pos="914400" algn="l"/>
              </a:tabLst>
            </a:pP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첨부된 동영상 확인 바랍니다</a:t>
            </a: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.</a:t>
            </a:r>
            <a:endParaRPr lang="en-US" altLang="ko-KR" sz="140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B118800-C03D-1196-EF23-02F52A108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865" y="2213448"/>
            <a:ext cx="2177340" cy="447928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2410026-FCD4-21DD-65C8-8AEDAC16D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752" y="2201972"/>
            <a:ext cx="2177340" cy="4492820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2421CE9-F206-D86C-B171-DC86B2B19162}"/>
              </a:ext>
            </a:extLst>
          </p:cNvPr>
          <p:cNvCxnSpPr>
            <a:cxnSpLocks/>
          </p:cNvCxnSpPr>
          <p:nvPr/>
        </p:nvCxnSpPr>
        <p:spPr>
          <a:xfrm>
            <a:off x="5560291" y="4570942"/>
            <a:ext cx="638375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2238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1C2D1-8E74-BF89-80D4-5B8DDCE35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CE7A52-CD23-B3CE-6EDE-C13070C79315}"/>
              </a:ext>
            </a:extLst>
          </p:cNvPr>
          <p:cNvSpPr txBox="1"/>
          <p:nvPr/>
        </p:nvSpPr>
        <p:spPr>
          <a:xfrm>
            <a:off x="309710" y="280384"/>
            <a:ext cx="415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App </a:t>
            </a:r>
            <a:r>
              <a:rPr lang="ko-KR" altLang="en-US" b="1" dirty="0"/>
              <a:t>동작관련 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7370D5-5FC1-9080-9249-A1B0D9260FFF}"/>
              </a:ext>
            </a:extLst>
          </p:cNvPr>
          <p:cNvSpPr txBox="1"/>
          <p:nvPr/>
        </p:nvSpPr>
        <p:spPr>
          <a:xfrm>
            <a:off x="309710" y="749926"/>
            <a:ext cx="805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1-5. Serial </a:t>
            </a:r>
            <a:r>
              <a:rPr lang="ko-KR" altLang="en-US" sz="1400" b="1" dirty="0"/>
              <a:t>표시 안됨 문제</a:t>
            </a:r>
            <a:endParaRPr lang="en-US" altLang="ko-KR" sz="1400" b="1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D9413C-5BB1-78FC-FC24-3A34DA3947F4}"/>
              </a:ext>
            </a:extLst>
          </p:cNvPr>
          <p:cNvSpPr txBox="1"/>
          <p:nvPr/>
        </p:nvSpPr>
        <p:spPr>
          <a:xfrm>
            <a:off x="539934" y="1157913"/>
            <a:ext cx="109564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35965" indent="-285750" latinLnBrk="1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678815" algn="l"/>
                <a:tab pos="914400" algn="l"/>
              </a:tabLst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QR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스캔 후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Serial Number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확인 결과 표시가 안되는 문제</a:t>
            </a:r>
            <a:endParaRPr lang="en-US" altLang="ko-KR" sz="140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BB8E1F3-CB45-FCFD-A5B9-85F28CD58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047" y="2383927"/>
            <a:ext cx="2088953" cy="429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179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1217F-46A5-B2C7-6043-13175EED5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6A72B5-A20C-C7FC-66E9-1C78E240204C}"/>
              </a:ext>
            </a:extLst>
          </p:cNvPr>
          <p:cNvSpPr txBox="1"/>
          <p:nvPr/>
        </p:nvSpPr>
        <p:spPr>
          <a:xfrm>
            <a:off x="309710" y="280384"/>
            <a:ext cx="415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2. Data Share </a:t>
            </a:r>
            <a:r>
              <a:rPr lang="ko-KR" altLang="en-US" b="1" dirty="0"/>
              <a:t>동작관련 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16E3B5-2ACC-F0C5-956F-01EC8A930F07}"/>
              </a:ext>
            </a:extLst>
          </p:cNvPr>
          <p:cNvSpPr txBox="1"/>
          <p:nvPr/>
        </p:nvSpPr>
        <p:spPr>
          <a:xfrm>
            <a:off x="309710" y="728022"/>
            <a:ext cx="805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2-1. Data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Share</a:t>
            </a:r>
            <a:r>
              <a:rPr lang="ko-KR" altLang="en-US" sz="1400" b="1" dirty="0"/>
              <a:t> 관련</a:t>
            </a:r>
            <a:endParaRPr lang="en-US" altLang="ko-KR" sz="1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FADBB-DC56-2781-B07F-367FF3EE96D3}"/>
              </a:ext>
            </a:extLst>
          </p:cNvPr>
          <p:cNvSpPr txBox="1"/>
          <p:nvPr/>
        </p:nvSpPr>
        <p:spPr>
          <a:xfrm>
            <a:off x="455930" y="1040033"/>
            <a:ext cx="11269309" cy="887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문제 사항 </a:t>
            </a:r>
            <a:r>
              <a:rPr lang="en-US" altLang="ko-KR" sz="1200" b="1" dirty="0"/>
              <a:t>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4/22</a:t>
            </a:r>
            <a:r>
              <a:rPr lang="ko-KR" altLang="en-US" sz="1200" dirty="0"/>
              <a:t>에서 </a:t>
            </a:r>
            <a:r>
              <a:rPr lang="en-US" altLang="ko-KR" sz="1200" dirty="0"/>
              <a:t>Data Share</a:t>
            </a:r>
            <a:r>
              <a:rPr lang="ko-KR" altLang="en-US" sz="1200" dirty="0"/>
              <a:t>의 동작에서 </a:t>
            </a:r>
            <a:r>
              <a:rPr lang="en-US" altLang="ko-KR" sz="1200" dirty="0"/>
              <a:t>[Share] </a:t>
            </a:r>
            <a:r>
              <a:rPr lang="ko-KR" altLang="en-US" sz="1200" dirty="0"/>
              <a:t>버튼의 터치가 안되는 것인 줄 알았으나 </a:t>
            </a:r>
            <a:r>
              <a:rPr lang="en-US" altLang="ko-KR" sz="1200" dirty="0"/>
              <a:t>4/23 </a:t>
            </a:r>
            <a:r>
              <a:rPr lang="ko-KR" altLang="en-US" sz="1200" dirty="0"/>
              <a:t>확인 결과 </a:t>
            </a:r>
            <a:r>
              <a:rPr lang="en-US" altLang="ko-KR" sz="1200" dirty="0"/>
              <a:t>[Share] </a:t>
            </a:r>
            <a:r>
              <a:rPr lang="ko-KR" altLang="en-US" sz="1200" dirty="0"/>
              <a:t>버튼을 터치 후 </a:t>
            </a:r>
            <a:r>
              <a:rPr lang="en-US" altLang="ko-KR" sz="1200" dirty="0"/>
              <a:t>1</a:t>
            </a:r>
            <a:r>
              <a:rPr lang="ko-KR" altLang="en-US" sz="1200" dirty="0"/>
              <a:t>분 정도 뒤에 공유 팝업이 표시</a:t>
            </a:r>
            <a:endParaRPr lang="en-US" altLang="ko-KR" sz="1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시간이 지남에 따라 </a:t>
            </a:r>
            <a:r>
              <a:rPr lang="en-US" altLang="ko-KR" sz="1200" dirty="0"/>
              <a:t>[Share] </a:t>
            </a:r>
            <a:r>
              <a:rPr lang="ko-KR" altLang="en-US" sz="1200" dirty="0"/>
              <a:t>버튼을 터치 후 팝업이 올라오는 시간은 줄어들지만 조금의 딜레이는 존재 </a:t>
            </a:r>
            <a:r>
              <a:rPr lang="en-US" altLang="ko-KR" sz="1200" dirty="0"/>
              <a:t>(5</a:t>
            </a:r>
            <a:r>
              <a:rPr lang="ko-KR" altLang="en-US" sz="1200" dirty="0"/>
              <a:t>초</a:t>
            </a:r>
            <a:r>
              <a:rPr lang="en-US" altLang="ko-KR" sz="1200" dirty="0"/>
              <a:t>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9760CDA-8608-147C-D798-53B88574B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82" y="2265503"/>
            <a:ext cx="2135575" cy="44066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CCA1D56-63E2-1C81-B2DF-D1B429535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483" y="2265501"/>
            <a:ext cx="2135575" cy="4406641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F260127F-1638-9532-C8D9-744E4863498F}"/>
              </a:ext>
            </a:extLst>
          </p:cNvPr>
          <p:cNvSpPr/>
          <p:nvPr/>
        </p:nvSpPr>
        <p:spPr>
          <a:xfrm>
            <a:off x="748145" y="5726544"/>
            <a:ext cx="1025237" cy="2307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6FD0D60-BEA9-8EC8-DD40-DE6A09951731}"/>
              </a:ext>
            </a:extLst>
          </p:cNvPr>
          <p:cNvCxnSpPr>
            <a:cxnSpLocks/>
          </p:cNvCxnSpPr>
          <p:nvPr/>
        </p:nvCxnSpPr>
        <p:spPr>
          <a:xfrm flipH="1">
            <a:off x="1376218" y="3990109"/>
            <a:ext cx="1736437" cy="164407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390D400-7FA2-6DE3-BDB1-7E14E3850C19}"/>
              </a:ext>
            </a:extLst>
          </p:cNvPr>
          <p:cNvSpPr txBox="1"/>
          <p:nvPr/>
        </p:nvSpPr>
        <p:spPr>
          <a:xfrm>
            <a:off x="3172367" y="3650577"/>
            <a:ext cx="2921763" cy="567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FF0000"/>
                </a:solidFill>
              </a:rPr>
              <a:t>[Share] </a:t>
            </a:r>
            <a:r>
              <a:rPr lang="ko-KR" altLang="en-US" sz="1100" dirty="0">
                <a:solidFill>
                  <a:srgbClr val="FF0000"/>
                </a:solidFill>
              </a:rPr>
              <a:t>버튼 터치 후 바로 팝업이 표시되는 것이 아닌 딜레이 발생 뒤에 팝업 표시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14F3D794-9650-942D-7EF9-9CE5EAA09A2D}"/>
              </a:ext>
            </a:extLst>
          </p:cNvPr>
          <p:cNvCxnSpPr>
            <a:cxnSpLocks/>
          </p:cNvCxnSpPr>
          <p:nvPr/>
        </p:nvCxnSpPr>
        <p:spPr>
          <a:xfrm flipH="1">
            <a:off x="8572411" y="2991524"/>
            <a:ext cx="442280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6F8AACB-5DD2-3B23-259E-AEBE17B62047}"/>
              </a:ext>
            </a:extLst>
          </p:cNvPr>
          <p:cNvSpPr/>
          <p:nvPr/>
        </p:nvSpPr>
        <p:spPr>
          <a:xfrm>
            <a:off x="6353675" y="2707792"/>
            <a:ext cx="1959190" cy="8020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78CB87-6B47-8695-F258-FC6C71CE7CF6}"/>
              </a:ext>
            </a:extLst>
          </p:cNvPr>
          <p:cNvSpPr txBox="1"/>
          <p:nvPr/>
        </p:nvSpPr>
        <p:spPr>
          <a:xfrm>
            <a:off x="9072806" y="2707792"/>
            <a:ext cx="2592721" cy="567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FF0000"/>
                </a:solidFill>
              </a:rPr>
              <a:t>설정 화면을 조작하던 중 공유 팝업이 표시 되는 상황</a:t>
            </a:r>
            <a:endParaRPr lang="en-US" altLang="ko-KR" sz="1100" dirty="0">
              <a:solidFill>
                <a:srgbClr val="FF0000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4083452-C77B-0AB7-3819-8CF3200ED987}"/>
              </a:ext>
            </a:extLst>
          </p:cNvPr>
          <p:cNvSpPr/>
          <p:nvPr/>
        </p:nvSpPr>
        <p:spPr>
          <a:xfrm>
            <a:off x="6335065" y="3650577"/>
            <a:ext cx="1959190" cy="27502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5EEBEB50-18E5-BF5C-9DD6-121083E7D70C}"/>
              </a:ext>
            </a:extLst>
          </p:cNvPr>
          <p:cNvCxnSpPr>
            <a:cxnSpLocks/>
          </p:cNvCxnSpPr>
          <p:nvPr/>
        </p:nvCxnSpPr>
        <p:spPr>
          <a:xfrm flipH="1">
            <a:off x="8632123" y="4853708"/>
            <a:ext cx="442280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763964C-2981-92A0-1B85-CE015E3D943F}"/>
              </a:ext>
            </a:extLst>
          </p:cNvPr>
          <p:cNvSpPr txBox="1"/>
          <p:nvPr/>
        </p:nvSpPr>
        <p:spPr>
          <a:xfrm>
            <a:off x="9132518" y="4450931"/>
            <a:ext cx="2592721" cy="82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FF0000"/>
                </a:solidFill>
              </a:rPr>
              <a:t>[Share] </a:t>
            </a:r>
            <a:r>
              <a:rPr lang="ko-KR" altLang="en-US" sz="1100" dirty="0">
                <a:solidFill>
                  <a:srgbClr val="FF0000"/>
                </a:solidFill>
              </a:rPr>
              <a:t>버튼을 터치 하여도 동작하지 않아 여러 번 터치 하였는데 한참 뒤에 팝업이 여러 번 표시 됨</a:t>
            </a:r>
            <a:endParaRPr lang="en-US" altLang="ko-KR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161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EA924-2616-F8BE-DA72-30452EE52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1651F7-AD72-AAD3-B9F8-809752FEA75A}"/>
              </a:ext>
            </a:extLst>
          </p:cNvPr>
          <p:cNvSpPr txBox="1"/>
          <p:nvPr/>
        </p:nvSpPr>
        <p:spPr>
          <a:xfrm>
            <a:off x="309709" y="280384"/>
            <a:ext cx="4844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3. </a:t>
            </a:r>
            <a:r>
              <a:rPr lang="ko-KR" altLang="en-US" b="1" dirty="0"/>
              <a:t>로그아웃 후 기존 연결 센서 재 연결 관련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482796-045A-9080-D392-97C95E464620}"/>
              </a:ext>
            </a:extLst>
          </p:cNvPr>
          <p:cNvSpPr txBox="1"/>
          <p:nvPr/>
        </p:nvSpPr>
        <p:spPr>
          <a:xfrm>
            <a:off x="309709" y="811451"/>
            <a:ext cx="805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3-1. </a:t>
            </a:r>
            <a:r>
              <a:rPr lang="ko-KR" altLang="en-US" sz="1400" b="1" dirty="0"/>
              <a:t>기존센서 재 연결 관련</a:t>
            </a:r>
            <a:endParaRPr lang="en-US" altLang="ko-KR" sz="1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3EB814-C0ED-1ADE-D4B2-682467F8BCDA}"/>
              </a:ext>
            </a:extLst>
          </p:cNvPr>
          <p:cNvSpPr txBox="1"/>
          <p:nvPr/>
        </p:nvSpPr>
        <p:spPr>
          <a:xfrm>
            <a:off x="461345" y="1119228"/>
            <a:ext cx="11269309" cy="887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센서가 연결된 상태에서 로그아웃을 한 뒤 같은 아이디로 재 로그인 시 기존에 연결된 센서와 다시 연결이 되어야 하지만 현재 버전에서는 자동으로 연결이 되는 기능이 동작 하지 않고 수동으로 연결을 해야 하며 이 과정에서 다시 </a:t>
            </a:r>
            <a:r>
              <a:rPr lang="en-US" altLang="ko-KR" sz="1200" dirty="0"/>
              <a:t>Warm-Up</a:t>
            </a:r>
            <a:r>
              <a:rPr lang="ko-KR" altLang="en-US" sz="1200" dirty="0"/>
              <a:t>의 화면이 표시됨</a:t>
            </a:r>
            <a:endParaRPr lang="en-US" altLang="ko-KR" sz="1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수동 연결 뒤 재 </a:t>
            </a:r>
            <a:r>
              <a:rPr lang="en-US" altLang="ko-KR" sz="1200" dirty="0"/>
              <a:t>Warm-Up</a:t>
            </a:r>
            <a:r>
              <a:rPr lang="ko-KR" altLang="en-US" sz="1200" dirty="0"/>
              <a:t>을 하는 과정에서도 알림 발생은 동일하게 발생</a:t>
            </a:r>
            <a:endParaRPr lang="en-US" altLang="ko-KR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8555E4C-4225-B2E5-C943-573CF10EC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815" y="2586179"/>
            <a:ext cx="1993595" cy="411367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F91A252-BBB3-B36B-EA21-4D817F807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591" y="2586176"/>
            <a:ext cx="1993596" cy="4113674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AE47BE81-E34D-AEAC-B107-3A21886B97E6}"/>
              </a:ext>
            </a:extLst>
          </p:cNvPr>
          <p:cNvSpPr/>
          <p:nvPr/>
        </p:nvSpPr>
        <p:spPr>
          <a:xfrm>
            <a:off x="5133649" y="2769480"/>
            <a:ext cx="358761" cy="26004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6E0148C-1FB4-E23E-5D25-70FF2CB73576}"/>
              </a:ext>
            </a:extLst>
          </p:cNvPr>
          <p:cNvSpPr/>
          <p:nvPr/>
        </p:nvSpPr>
        <p:spPr>
          <a:xfrm>
            <a:off x="6699591" y="2586176"/>
            <a:ext cx="1993595" cy="58189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018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B1556-ABAE-61DE-C42B-6BD712F58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2A5A69-52D2-A542-4451-8505E80FC0BC}"/>
              </a:ext>
            </a:extLst>
          </p:cNvPr>
          <p:cNvSpPr txBox="1"/>
          <p:nvPr/>
        </p:nvSpPr>
        <p:spPr>
          <a:xfrm>
            <a:off x="309710" y="280384"/>
            <a:ext cx="415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4. </a:t>
            </a:r>
            <a:r>
              <a:rPr lang="ko-KR" altLang="en-US" b="1" dirty="0"/>
              <a:t>확인 불가 사항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22EB31-4292-C2AD-B6D1-2708F79D3E88}"/>
              </a:ext>
            </a:extLst>
          </p:cNvPr>
          <p:cNvSpPr txBox="1"/>
          <p:nvPr/>
        </p:nvSpPr>
        <p:spPr>
          <a:xfrm>
            <a:off x="309709" y="811451"/>
            <a:ext cx="805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4-1. </a:t>
            </a:r>
            <a:r>
              <a:rPr lang="ko-KR" altLang="en-US" sz="1400" b="1" dirty="0"/>
              <a:t>로그인 및 데이터 저장</a:t>
            </a:r>
            <a:endParaRPr lang="en-US" altLang="ko-KR" sz="1400" b="1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573471-BC2F-1343-BB07-305B8AE45459}"/>
              </a:ext>
            </a:extLst>
          </p:cNvPr>
          <p:cNvSpPr txBox="1"/>
          <p:nvPr/>
        </p:nvSpPr>
        <p:spPr>
          <a:xfrm>
            <a:off x="309709" y="1280963"/>
            <a:ext cx="11361421" cy="263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인터넷이 연결되지 않은 상황에서 회원가입을 진행 한 후 테스트를 진행</a:t>
            </a:r>
            <a:r>
              <a:rPr lang="en-US" altLang="ko-KR" sz="1400" dirty="0"/>
              <a:t>, </a:t>
            </a:r>
            <a:r>
              <a:rPr lang="ko-KR" altLang="en-US" sz="1400" dirty="0"/>
              <a:t>측정까지 완료 한 후 로그아웃을 하고 재 로그인을 하였을 때 정상적으로 로그인이 진행됨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로그 아웃 후</a:t>
            </a:r>
            <a:r>
              <a:rPr lang="en-US" altLang="ko-KR" sz="1400" dirty="0">
                <a:sym typeface="Wingdings" panose="05000000000000000000" pitchFamily="2" charset="2"/>
              </a:rPr>
              <a:t>, App </a:t>
            </a:r>
            <a:r>
              <a:rPr lang="ko-KR" altLang="en-US" sz="1400" dirty="0">
                <a:sym typeface="Wingdings" panose="05000000000000000000" pitchFamily="2" charset="2"/>
              </a:rPr>
              <a:t>삭제 후에도 정상적으로 로그인 진행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ym typeface="Wingdings" panose="05000000000000000000" pitchFamily="2" charset="2"/>
              </a:rPr>
              <a:t>문제 사항 </a:t>
            </a:r>
            <a:r>
              <a:rPr lang="en-US" altLang="ko-KR" sz="1400" b="1" dirty="0">
                <a:sym typeface="Wingdings" panose="05000000000000000000" pitchFamily="2" charset="2"/>
              </a:rPr>
              <a:t>1</a:t>
            </a: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인터넷이 연결되지 않은 상황에서 회원가입을 하지 않고 다른 이메일과 이메일 규격에 맞지 않는 정보를 입력하여도 정상적으로 로그인 진행</a:t>
            </a:r>
            <a:r>
              <a:rPr lang="en-US" altLang="ko-KR" sz="1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인터넷이 연결되었을 때는 이메일 가입이 되어있지 않거나 규격에 맞지 않는 정보를 입력하면 로그인 실패 표시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인터넷을 연결하지 않고</a:t>
            </a:r>
            <a:r>
              <a:rPr lang="en-US" altLang="ko-KR" sz="1400" dirty="0"/>
              <a:t> </a:t>
            </a:r>
            <a:r>
              <a:rPr lang="ko-KR" altLang="en-US" sz="1400" dirty="0"/>
              <a:t>회원가입을 하지 않은 아무 텍스트만 입력하여도 로그인이 진행되는 상황</a:t>
            </a:r>
            <a:r>
              <a:rPr lang="en-US" altLang="ko-KR" sz="1400" dirty="0"/>
              <a:t>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A28CF9E-D977-D4C1-31DB-81934F132FFC}"/>
              </a:ext>
            </a:extLst>
          </p:cNvPr>
          <p:cNvSpPr/>
          <p:nvPr/>
        </p:nvSpPr>
        <p:spPr>
          <a:xfrm>
            <a:off x="2995937" y="739496"/>
            <a:ext cx="1873932" cy="45168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4/21 </a:t>
            </a:r>
            <a:r>
              <a:rPr lang="ko-KR" altLang="en-US" dirty="0"/>
              <a:t>수정 안됨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DA5B573-378B-AED3-D4C0-9929755D99EF}"/>
              </a:ext>
            </a:extLst>
          </p:cNvPr>
          <p:cNvSpPr/>
          <p:nvPr/>
        </p:nvSpPr>
        <p:spPr>
          <a:xfrm>
            <a:off x="5159034" y="739495"/>
            <a:ext cx="1873932" cy="45168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4/23 </a:t>
            </a:r>
            <a:r>
              <a:rPr lang="ko-KR" altLang="en-US" dirty="0"/>
              <a:t>수정 완료</a:t>
            </a:r>
          </a:p>
        </p:txBody>
      </p:sp>
    </p:spTree>
    <p:extLst>
      <p:ext uri="{BB962C8B-B14F-4D97-AF65-F5344CB8AC3E}">
        <p14:creationId xmlns:p14="http://schemas.microsoft.com/office/powerpoint/2010/main" val="1345751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FFC22-57E0-0E3A-FB40-0D82DBE6B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B82ACF-1665-A135-09DB-D30667232F3A}"/>
              </a:ext>
            </a:extLst>
          </p:cNvPr>
          <p:cNvSpPr txBox="1"/>
          <p:nvPr/>
        </p:nvSpPr>
        <p:spPr>
          <a:xfrm>
            <a:off x="309710" y="280384"/>
            <a:ext cx="415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5. </a:t>
            </a:r>
            <a:r>
              <a:rPr lang="ko-KR" altLang="en-US" b="1" dirty="0"/>
              <a:t>보류 사항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C3E1CC-4683-8100-38ED-B443730E2097}"/>
              </a:ext>
            </a:extLst>
          </p:cNvPr>
          <p:cNvSpPr txBox="1"/>
          <p:nvPr/>
        </p:nvSpPr>
        <p:spPr>
          <a:xfrm>
            <a:off x="309709" y="811451"/>
            <a:ext cx="805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6-1. </a:t>
            </a:r>
            <a:r>
              <a:rPr lang="ko-KR" altLang="en-US" sz="1400" b="1" dirty="0"/>
              <a:t>언어 변경 기능 동작 확인</a:t>
            </a:r>
            <a:endParaRPr lang="en-US" altLang="ko-KR" sz="1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C1A7A2-246B-21FE-882A-6FAF157A2DFA}"/>
              </a:ext>
            </a:extLst>
          </p:cNvPr>
          <p:cNvSpPr txBox="1"/>
          <p:nvPr/>
        </p:nvSpPr>
        <p:spPr>
          <a:xfrm>
            <a:off x="551904" y="1280963"/>
            <a:ext cx="8918665" cy="697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현재 </a:t>
            </a:r>
            <a:r>
              <a:rPr lang="en-US" altLang="ko-KR" sz="1400" dirty="0"/>
              <a:t>Language </a:t>
            </a:r>
            <a:r>
              <a:rPr lang="ko-KR" altLang="en-US" sz="1400" dirty="0"/>
              <a:t>설정은 영어로 고정되어 있으며 변경이 불가능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우선적으로 </a:t>
            </a:r>
            <a:r>
              <a:rPr lang="ko-KR" altLang="en-US" sz="1400" b="1" dirty="0"/>
              <a:t>한국어 선택 기능</a:t>
            </a:r>
            <a:r>
              <a:rPr lang="ko-KR" altLang="en-US" sz="1400" dirty="0"/>
              <a:t>을 추가하여 언어 변경 기능이 정상 동작하는지 확인이 필요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EC8876-0FE0-07B7-29FF-7FD188DBEE13}"/>
              </a:ext>
            </a:extLst>
          </p:cNvPr>
          <p:cNvSpPr/>
          <p:nvPr/>
        </p:nvSpPr>
        <p:spPr>
          <a:xfrm>
            <a:off x="5011236" y="705335"/>
            <a:ext cx="2847963" cy="5200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초기 영어로 고정하기로 하여 변경 없음</a:t>
            </a: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FB9974D3-CD18-F6E0-857A-BF1003EBF2D6}"/>
              </a:ext>
            </a:extLst>
          </p:cNvPr>
          <p:cNvSpPr/>
          <p:nvPr/>
        </p:nvSpPr>
        <p:spPr>
          <a:xfrm>
            <a:off x="8030096" y="904338"/>
            <a:ext cx="331477" cy="12200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97C42D-3A8A-BE97-AD57-8B132B295699}"/>
              </a:ext>
            </a:extLst>
          </p:cNvPr>
          <p:cNvSpPr/>
          <p:nvPr/>
        </p:nvSpPr>
        <p:spPr>
          <a:xfrm>
            <a:off x="8532470" y="751557"/>
            <a:ext cx="2179783" cy="45168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 한국어 표시 완료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CA95812-A4CD-7A74-8452-6F65A4F99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80" y="2139746"/>
            <a:ext cx="2241257" cy="461077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FA0A7BBF-5CC6-B290-B827-845AF3CC0529}"/>
              </a:ext>
            </a:extLst>
          </p:cNvPr>
          <p:cNvSpPr/>
          <p:nvPr/>
        </p:nvSpPr>
        <p:spPr>
          <a:xfrm>
            <a:off x="144180" y="3166644"/>
            <a:ext cx="2241257" cy="272615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A6E423-189E-1EF5-4F59-8A1DC3963208}"/>
              </a:ext>
            </a:extLst>
          </p:cNvPr>
          <p:cNvSpPr txBox="1"/>
          <p:nvPr/>
        </p:nvSpPr>
        <p:spPr>
          <a:xfrm>
            <a:off x="7288321" y="2114209"/>
            <a:ext cx="4759499" cy="1510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배너 알림</a:t>
            </a:r>
            <a:r>
              <a:rPr lang="en-US" altLang="ko-KR" sz="1200" dirty="0"/>
              <a:t>, [SC_05_01]</a:t>
            </a:r>
            <a:r>
              <a:rPr lang="ko-KR" altLang="en-US" sz="1200" dirty="0"/>
              <a:t> 시작 시간</a:t>
            </a:r>
            <a:r>
              <a:rPr lang="en-US" altLang="ko-KR" sz="1200" dirty="0"/>
              <a:t>, [SC_04_01] </a:t>
            </a:r>
            <a:r>
              <a:rPr lang="ko-KR" altLang="en-US" sz="1200" dirty="0"/>
              <a:t>일련 번호 부분의 한국어 표시 추가 수정 요청</a:t>
            </a:r>
            <a:endParaRPr lang="en-US" altLang="ko-KR" sz="1200" dirty="0"/>
          </a:p>
          <a:p>
            <a:pPr>
              <a:lnSpc>
                <a:spcPct val="200000"/>
              </a:lnSpc>
            </a:pPr>
            <a:r>
              <a:rPr lang="en-US" altLang="ko-KR" sz="1200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ko-KR" altLang="en-US" sz="1200" dirty="0">
                <a:solidFill>
                  <a:srgbClr val="FF0000"/>
                </a:solidFill>
                <a:sym typeface="Wingdings" panose="05000000000000000000" pitchFamily="2" charset="2"/>
              </a:rPr>
              <a:t> 메일에 참조된 </a:t>
            </a:r>
            <a:r>
              <a:rPr lang="en-US" altLang="ko-KR" sz="1200" dirty="0">
                <a:solidFill>
                  <a:srgbClr val="FF0000"/>
                </a:solidFill>
                <a:sym typeface="Wingdings" panose="05000000000000000000" pitchFamily="2" charset="2"/>
              </a:rPr>
              <a:t>CSV</a:t>
            </a:r>
            <a:r>
              <a:rPr lang="ko-KR" altLang="en-US" sz="1200" dirty="0">
                <a:solidFill>
                  <a:srgbClr val="FF0000"/>
                </a:solidFill>
                <a:sym typeface="Wingdings" panose="05000000000000000000" pitchFamily="2" charset="2"/>
              </a:rPr>
              <a:t>는 텍스트가 깨져 수정하여 재 전송이 어려워 </a:t>
            </a:r>
            <a:r>
              <a:rPr lang="en-US" altLang="ko-KR" sz="1200" dirty="0">
                <a:solidFill>
                  <a:srgbClr val="FF0000"/>
                </a:solidFill>
                <a:sym typeface="Wingdings" panose="05000000000000000000" pitchFamily="2" charset="2"/>
              </a:rPr>
              <a:t>9</a:t>
            </a:r>
            <a:r>
              <a:rPr lang="ko-KR" altLang="en-US" sz="1200" dirty="0">
                <a:solidFill>
                  <a:srgbClr val="FF0000"/>
                </a:solidFill>
                <a:sym typeface="Wingdings" panose="05000000000000000000" pitchFamily="2" charset="2"/>
              </a:rPr>
              <a:t>번 슬라이드에 한국어 번역하여 첨부 합니다 참조 바랍니다</a:t>
            </a:r>
            <a:r>
              <a:rPr lang="en-US" altLang="ko-KR" sz="1200" dirty="0">
                <a:solidFill>
                  <a:srgbClr val="FF0000"/>
                </a:solidFill>
                <a:sym typeface="Wingdings" panose="05000000000000000000" pitchFamily="2" charset="2"/>
              </a:rPr>
              <a:t>.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754840B-06D4-FEDC-32AE-D63D00263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155" y="2139744"/>
            <a:ext cx="2241258" cy="461078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08BF795A-C83C-7E16-BDA7-8DDADD6E9809}"/>
              </a:ext>
            </a:extLst>
          </p:cNvPr>
          <p:cNvSpPr/>
          <p:nvPr/>
        </p:nvSpPr>
        <p:spPr>
          <a:xfrm>
            <a:off x="5011236" y="3235786"/>
            <a:ext cx="2180176" cy="12784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ADC87F69-1B59-91DC-9C63-BEADD1747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7167" y="2139744"/>
            <a:ext cx="2241258" cy="4610781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459590CC-797B-1186-29BA-A113DE239491}"/>
              </a:ext>
            </a:extLst>
          </p:cNvPr>
          <p:cNvSpPr/>
          <p:nvPr/>
        </p:nvSpPr>
        <p:spPr>
          <a:xfrm>
            <a:off x="2547166" y="4066174"/>
            <a:ext cx="2241257" cy="13648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7B49C685-5679-B0A5-B3BB-2ED6FE4B5A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6358" y="3643139"/>
            <a:ext cx="2241258" cy="310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533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C71C7-AF7D-DB16-EDFC-1D434C503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4B7303-60E8-C499-3977-BDB55DD8A17E}"/>
              </a:ext>
            </a:extLst>
          </p:cNvPr>
          <p:cNvSpPr txBox="1"/>
          <p:nvPr/>
        </p:nvSpPr>
        <p:spPr>
          <a:xfrm>
            <a:off x="309710" y="280384"/>
            <a:ext cx="415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5. </a:t>
            </a:r>
            <a:r>
              <a:rPr lang="ko-KR" altLang="en-US" b="1" dirty="0"/>
              <a:t>보류 사항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B323CE-2E76-8423-2B3A-CEF26197B691}"/>
              </a:ext>
            </a:extLst>
          </p:cNvPr>
          <p:cNvSpPr txBox="1"/>
          <p:nvPr/>
        </p:nvSpPr>
        <p:spPr>
          <a:xfrm>
            <a:off x="309709" y="811451"/>
            <a:ext cx="805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5-1. </a:t>
            </a:r>
            <a:r>
              <a:rPr lang="ko-KR" altLang="en-US" sz="1400" b="1" dirty="0"/>
              <a:t>언어 변경 기능 동작 확인</a:t>
            </a:r>
            <a:endParaRPr lang="en-US" altLang="ko-KR" sz="1400" b="1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0C9AEA3-EBBB-AF53-2CA3-6E38EA31A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45" y="1261026"/>
            <a:ext cx="2658703" cy="546956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EB49FEE-3B5D-F0A1-9E97-55980D2D3D35}"/>
              </a:ext>
            </a:extLst>
          </p:cNvPr>
          <p:cNvSpPr txBox="1"/>
          <p:nvPr/>
        </p:nvSpPr>
        <p:spPr>
          <a:xfrm>
            <a:off x="1439441" y="3026046"/>
            <a:ext cx="23297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매우 낮은 혈당</a:t>
            </a:r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ko-KR" altLang="en-US" sz="1100" dirty="0">
                <a:solidFill>
                  <a:srgbClr val="FF0000"/>
                </a:solidFill>
              </a:rPr>
              <a:t>혈당 농도 </a:t>
            </a:r>
            <a:r>
              <a:rPr lang="en-US" altLang="ko-KR" sz="1100" dirty="0">
                <a:solidFill>
                  <a:srgbClr val="FF0000"/>
                </a:solidFill>
              </a:rPr>
              <a:t> 29 mg/dL ≤ 55 mg/dL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7D09EAE-1731-9FD0-276D-CD8AECA34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145" y="1119228"/>
            <a:ext cx="2727631" cy="56113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D86DD6-D3AD-DA40-0A06-23BA83901EA8}"/>
              </a:ext>
            </a:extLst>
          </p:cNvPr>
          <p:cNvSpPr txBox="1"/>
          <p:nvPr/>
        </p:nvSpPr>
        <p:spPr>
          <a:xfrm>
            <a:off x="1464794" y="4279811"/>
            <a:ext cx="23297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저혈당</a:t>
            </a:r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ko-KR" altLang="en-US" sz="1100" dirty="0">
                <a:solidFill>
                  <a:srgbClr val="FF0000"/>
                </a:solidFill>
              </a:rPr>
              <a:t>혈당 농도 </a:t>
            </a:r>
            <a:r>
              <a:rPr lang="en-US" altLang="ko-KR" sz="1100" dirty="0">
                <a:solidFill>
                  <a:srgbClr val="FF0000"/>
                </a:solidFill>
              </a:rPr>
              <a:t> 29 mg/dL ≤ 70 mg/dL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9E4102-362F-E46F-7DCD-37688A463FF0}"/>
              </a:ext>
            </a:extLst>
          </p:cNvPr>
          <p:cNvSpPr txBox="1"/>
          <p:nvPr/>
        </p:nvSpPr>
        <p:spPr>
          <a:xfrm>
            <a:off x="1439442" y="4961591"/>
            <a:ext cx="28934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혈당 </a:t>
            </a:r>
            <a:r>
              <a:rPr lang="ko-KR" altLang="en-US" sz="1100" dirty="0" err="1">
                <a:solidFill>
                  <a:srgbClr val="FF0000"/>
                </a:solidFill>
              </a:rPr>
              <a:t>급변동</a:t>
            </a:r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변화율 </a:t>
            </a:r>
            <a:r>
              <a:rPr lang="en-US" altLang="ko-KR" sz="1100" dirty="0">
                <a:solidFill>
                  <a:srgbClr val="FF0000"/>
                </a:solidFill>
              </a:rPr>
              <a:t>10.96 mg/dL/</a:t>
            </a:r>
            <a:r>
              <a:rPr lang="ko-KR" altLang="en-US" sz="1100" dirty="0">
                <a:solidFill>
                  <a:srgbClr val="FF0000"/>
                </a:solidFill>
              </a:rPr>
              <a:t>분 ≥ </a:t>
            </a:r>
            <a:r>
              <a:rPr lang="en-US" altLang="ko-KR" sz="1100" dirty="0">
                <a:solidFill>
                  <a:srgbClr val="FF0000"/>
                </a:solidFill>
              </a:rPr>
              <a:t>2.00 mg/dL/</a:t>
            </a:r>
            <a:r>
              <a:rPr lang="ko-KR" altLang="en-US" sz="1100" dirty="0">
                <a:solidFill>
                  <a:srgbClr val="FF0000"/>
                </a:solidFill>
              </a:rPr>
              <a:t>분</a:t>
            </a:r>
            <a:r>
              <a:rPr lang="en-US" altLang="ko-KR" sz="1100" dirty="0">
                <a:solidFill>
                  <a:srgbClr val="FF0000"/>
                </a:solidFill>
              </a:rPr>
              <a:t>)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599633-43F5-7173-4B7C-A67B5674FB94}"/>
              </a:ext>
            </a:extLst>
          </p:cNvPr>
          <p:cNvSpPr txBox="1"/>
          <p:nvPr/>
        </p:nvSpPr>
        <p:spPr>
          <a:xfrm>
            <a:off x="1439442" y="5463377"/>
            <a:ext cx="28934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신호 소실</a:t>
            </a:r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ko-KR" altLang="en-US" sz="1100" dirty="0">
                <a:solidFill>
                  <a:srgbClr val="FF0000"/>
                </a:solidFill>
              </a:rPr>
              <a:t>센서 신호가 끊어 졌습니다</a:t>
            </a:r>
            <a:r>
              <a:rPr lang="en-US" altLang="ko-KR" sz="1100" dirty="0">
                <a:solidFill>
                  <a:srgbClr val="FF0000"/>
                </a:solidFill>
              </a:rPr>
              <a:t>.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207303F-E7E3-F725-6D13-BC9A289811AC}"/>
              </a:ext>
            </a:extLst>
          </p:cNvPr>
          <p:cNvCxnSpPr/>
          <p:nvPr/>
        </p:nvCxnSpPr>
        <p:spPr>
          <a:xfrm>
            <a:off x="1106528" y="3241489"/>
            <a:ext cx="33291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CD0706C-5F0A-104F-32C2-C120415B379F}"/>
              </a:ext>
            </a:extLst>
          </p:cNvPr>
          <p:cNvCxnSpPr/>
          <p:nvPr/>
        </p:nvCxnSpPr>
        <p:spPr>
          <a:xfrm>
            <a:off x="1136701" y="4495254"/>
            <a:ext cx="33291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9456E4D-C64F-3C7D-0ACB-279DA6148DE0}"/>
              </a:ext>
            </a:extLst>
          </p:cNvPr>
          <p:cNvCxnSpPr/>
          <p:nvPr/>
        </p:nvCxnSpPr>
        <p:spPr>
          <a:xfrm>
            <a:off x="1106529" y="5093760"/>
            <a:ext cx="33291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72E04D9-DF22-C276-D489-27BBA1B16199}"/>
              </a:ext>
            </a:extLst>
          </p:cNvPr>
          <p:cNvCxnSpPr/>
          <p:nvPr/>
        </p:nvCxnSpPr>
        <p:spPr>
          <a:xfrm>
            <a:off x="1106528" y="5664307"/>
            <a:ext cx="33291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F9EA9EC-CA16-76D7-1789-ADCC8CCBC04F}"/>
              </a:ext>
            </a:extLst>
          </p:cNvPr>
          <p:cNvCxnSpPr>
            <a:cxnSpLocks/>
          </p:cNvCxnSpPr>
          <p:nvPr/>
        </p:nvCxnSpPr>
        <p:spPr>
          <a:xfrm>
            <a:off x="9198918" y="2888859"/>
            <a:ext cx="491465" cy="2835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AB825B8-4C3D-67E9-809A-B1A4C90BBD6E}"/>
              </a:ext>
            </a:extLst>
          </p:cNvPr>
          <p:cNvCxnSpPr>
            <a:cxnSpLocks/>
          </p:cNvCxnSpPr>
          <p:nvPr/>
        </p:nvCxnSpPr>
        <p:spPr>
          <a:xfrm>
            <a:off x="9040368" y="3924908"/>
            <a:ext cx="650015" cy="2863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FCE7279-FE77-90AE-FA70-EF9BE25E1BE4}"/>
              </a:ext>
            </a:extLst>
          </p:cNvPr>
          <p:cNvSpPr txBox="1"/>
          <p:nvPr/>
        </p:nvSpPr>
        <p:spPr>
          <a:xfrm>
            <a:off x="9690383" y="2761691"/>
            <a:ext cx="2053135" cy="82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FF0000"/>
                </a:solidFill>
              </a:rPr>
              <a:t>참조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FF0000"/>
                </a:solidFill>
              </a:rPr>
              <a:t>센서가 활성화되면 시작 시간이 자동으로 업데이트됩니다</a:t>
            </a:r>
            <a:r>
              <a:rPr lang="en-US" altLang="ko-KR" sz="1100" dirty="0">
                <a:solidFill>
                  <a:srgbClr val="FF0000"/>
                </a:solidFill>
              </a:rPr>
              <a:t>.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5C62CF-99DD-0E89-BF2F-D93884A951F5}"/>
              </a:ext>
            </a:extLst>
          </p:cNvPr>
          <p:cNvSpPr txBox="1"/>
          <p:nvPr/>
        </p:nvSpPr>
        <p:spPr>
          <a:xfrm>
            <a:off x="9690383" y="3800560"/>
            <a:ext cx="1878087" cy="82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FF0000"/>
                </a:solidFill>
              </a:rPr>
              <a:t>참조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FF0000"/>
                </a:solidFill>
              </a:rPr>
              <a:t>예열 중에는 측정값이 표시되지 않을 수 있습니다</a:t>
            </a:r>
            <a:r>
              <a:rPr lang="en-US" altLang="ko-KR" sz="1100" dirty="0">
                <a:solidFill>
                  <a:srgbClr val="FF0000"/>
                </a:solidFill>
              </a:rPr>
              <a:t>.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B7D7408E-218D-7CE8-480A-28625513B7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048" y="1211817"/>
            <a:ext cx="2658704" cy="546956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739002D-2F1D-CEAC-B851-277B86B62B4B}"/>
              </a:ext>
            </a:extLst>
          </p:cNvPr>
          <p:cNvSpPr txBox="1"/>
          <p:nvPr/>
        </p:nvSpPr>
        <p:spPr>
          <a:xfrm>
            <a:off x="4605619" y="3380116"/>
            <a:ext cx="488716" cy="313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FF0000"/>
                </a:solidFill>
              </a:rPr>
              <a:t>모델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CACACF-15AD-4332-A76D-070EB6FD7340}"/>
              </a:ext>
            </a:extLst>
          </p:cNvPr>
          <p:cNvSpPr txBox="1"/>
          <p:nvPr/>
        </p:nvSpPr>
        <p:spPr>
          <a:xfrm>
            <a:off x="5814849" y="3380115"/>
            <a:ext cx="488716" cy="313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FF0000"/>
                </a:solidFill>
              </a:rPr>
              <a:t>연도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6050C9-5006-9878-63DB-449F653D2A63}"/>
              </a:ext>
            </a:extLst>
          </p:cNvPr>
          <p:cNvSpPr txBox="1"/>
          <p:nvPr/>
        </p:nvSpPr>
        <p:spPr>
          <a:xfrm>
            <a:off x="4605619" y="3670367"/>
            <a:ext cx="820536" cy="313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>
                <a:solidFill>
                  <a:srgbClr val="FF0000"/>
                </a:solidFill>
              </a:rPr>
              <a:t>일련번호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75CE2E-F337-243B-4376-832286FB6D63}"/>
              </a:ext>
            </a:extLst>
          </p:cNvPr>
          <p:cNvSpPr txBox="1"/>
          <p:nvPr/>
        </p:nvSpPr>
        <p:spPr>
          <a:xfrm>
            <a:off x="5820515" y="3693662"/>
            <a:ext cx="488716" cy="313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FF0000"/>
                </a:solidFill>
              </a:rPr>
              <a:t>샘플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C5D0E4-DC54-4832-E92C-3A7126A582C8}"/>
              </a:ext>
            </a:extLst>
          </p:cNvPr>
          <p:cNvSpPr txBox="1"/>
          <p:nvPr/>
        </p:nvSpPr>
        <p:spPr>
          <a:xfrm>
            <a:off x="6095999" y="4219357"/>
            <a:ext cx="1154546" cy="313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>
                <a:solidFill>
                  <a:srgbClr val="FF0000"/>
                </a:solidFill>
              </a:rPr>
              <a:t>저장 및 동기화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ACBD1C-7229-9D24-A540-930643DD32CB}"/>
              </a:ext>
            </a:extLst>
          </p:cNvPr>
          <p:cNvSpPr txBox="1"/>
          <p:nvPr/>
        </p:nvSpPr>
        <p:spPr>
          <a:xfrm>
            <a:off x="6095999" y="4648044"/>
            <a:ext cx="1154546" cy="313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FF0000"/>
                </a:solidFill>
              </a:rPr>
              <a:t>QR </a:t>
            </a:r>
            <a:r>
              <a:rPr lang="ko-KR" altLang="en-US" sz="1100" dirty="0">
                <a:solidFill>
                  <a:srgbClr val="FF0000"/>
                </a:solidFill>
              </a:rPr>
              <a:t>스캔</a:t>
            </a:r>
          </a:p>
        </p:txBody>
      </p:sp>
    </p:spTree>
    <p:extLst>
      <p:ext uri="{BB962C8B-B14F-4D97-AF65-F5344CB8AC3E}">
        <p14:creationId xmlns:p14="http://schemas.microsoft.com/office/powerpoint/2010/main" val="393075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88040-75C3-1900-9525-AD78BF767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362A56-69C4-1AF5-7B03-1C33FA5D8659}"/>
              </a:ext>
            </a:extLst>
          </p:cNvPr>
          <p:cNvSpPr txBox="1"/>
          <p:nvPr/>
        </p:nvSpPr>
        <p:spPr>
          <a:xfrm>
            <a:off x="309710" y="280384"/>
            <a:ext cx="415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5. </a:t>
            </a:r>
            <a:r>
              <a:rPr lang="ko-KR" altLang="en-US" b="1" dirty="0"/>
              <a:t>보류 사항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E2A606-7897-25E0-5899-F9713EA3805C}"/>
              </a:ext>
            </a:extLst>
          </p:cNvPr>
          <p:cNvSpPr txBox="1"/>
          <p:nvPr/>
        </p:nvSpPr>
        <p:spPr>
          <a:xfrm>
            <a:off x="309710" y="823661"/>
            <a:ext cx="805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5-2. </a:t>
            </a:r>
            <a:r>
              <a:rPr lang="ko-KR" altLang="en-US" sz="1400" b="1" dirty="0"/>
              <a:t>사용기간이 지난 후</a:t>
            </a:r>
            <a:r>
              <a:rPr lang="en-US" altLang="ko-KR" sz="1400" b="1" dirty="0"/>
              <a:t>(15</a:t>
            </a:r>
            <a:r>
              <a:rPr lang="ko-KR" altLang="en-US" sz="1400" b="1" dirty="0"/>
              <a:t>일</a:t>
            </a:r>
            <a:r>
              <a:rPr lang="en-US" altLang="ko-KR" sz="1400" b="1" dirty="0"/>
              <a:t>) App</a:t>
            </a:r>
            <a:r>
              <a:rPr lang="ko-KR" altLang="en-US" sz="1400" b="1" dirty="0"/>
              <a:t>에서 자체적으로 센서와의 연결을 해제하는 기능 추가</a:t>
            </a:r>
            <a:endParaRPr lang="en-US" altLang="ko-KR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C52394-1D5F-ED82-2874-1D80DE61E8E7}"/>
              </a:ext>
            </a:extLst>
          </p:cNvPr>
          <p:cNvSpPr txBox="1"/>
          <p:nvPr/>
        </p:nvSpPr>
        <p:spPr>
          <a:xfrm>
            <a:off x="551906" y="1198427"/>
            <a:ext cx="11361421" cy="1666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15</a:t>
            </a:r>
            <a:r>
              <a:rPr lang="ko-KR" altLang="en-US" sz="1400" dirty="0"/>
              <a:t>일이 지나면 </a:t>
            </a:r>
            <a:r>
              <a:rPr lang="en-US" altLang="ko-KR" sz="1400" dirty="0"/>
              <a:t>App</a:t>
            </a:r>
            <a:r>
              <a:rPr lang="ko-KR" altLang="en-US" sz="1400" dirty="0"/>
              <a:t>의 화면에서 </a:t>
            </a:r>
            <a:r>
              <a:rPr lang="en-US" altLang="ko-KR" sz="1400" dirty="0"/>
              <a:t>[</a:t>
            </a:r>
            <a:r>
              <a:rPr lang="ko-KR" altLang="en-US" sz="1400" dirty="0"/>
              <a:t>사용기간이 만료되었습니다</a:t>
            </a:r>
            <a:r>
              <a:rPr lang="en-US" altLang="ko-KR" sz="1400" dirty="0"/>
              <a:t>, </a:t>
            </a:r>
            <a:r>
              <a:rPr lang="ko-KR" altLang="en-US" sz="1400" dirty="0"/>
              <a:t>새로운 센서를 연결하세요</a:t>
            </a:r>
            <a:r>
              <a:rPr lang="en-US" altLang="ko-KR" sz="1400" dirty="0"/>
              <a:t>]</a:t>
            </a:r>
            <a:r>
              <a:rPr lang="ko-KR" altLang="en-US" sz="1400" dirty="0"/>
              <a:t>와 같은 안내와 센서 제거 방법을 보여주며</a:t>
            </a:r>
            <a:r>
              <a:rPr lang="en-US" altLang="ko-KR" sz="1400" dirty="0"/>
              <a:t>,</a:t>
            </a:r>
            <a:r>
              <a:rPr lang="ko-KR" altLang="en-US" sz="1400" dirty="0"/>
              <a:t> 신규 센서를 연결하는 화면으로 이동하는 버튼을 표시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   신규 센서를 연결하는 화면에서는 이전 </a:t>
            </a:r>
            <a:r>
              <a:rPr lang="en-US" altLang="ko-KR" sz="1400" b="1" dirty="0"/>
              <a:t>[SC_01_01 Scan &amp; Connect]</a:t>
            </a:r>
            <a:r>
              <a:rPr lang="ko-KR" altLang="en-US" sz="1400" b="1" dirty="0"/>
              <a:t>의 동작과 동일하게 </a:t>
            </a:r>
            <a:endParaRPr lang="ko-KR" altLang="en-US" sz="1400" dirty="0"/>
          </a:p>
          <a:p>
            <a:pPr>
              <a:lnSpc>
                <a:spcPct val="150000"/>
              </a:lnSpc>
            </a:pPr>
            <a:r>
              <a:rPr lang="ko-KR" altLang="en-US" sz="1400" b="1" dirty="0"/>
              <a:t>   센서 부착 가이드 </a:t>
            </a:r>
            <a:r>
              <a:rPr lang="en-US" altLang="ko-KR" sz="1400" b="1" dirty="0">
                <a:sym typeface="Wingdings" panose="05000000000000000000" pitchFamily="2" charset="2"/>
              </a:rPr>
              <a:t> 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Scan QR Code </a:t>
            </a:r>
            <a:r>
              <a:rPr lang="ko-KR" altLang="en-US" sz="1400" b="1" dirty="0"/>
              <a:t>버튼 </a:t>
            </a:r>
            <a:r>
              <a:rPr lang="en-US" altLang="ko-KR" sz="1400" b="1" dirty="0">
                <a:sym typeface="Wingdings" panose="05000000000000000000" pitchFamily="2" charset="2"/>
              </a:rPr>
              <a:t> 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QR Sensor Scan, Save &amp; Sync </a:t>
            </a:r>
            <a:r>
              <a:rPr lang="en-US" altLang="ko-KR" sz="1400" b="1" dirty="0">
                <a:sym typeface="Wingdings" panose="05000000000000000000" pitchFamily="2" charset="2"/>
              </a:rPr>
              <a:t> </a:t>
            </a:r>
            <a:r>
              <a:rPr lang="en-US" altLang="ko-KR" sz="1400" b="1" dirty="0"/>
              <a:t>BT </a:t>
            </a:r>
            <a:r>
              <a:rPr lang="ko-KR" altLang="en-US" sz="1400" b="1" dirty="0"/>
              <a:t>연결 화면 </a:t>
            </a:r>
            <a:r>
              <a:rPr lang="en-US" altLang="ko-KR" sz="1400" b="1" dirty="0">
                <a:sym typeface="Wingdings" panose="05000000000000000000" pitchFamily="2" charset="2"/>
              </a:rPr>
              <a:t> </a:t>
            </a:r>
            <a:r>
              <a:rPr lang="en-US" altLang="ko-KR" sz="1400" b="1" dirty="0"/>
              <a:t>Warm-Up(30</a:t>
            </a:r>
            <a:r>
              <a:rPr lang="ko-KR" altLang="en-US" sz="1400" b="1" dirty="0"/>
              <a:t>분</a:t>
            </a:r>
            <a:r>
              <a:rPr lang="en-US" altLang="ko-KR" sz="1400" b="1" dirty="0"/>
              <a:t>) </a:t>
            </a:r>
            <a:r>
              <a:rPr lang="en-US" altLang="ko-KR" sz="1400" b="1" dirty="0">
                <a:sym typeface="Wingdings" panose="05000000000000000000" pitchFamily="2" charset="2"/>
              </a:rPr>
              <a:t> </a:t>
            </a:r>
            <a:r>
              <a:rPr lang="ko-KR" altLang="en-US" sz="1400" b="1" dirty="0"/>
              <a:t>메인 화면</a:t>
            </a:r>
            <a:r>
              <a:rPr lang="ko-KR" altLang="en-US" sz="1400" dirty="0"/>
              <a:t>의 순서  로 동작합니다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728D498-6D8F-D640-8BEC-24AF4DFF4A75}"/>
              </a:ext>
            </a:extLst>
          </p:cNvPr>
          <p:cNvSpPr/>
          <p:nvPr/>
        </p:nvSpPr>
        <p:spPr>
          <a:xfrm>
            <a:off x="7727775" y="717545"/>
            <a:ext cx="2847963" cy="5200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추가기능 보류</a:t>
            </a:r>
          </a:p>
        </p:txBody>
      </p:sp>
    </p:spTree>
    <p:extLst>
      <p:ext uri="{BB962C8B-B14F-4D97-AF65-F5344CB8AC3E}">
        <p14:creationId xmlns:p14="http://schemas.microsoft.com/office/powerpoint/2010/main" val="4089176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22AC7-2B06-B6B8-8B28-736FEF324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590C47-D0F9-BF1A-CB35-FA86CE24FBC4}"/>
              </a:ext>
            </a:extLst>
          </p:cNvPr>
          <p:cNvSpPr txBox="1"/>
          <p:nvPr/>
        </p:nvSpPr>
        <p:spPr>
          <a:xfrm>
            <a:off x="309710" y="280384"/>
            <a:ext cx="415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5. </a:t>
            </a:r>
            <a:r>
              <a:rPr lang="ko-KR" altLang="en-US" b="1" dirty="0"/>
              <a:t>보류 사항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92F3DC-3684-49F9-A566-9FFF5F0F40DD}"/>
              </a:ext>
            </a:extLst>
          </p:cNvPr>
          <p:cNvSpPr txBox="1"/>
          <p:nvPr/>
        </p:nvSpPr>
        <p:spPr>
          <a:xfrm>
            <a:off x="309710" y="693714"/>
            <a:ext cx="805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5-3. </a:t>
            </a:r>
            <a:r>
              <a:rPr lang="ko-KR" altLang="en-US" sz="1400" b="1" dirty="0"/>
              <a:t>로그인 및 데이터 저장</a:t>
            </a:r>
            <a:endParaRPr lang="en-US" altLang="ko-KR" sz="1400" b="1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57EEC12-2EC3-7F39-FCF4-D2DA0FF94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951622"/>
              </p:ext>
            </p:extLst>
          </p:nvPr>
        </p:nvGraphicFramePr>
        <p:xfrm>
          <a:off x="692331" y="1045490"/>
          <a:ext cx="10998926" cy="552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474">
                  <a:extLst>
                    <a:ext uri="{9D8B030D-6E8A-4147-A177-3AD203B41FA5}">
                      <a16:colId xmlns:a16="http://schemas.microsoft.com/office/drawing/2014/main" val="142134364"/>
                    </a:ext>
                  </a:extLst>
                </a:gridCol>
                <a:gridCol w="5128334">
                  <a:extLst>
                    <a:ext uri="{9D8B030D-6E8A-4147-A177-3AD203B41FA5}">
                      <a16:colId xmlns:a16="http://schemas.microsoft.com/office/drawing/2014/main" val="1697799258"/>
                    </a:ext>
                  </a:extLst>
                </a:gridCol>
                <a:gridCol w="4251118">
                  <a:extLst>
                    <a:ext uri="{9D8B030D-6E8A-4147-A177-3AD203B41FA5}">
                      <a16:colId xmlns:a16="http://schemas.microsoft.com/office/drawing/2014/main" val="598911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방법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결과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779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로그인</a:t>
                      </a:r>
                      <a:r>
                        <a:rPr lang="en-US" altLang="ko-KR" sz="1400" dirty="0"/>
                        <a:t>(Sign In)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1.</a:t>
                      </a:r>
                      <a:r>
                        <a:rPr lang="ko-KR" altLang="en-US" sz="1400" dirty="0"/>
                        <a:t>생성된 </a:t>
                      </a:r>
                      <a:r>
                        <a:rPr lang="en-US" altLang="ko-KR" sz="1400" dirty="0"/>
                        <a:t>Account</a:t>
                      </a:r>
                      <a:r>
                        <a:rPr lang="ko-KR" altLang="en-US" sz="1400" dirty="0"/>
                        <a:t>에 따라 로그인 시도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en-US" altLang="ko-KR" sz="1400" dirty="0"/>
                        <a:t>(ID</a:t>
                      </a:r>
                      <a:r>
                        <a:rPr lang="ko-KR" altLang="en-US" sz="1400" dirty="0"/>
                        <a:t>는 이메일 사용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Sign In </a:t>
                      </a:r>
                      <a:r>
                        <a:rPr lang="ko-KR" altLang="en-US" sz="1400" dirty="0"/>
                        <a:t>에서 </a:t>
                      </a:r>
                      <a:r>
                        <a:rPr lang="en-US" altLang="ko-KR" sz="1400" dirty="0"/>
                        <a:t>Remember Me </a:t>
                      </a:r>
                      <a:r>
                        <a:rPr lang="ko-KR" altLang="en-US" sz="1400" dirty="0"/>
                        <a:t>기능 동작 하지 않음</a:t>
                      </a:r>
                      <a:r>
                        <a:rPr lang="en-US" altLang="ko-KR" sz="1400" dirty="0"/>
                        <a:t> (</a:t>
                      </a:r>
                      <a:r>
                        <a:rPr lang="ko-KR" altLang="en-US" sz="1400" dirty="0"/>
                        <a:t>기본값 </a:t>
                      </a:r>
                      <a:r>
                        <a:rPr lang="en-US" altLang="ko-KR" sz="1400" dirty="0" err="1"/>
                        <a:t>empecs</a:t>
                      </a:r>
                      <a:r>
                        <a:rPr lang="en-US" altLang="ko-KR" sz="1400" dirty="0"/>
                        <a:t>, pw: admin </a:t>
                      </a:r>
                      <a:r>
                        <a:rPr lang="ko-KR" altLang="en-US" sz="1400" dirty="0"/>
                        <a:t>값만 표시됨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latinLnBrk="1"/>
                      <a:r>
                        <a:rPr lang="en-US" altLang="ko-KR" sz="1400" dirty="0"/>
                        <a:t>?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생성된 아이디 로그인 불가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4/17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31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2.</a:t>
                      </a:r>
                      <a:r>
                        <a:rPr lang="ko-KR" altLang="en-US" sz="1400" dirty="0"/>
                        <a:t>네트워크 끄고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이메일 로그인 접속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성공여부</a:t>
                      </a:r>
                      <a:r>
                        <a:rPr lang="en-US" altLang="ko-KR" sz="1400" dirty="0"/>
                        <a:t>?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성공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908184"/>
                  </a:ext>
                </a:extLst>
              </a:tr>
              <a:tr h="21209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3.</a:t>
                      </a:r>
                      <a:r>
                        <a:rPr lang="ko-KR" altLang="en-US" sz="1400" dirty="0"/>
                        <a:t>네트워크 끄고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로컬모드에서 </a:t>
                      </a:r>
                      <a:r>
                        <a:rPr lang="en-US" altLang="ko-KR" sz="1400" dirty="0"/>
                        <a:t> QR</a:t>
                      </a:r>
                      <a:r>
                        <a:rPr lang="ko-KR" altLang="en-US" sz="1400" dirty="0"/>
                        <a:t>센서 연결 및 측정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성공여부</a:t>
                      </a:r>
                      <a:r>
                        <a:rPr lang="en-US" altLang="ko-KR" sz="1400" dirty="0"/>
                        <a:t>?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성공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03652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자동업로드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4.</a:t>
                      </a:r>
                      <a:r>
                        <a:rPr lang="ko-KR" altLang="en-US" sz="1400" dirty="0"/>
                        <a:t>네트워크 연결하여 로컬 데이터 서버전송여부</a:t>
                      </a:r>
                      <a:endParaRPr lang="en-US" altLang="ko-KR" sz="14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400" dirty="0" err="1"/>
                        <a:t>eqsn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기기식별번호</a:t>
                      </a:r>
                      <a:r>
                        <a:rPr lang="en-US" altLang="ko-KR" sz="1400" dirty="0"/>
                        <a:t>)</a:t>
                      </a:r>
                      <a:r>
                        <a:rPr lang="ko-KR" altLang="en-US" sz="1400" dirty="0"/>
                        <a:t>와 </a:t>
                      </a:r>
                      <a:r>
                        <a:rPr lang="en-US" altLang="ko-KR" sz="1400" dirty="0" err="1"/>
                        <a:t>sensorStartAt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센서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시작 시간</a:t>
                      </a:r>
                      <a:r>
                        <a:rPr lang="en-US" altLang="ko-KR" sz="1400" dirty="0"/>
                        <a:t>) </a:t>
                      </a:r>
                      <a:r>
                        <a:rPr lang="ko-KR" altLang="en-US" sz="1400" dirty="0"/>
                        <a:t>필수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성공여부</a:t>
                      </a:r>
                      <a:r>
                        <a:rPr lang="en-US" altLang="ko-KR" sz="1400" dirty="0"/>
                        <a:t>?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 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로그인 성공 시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회 변경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delta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데이터만 업로드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287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47337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GUSET LOGIN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서버로그인 없이 마지막 사용자 정보로 로그인 되는지 확인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마지막 사용자 기록에 업데이트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0783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게스트 로그는 로컬에만 데이터를 저장하는 모드로 시작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646225"/>
                  </a:ext>
                </a:extLst>
              </a:tr>
              <a:tr h="27518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IngestQueueService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게스트 또는 빈 토큰일 때 특정 테스트 계정으로 자동 로그인 방법 삭제 검토필요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기능 삭제 협의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61334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로그 아웃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로그 아웃을 하면 센서연결 끊고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기기 정보 삭제되고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다시 로그인 하면 자동으로 센서가 붙는지 여부 확인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로그 아웃 후 재 로그인 시 센서 자동 연결 불가</a:t>
                      </a:r>
                      <a:endParaRPr lang="en-US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버그 수정</a:t>
                      </a:r>
                      <a:endParaRPr lang="en-US" altLang="ko-KR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21002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앱 삭제 후 재설치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데이터기록이 있는 앱을 지우고 재설치 후 로그인 할 경우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프로필 정보 및 이전 혈당기록 호출되는지 여부</a:t>
                      </a:r>
                      <a:r>
                        <a:rPr lang="en-US" altLang="ko-KR" sz="1400" dirty="0"/>
                        <a:t>?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로컬 데이터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/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서버 데이터 동기화로 로직이 복잡하여 버그로 인해 복구 여부가 랜덤임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46782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0269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914440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C1E15672-18CD-D43A-7211-7866457C4623}"/>
              </a:ext>
            </a:extLst>
          </p:cNvPr>
          <p:cNvSpPr/>
          <p:nvPr/>
        </p:nvSpPr>
        <p:spPr>
          <a:xfrm>
            <a:off x="8833911" y="4001147"/>
            <a:ext cx="1736640" cy="104915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rgbClr val="FF0000"/>
                </a:solidFill>
              </a:rPr>
              <a:t>게스관련</a:t>
            </a:r>
            <a:r>
              <a:rPr lang="ko-KR" altLang="en-US" sz="1000" dirty="0">
                <a:solidFill>
                  <a:srgbClr val="FF0000"/>
                </a:solidFill>
              </a:rPr>
              <a:t> 다 보류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삭제 안함</a:t>
            </a:r>
            <a:r>
              <a:rPr lang="en-US" altLang="ko-KR" sz="1000" dirty="0">
                <a:solidFill>
                  <a:srgbClr val="FF0000"/>
                </a:solidFill>
              </a:rPr>
              <a:t>. </a:t>
            </a:r>
            <a:r>
              <a:rPr lang="ko-KR" altLang="en-US" sz="1000" dirty="0">
                <a:solidFill>
                  <a:srgbClr val="FF0000"/>
                </a:solidFill>
              </a:rPr>
              <a:t>검토 필요</a:t>
            </a:r>
            <a:r>
              <a:rPr lang="en-US" altLang="ko-KR" sz="1000" dirty="0">
                <a:solidFill>
                  <a:srgbClr val="FF0000"/>
                </a:solidFill>
              </a:rPr>
              <a:t>. </a:t>
            </a:r>
            <a:r>
              <a:rPr lang="ko-KR" altLang="en-US" sz="1000" dirty="0">
                <a:solidFill>
                  <a:srgbClr val="FF0000"/>
                </a:solidFill>
              </a:rPr>
              <a:t>게스트계정이 있어서 동기화 로직 복잡</a:t>
            </a:r>
          </a:p>
        </p:txBody>
      </p:sp>
    </p:spTree>
    <p:extLst>
      <p:ext uri="{BB962C8B-B14F-4D97-AF65-F5344CB8AC3E}">
        <p14:creationId xmlns:p14="http://schemas.microsoft.com/office/powerpoint/2010/main" val="316551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8417D-1630-5ED5-87B0-7F0ADC5D8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48D344-BD26-D030-B14E-A1AF17A3C955}"/>
              </a:ext>
            </a:extLst>
          </p:cNvPr>
          <p:cNvSpPr txBox="1"/>
          <p:nvPr/>
        </p:nvSpPr>
        <p:spPr>
          <a:xfrm>
            <a:off x="309710" y="280384"/>
            <a:ext cx="415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5. </a:t>
            </a:r>
            <a:r>
              <a:rPr lang="ko-KR" altLang="en-US" b="1" dirty="0"/>
              <a:t>앱 로그인 관련 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93EF3-61D0-0266-1D2B-0DF57837393F}"/>
              </a:ext>
            </a:extLst>
          </p:cNvPr>
          <p:cNvSpPr txBox="1"/>
          <p:nvPr/>
        </p:nvSpPr>
        <p:spPr>
          <a:xfrm>
            <a:off x="309709" y="811451"/>
            <a:ext cx="805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5-4. </a:t>
            </a:r>
            <a:r>
              <a:rPr lang="ko-KR" altLang="en-US" sz="1400" b="1" dirty="0"/>
              <a:t>센서 측정 종료</a:t>
            </a:r>
            <a:endParaRPr lang="en-US" altLang="ko-KR" sz="1400" b="1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C5C9109E-140D-47FC-63AC-53FB91E9CF3D}"/>
              </a:ext>
            </a:extLst>
          </p:cNvPr>
          <p:cNvGraphicFramePr>
            <a:graphicFrameLocks noGrp="1"/>
          </p:cNvGraphicFramePr>
          <p:nvPr/>
        </p:nvGraphicFramePr>
        <p:xfrm>
          <a:off x="692331" y="1411998"/>
          <a:ext cx="10646229" cy="491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3">
                  <a:extLst>
                    <a:ext uri="{9D8B030D-6E8A-4147-A177-3AD203B41FA5}">
                      <a16:colId xmlns:a16="http://schemas.microsoft.com/office/drawing/2014/main" val="142134364"/>
                    </a:ext>
                  </a:extLst>
                </a:gridCol>
                <a:gridCol w="4963886">
                  <a:extLst>
                    <a:ext uri="{9D8B030D-6E8A-4147-A177-3AD203B41FA5}">
                      <a16:colId xmlns:a16="http://schemas.microsoft.com/office/drawing/2014/main" val="169779925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598911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방법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결과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779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센서</a:t>
                      </a:r>
                      <a:r>
                        <a:rPr lang="en-US" altLang="ko-KR" sz="1400" dirty="0"/>
                        <a:t>15</a:t>
                      </a:r>
                      <a:r>
                        <a:rPr lang="ko-KR" altLang="en-US" sz="1400" dirty="0"/>
                        <a:t>일 만료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15</a:t>
                      </a:r>
                      <a:r>
                        <a:rPr lang="ko-KR" altLang="en-US" sz="1400" dirty="0"/>
                        <a:t>일 만료 후 앱에서 </a:t>
                      </a:r>
                      <a:r>
                        <a:rPr lang="en-US" altLang="ko-KR" sz="1400" dirty="0"/>
                        <a:t>“</a:t>
                      </a:r>
                      <a:r>
                        <a:rPr lang="ko-KR" altLang="en-US" sz="1400" dirty="0"/>
                        <a:t>센서종료</a:t>
                      </a:r>
                      <a:r>
                        <a:rPr lang="en-US" altLang="ko-KR" sz="1400" dirty="0"/>
                        <a:t>“ </a:t>
                      </a:r>
                      <a:r>
                        <a:rPr lang="ko-KR" altLang="en-US" sz="1400" dirty="0"/>
                        <a:t>안내문 확인 여부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사용자가 앱에서 연결 해제 또는 앱에서 강제 종료 여부</a:t>
                      </a:r>
                      <a:endParaRPr lang="en-US" altLang="ko-KR" sz="14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센서에서 </a:t>
                      </a:r>
                      <a:r>
                        <a:rPr lang="en-US" altLang="ko-KR" sz="1400" dirty="0"/>
                        <a:t>15</a:t>
                      </a:r>
                      <a:r>
                        <a:rPr lang="ko-KR" altLang="en-US" sz="1400" dirty="0"/>
                        <a:t>일 후 연결해제 시도</a:t>
                      </a:r>
                      <a:endParaRPr lang="en-US" altLang="ko-KR" sz="14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400" dirty="0"/>
                        <a:t>- BLE </a:t>
                      </a:r>
                      <a:r>
                        <a:rPr lang="ko-KR" altLang="en-US" sz="1400" dirty="0"/>
                        <a:t>끊김 시 자동 알림이나 자동 재 연결 시도 되지 않기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31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사용 중 종료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측정 중 센서에서 강제로 종료 할 경우 앱 반응</a:t>
                      </a:r>
                      <a:endParaRPr lang="en-US" altLang="ko-KR" sz="14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 err="1"/>
                        <a:t>시그널로스</a:t>
                      </a:r>
                      <a:r>
                        <a:rPr lang="ko-KR" altLang="en-US" sz="1400" dirty="0"/>
                        <a:t> 알림 있는지</a:t>
                      </a:r>
                      <a:endParaRPr lang="en-US" altLang="ko-KR" sz="14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/>
                        <a:t>자동 재 연결 시도하는지</a:t>
                      </a:r>
                      <a:endParaRPr lang="en-US" altLang="ko-KR" sz="14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/>
                        <a:t>센서에서 종료 할 경우 앱에서 강제 </a:t>
                      </a:r>
                      <a:r>
                        <a:rPr lang="en-US" altLang="ko-KR" sz="1400" dirty="0"/>
                        <a:t>disconnect</a:t>
                      </a:r>
                      <a:r>
                        <a:rPr lang="ko-KR" altLang="en-US" sz="1400" dirty="0"/>
                        <a:t>기능과 동일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908184"/>
                  </a:ext>
                </a:extLst>
              </a:tr>
              <a:tr h="21209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03652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287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47337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0783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646225"/>
                  </a:ext>
                </a:extLst>
              </a:tr>
              <a:tr h="21209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613342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210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02690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6B958DC8-FCEB-4F5C-9118-E3A38BA9EE33}"/>
              </a:ext>
            </a:extLst>
          </p:cNvPr>
          <p:cNvSpPr/>
          <p:nvPr/>
        </p:nvSpPr>
        <p:spPr>
          <a:xfrm>
            <a:off x="7432307" y="2421196"/>
            <a:ext cx="2847963" cy="5200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추가기능 보류</a:t>
            </a:r>
          </a:p>
        </p:txBody>
      </p:sp>
    </p:spTree>
    <p:extLst>
      <p:ext uri="{BB962C8B-B14F-4D97-AF65-F5344CB8AC3E}">
        <p14:creationId xmlns:p14="http://schemas.microsoft.com/office/powerpoint/2010/main" val="2794403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21E79-5411-4B21-1A37-E035FDDEF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B325CD-B085-9672-F3F6-51B3CB080495}"/>
              </a:ext>
            </a:extLst>
          </p:cNvPr>
          <p:cNvSpPr txBox="1"/>
          <p:nvPr/>
        </p:nvSpPr>
        <p:spPr>
          <a:xfrm>
            <a:off x="309710" y="280384"/>
            <a:ext cx="415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5. </a:t>
            </a:r>
            <a:r>
              <a:rPr lang="ko-KR" altLang="en-US" b="1" dirty="0"/>
              <a:t>보류 사항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16BE69-1423-EA32-B073-420F3CCFA892}"/>
              </a:ext>
            </a:extLst>
          </p:cNvPr>
          <p:cNvSpPr txBox="1"/>
          <p:nvPr/>
        </p:nvSpPr>
        <p:spPr>
          <a:xfrm>
            <a:off x="309709" y="811451"/>
            <a:ext cx="805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5-5. </a:t>
            </a:r>
            <a:r>
              <a:rPr lang="ko-KR" altLang="en-US" sz="1400" b="1" dirty="0"/>
              <a:t>센서 측정 종료 방법</a:t>
            </a:r>
            <a:endParaRPr lang="en-US" altLang="ko-KR" sz="14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112A76E-DA40-026B-FF7D-CFF20A75B6B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52120" y="1280963"/>
            <a:ext cx="1707422" cy="351255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81F7351-8D66-68FC-CA26-1DDC4592E84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52120" y="4572870"/>
            <a:ext cx="1707869" cy="163541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288A0FC-E11B-CEAA-2A56-28B45868FE72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51673" y="6001092"/>
            <a:ext cx="1707869" cy="31241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82CA2AC-632B-CA36-7B70-BD4ED4FD6232}"/>
              </a:ext>
            </a:extLst>
          </p:cNvPr>
          <p:cNvSpPr/>
          <p:nvPr/>
        </p:nvSpPr>
        <p:spPr>
          <a:xfrm>
            <a:off x="3161609" y="6102750"/>
            <a:ext cx="547797" cy="88592"/>
          </a:xfrm>
          <a:prstGeom prst="rect">
            <a:avLst/>
          </a:prstGeom>
          <a:solidFill>
            <a:srgbClr val="7BB177"/>
          </a:solidFill>
          <a:ln>
            <a:solidFill>
              <a:srgbClr val="7BB1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OK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6E7B542-AAAC-ACDC-EB16-0C0475738BCE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833642" y="1483752"/>
            <a:ext cx="2166767" cy="4457537"/>
          </a:xfrm>
          <a:prstGeom prst="rect">
            <a:avLst/>
          </a:prstGeom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E3D3CF7A-2A8F-A1AC-9E8B-7B5E7F394546}"/>
              </a:ext>
            </a:extLst>
          </p:cNvPr>
          <p:cNvSpPr/>
          <p:nvPr/>
        </p:nvSpPr>
        <p:spPr>
          <a:xfrm>
            <a:off x="4394798" y="3650425"/>
            <a:ext cx="361606" cy="16189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E142BB-60DF-87E1-25B2-FDD7979C1419}"/>
              </a:ext>
            </a:extLst>
          </p:cNvPr>
          <p:cNvSpPr txBox="1"/>
          <p:nvPr/>
        </p:nvSpPr>
        <p:spPr>
          <a:xfrm>
            <a:off x="7077647" y="2844621"/>
            <a:ext cx="5273385" cy="1441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/>
              <a:t>15</a:t>
            </a:r>
            <a:r>
              <a:rPr lang="ko-KR" altLang="en-US" sz="1200" b="1" dirty="0"/>
              <a:t>일 이후 센서 종료 화면 구성</a:t>
            </a:r>
            <a:endParaRPr lang="en-US" altLang="ko-KR" sz="1200" b="1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15</a:t>
            </a:r>
            <a:r>
              <a:rPr lang="ko-KR" altLang="en-US" sz="1200" dirty="0"/>
              <a:t>일이 지난 후 센서와의 연결을 해제</a:t>
            </a: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좌측의 이미지와 같이 </a:t>
            </a:r>
            <a:r>
              <a:rPr lang="en-US" altLang="ko-KR" sz="1200" dirty="0"/>
              <a:t>[How to remove]</a:t>
            </a:r>
            <a:r>
              <a:rPr lang="ko-KR" altLang="en-US" sz="1200" dirty="0"/>
              <a:t>의 센서 제거 가이드를 표시</a:t>
            </a: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센서 가이드를 스크롤 하여 내리면 </a:t>
            </a:r>
            <a:r>
              <a:rPr lang="en-US" altLang="ko-KR" sz="1200" dirty="0"/>
              <a:t>[OK] </a:t>
            </a:r>
            <a:r>
              <a:rPr lang="ko-KR" altLang="en-US" sz="1200" dirty="0"/>
              <a:t>버튼이 위치</a:t>
            </a: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[OK] </a:t>
            </a:r>
            <a:r>
              <a:rPr lang="ko-KR" altLang="en-US" sz="1200" dirty="0"/>
              <a:t>버튼을 터치하게 되면 우측의 이미지와 같이 메인 화면으로 이동</a:t>
            </a:r>
            <a:endParaRPr lang="en-US" altLang="ko-KR" sz="1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EC8C69C-586F-4B5C-90D7-9C24678F8716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0052" y="1545055"/>
            <a:ext cx="2166768" cy="4457537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7DB7EC42-66B1-FA16-78AB-B3F52ECED134}"/>
              </a:ext>
            </a:extLst>
          </p:cNvPr>
          <p:cNvSpPr/>
          <p:nvPr/>
        </p:nvSpPr>
        <p:spPr>
          <a:xfrm>
            <a:off x="2255258" y="3650425"/>
            <a:ext cx="361606" cy="16189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641BAF3-E6A6-0D54-60D7-FEA04F87EFD6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95621" y="1828799"/>
            <a:ext cx="1002255" cy="14806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5A4E9AA-1FDE-06ED-1984-FE6DEEF4A923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95621" y="2018786"/>
            <a:ext cx="520366" cy="48363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970459F3-6CC7-C289-DD66-40957878FF48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2814" y="4491017"/>
            <a:ext cx="2166768" cy="605007"/>
          </a:xfrm>
          <a:prstGeom prst="rect">
            <a:avLst/>
          </a:prstGeom>
        </p:spPr>
      </p:pic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25581D56-918B-7B84-F724-AED15095166D}"/>
              </a:ext>
            </a:extLst>
          </p:cNvPr>
          <p:cNvSpPr/>
          <p:nvPr/>
        </p:nvSpPr>
        <p:spPr>
          <a:xfrm>
            <a:off x="381000" y="3503790"/>
            <a:ext cx="1709831" cy="321453"/>
          </a:xfrm>
          <a:custGeom>
            <a:avLst/>
            <a:gdLst>
              <a:gd name="csX0" fmla="*/ 0 w 1709831"/>
              <a:gd name="csY0" fmla="*/ 283350 h 321453"/>
              <a:gd name="csX1" fmla="*/ 83820 w 1709831"/>
              <a:gd name="csY1" fmla="*/ 9030 h 321453"/>
              <a:gd name="csX2" fmla="*/ 198120 w 1709831"/>
              <a:gd name="csY2" fmla="*/ 321450 h 321453"/>
              <a:gd name="csX3" fmla="*/ 342900 w 1709831"/>
              <a:gd name="csY3" fmla="*/ 1410 h 321453"/>
              <a:gd name="csX4" fmla="*/ 518160 w 1709831"/>
              <a:gd name="csY4" fmla="*/ 199530 h 321453"/>
              <a:gd name="csX5" fmla="*/ 1226820 w 1709831"/>
              <a:gd name="csY5" fmla="*/ 77610 h 321453"/>
              <a:gd name="csX6" fmla="*/ 1638300 w 1709831"/>
              <a:gd name="csY6" fmla="*/ 184290 h 321453"/>
              <a:gd name="csX7" fmla="*/ 1706880 w 1709831"/>
              <a:gd name="csY7" fmla="*/ 199530 h 3214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709831" h="321453">
                <a:moveTo>
                  <a:pt x="0" y="283350"/>
                </a:moveTo>
                <a:cubicBezTo>
                  <a:pt x="25400" y="143015"/>
                  <a:pt x="50800" y="2680"/>
                  <a:pt x="83820" y="9030"/>
                </a:cubicBezTo>
                <a:cubicBezTo>
                  <a:pt x="116840" y="15380"/>
                  <a:pt x="154940" y="322720"/>
                  <a:pt x="198120" y="321450"/>
                </a:cubicBezTo>
                <a:cubicBezTo>
                  <a:pt x="241300" y="320180"/>
                  <a:pt x="289560" y="21730"/>
                  <a:pt x="342900" y="1410"/>
                </a:cubicBezTo>
                <a:cubicBezTo>
                  <a:pt x="396240" y="-18910"/>
                  <a:pt x="370840" y="186830"/>
                  <a:pt x="518160" y="199530"/>
                </a:cubicBezTo>
                <a:cubicBezTo>
                  <a:pt x="665480" y="212230"/>
                  <a:pt x="1040130" y="80150"/>
                  <a:pt x="1226820" y="77610"/>
                </a:cubicBezTo>
                <a:cubicBezTo>
                  <a:pt x="1413510" y="75070"/>
                  <a:pt x="1558290" y="163970"/>
                  <a:pt x="1638300" y="184290"/>
                </a:cubicBezTo>
                <a:cubicBezTo>
                  <a:pt x="1718310" y="204610"/>
                  <a:pt x="1712595" y="202070"/>
                  <a:pt x="1706880" y="199530"/>
                </a:cubicBezTo>
              </a:path>
            </a:pathLst>
          </a:cu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4CF99EF-52E8-5D9C-C94D-0C6822A00DEF}"/>
              </a:ext>
            </a:extLst>
          </p:cNvPr>
          <p:cNvSpPr/>
          <p:nvPr/>
        </p:nvSpPr>
        <p:spPr>
          <a:xfrm>
            <a:off x="7836569" y="1902829"/>
            <a:ext cx="2847963" cy="5200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추가기능 보류</a:t>
            </a:r>
          </a:p>
        </p:txBody>
      </p:sp>
    </p:spTree>
    <p:extLst>
      <p:ext uri="{BB962C8B-B14F-4D97-AF65-F5344CB8AC3E}">
        <p14:creationId xmlns:p14="http://schemas.microsoft.com/office/powerpoint/2010/main" val="2123627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1325</TotalTime>
  <Words>1166</Words>
  <Application>Microsoft Office PowerPoint</Application>
  <PresentationFormat>와이드스크린</PresentationFormat>
  <Paragraphs>138</Paragraphs>
  <Slides>14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기창 이</dc:creator>
  <cp:lastModifiedBy>기창 이</cp:lastModifiedBy>
  <cp:revision>29</cp:revision>
  <dcterms:created xsi:type="dcterms:W3CDTF">2026-04-19T23:09:06Z</dcterms:created>
  <dcterms:modified xsi:type="dcterms:W3CDTF">2026-04-23T06:03:18Z</dcterms:modified>
</cp:coreProperties>
</file>